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6"/>
  </p:notesMasterIdLst>
  <p:sldIdLst>
    <p:sldId id="256" r:id="rId2"/>
    <p:sldId id="461" r:id="rId3"/>
    <p:sldId id="435" r:id="rId4"/>
    <p:sldId id="448" r:id="rId5"/>
    <p:sldId id="449" r:id="rId6"/>
    <p:sldId id="458" r:id="rId7"/>
    <p:sldId id="404" r:id="rId8"/>
    <p:sldId id="405" r:id="rId9"/>
    <p:sldId id="459" r:id="rId10"/>
    <p:sldId id="380" r:id="rId11"/>
    <p:sldId id="381" r:id="rId12"/>
    <p:sldId id="453" r:id="rId13"/>
    <p:sldId id="399" r:id="rId14"/>
    <p:sldId id="388" r:id="rId15"/>
    <p:sldId id="389" r:id="rId16"/>
    <p:sldId id="462" r:id="rId17"/>
    <p:sldId id="441" r:id="rId18"/>
    <p:sldId id="385" r:id="rId19"/>
    <p:sldId id="469" r:id="rId20"/>
    <p:sldId id="440" r:id="rId21"/>
    <p:sldId id="454" r:id="rId22"/>
    <p:sldId id="379" r:id="rId23"/>
    <p:sldId id="396" r:id="rId24"/>
    <p:sldId id="434" r:id="rId25"/>
    <p:sldId id="460" r:id="rId26"/>
    <p:sldId id="401" r:id="rId27"/>
    <p:sldId id="433" r:id="rId28"/>
    <p:sldId id="382" r:id="rId29"/>
    <p:sldId id="457" r:id="rId30"/>
    <p:sldId id="451" r:id="rId31"/>
    <p:sldId id="432" r:id="rId32"/>
    <p:sldId id="407" r:id="rId33"/>
    <p:sldId id="397" r:id="rId34"/>
    <p:sldId id="452" r:id="rId35"/>
    <p:sldId id="467" r:id="rId36"/>
    <p:sldId id="477" r:id="rId37"/>
    <p:sldId id="478" r:id="rId38"/>
    <p:sldId id="479" r:id="rId39"/>
    <p:sldId id="480" r:id="rId40"/>
    <p:sldId id="481" r:id="rId41"/>
    <p:sldId id="482" r:id="rId42"/>
    <p:sldId id="483" r:id="rId43"/>
    <p:sldId id="484" r:id="rId44"/>
    <p:sldId id="485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80" d="100"/>
          <a:sy n="80" d="100"/>
        </p:scale>
        <p:origin x="773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53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017EF-B0C5-4F2B-99F2-8DD7659ECF32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33B1C-0D5F-42ED-944D-ADB4310BB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732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1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9O1terlCTts&amp;t=307s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AI_literacy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svg"/><Relationship Id="rId2" Type="http://schemas.openxmlformats.org/officeDocument/2006/relationships/hyperlink" Target="https://en.wikipedia.org/wiki/AI_literacy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9.jpe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5_Winter_Deep-Learning-with-TensorFlow/tree/main/20260128_06_Introduction%20AI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youtube.com/watch?v=aircAruvnKk&amp;list=PLZHQObOWTQDNU6R1_67000Dx_ZCJB-3pi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hyperlink" Target="https://huggingface.co/spaces/Xenova/yolov10-web" TargetMode="Externa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jreddie.com/darknet/yolo/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hyperlink" Target="https://shaqian.github.io/tfjs-yolo-demo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7" Type="http://schemas.microsoft.com/office/2007/relationships/hdphoto" Target="../media/hdphoto1.wdp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80.png"/><Relationship Id="rId4" Type="http://schemas.openxmlformats.org/officeDocument/2006/relationships/image" Target="../media/image37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2vec.kr/search/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informationisbeautiful.net/visualizations/the-rise-of-generative-ai-large-language-models-llms-like-chatgpt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0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hyperlink" Target="https://huggingface.co/learn/nlp-course/chapter1/4?fw=pt" TargetMode="External"/><Relationship Id="rId9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fastapi.tiangolo.com/" TargetMode="External"/><Relationship Id="rId2" Type="http://schemas.openxmlformats.org/officeDocument/2006/relationships/hyperlink" Target="https://pandas.pydata.org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jpeg"/><Relationship Id="rId5" Type="http://schemas.openxmlformats.org/officeDocument/2006/relationships/image" Target="../media/image62.jpeg"/><Relationship Id="rId4" Type="http://schemas.openxmlformats.org/officeDocument/2006/relationships/image" Target="../media/image61.gi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feaz-book.com/" TargetMode="External"/><Relationship Id="rId7" Type="http://schemas.openxmlformats.org/officeDocument/2006/relationships/image" Target="../media/image66.jpe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jpeg"/><Relationship Id="rId5" Type="http://schemas.openxmlformats.org/officeDocument/2006/relationships/hyperlink" Target="https://github.com/sinanuozdemir/feature_engineering_bookcamp" TargetMode="External"/><Relationship Id="rId4" Type="http://schemas.openxmlformats.org/officeDocument/2006/relationships/hyperlink" Target="https://github.com/solegalli/feature-engineering-for-machine-learning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1.3/tutorial/machine_learning_map/" TargetMode="External"/><Relationship Id="rId2" Type="http://schemas.openxmlformats.org/officeDocument/2006/relationships/hyperlink" Target="https://scikit-learn.org/1.3/index.html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hyperlink" Target="https://scikit-learn.org/stable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hyperlink" Target="https://github.com/ancestor9/2026_Fall_AI-Literacy/blob/main/Generative%20Deep%20Learning.pptx" TargetMode="Externa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ngchain.com/" TargetMode="External"/><Relationship Id="rId2" Type="http://schemas.openxmlformats.org/officeDocument/2006/relationships/hyperlink" Target="https://github.com/HandsOnLLM/Hands-On-Large-Language-Models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9.jpeg"/><Relationship Id="rId4" Type="http://schemas.openxmlformats.org/officeDocument/2006/relationships/image" Target="../media/image7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E07EC-FAE3-CD22-0A12-F95D0F9FD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5700" y="924580"/>
            <a:ext cx="10465545" cy="1362075"/>
          </a:xfrm>
        </p:spPr>
        <p:txBody>
          <a:bodyPr/>
          <a:lstStyle/>
          <a:p>
            <a:r>
              <a:rPr lang="en-US" altLang="ko-KR" sz="6000" dirty="0">
                <a:solidFill>
                  <a:schemeClr val="tx1"/>
                </a:solidFill>
              </a:rPr>
              <a:t>AI Literacy</a:t>
            </a:r>
            <a:endParaRPr lang="ko-KR" altLang="en-US" sz="6000" dirty="0">
              <a:solidFill>
                <a:schemeClr val="tx1"/>
              </a:solidFill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4126B61E-1F39-452D-5C3B-A004CC62B8A8}"/>
              </a:ext>
            </a:extLst>
          </p:cNvPr>
          <p:cNvSpPr txBox="1">
            <a:spLocks/>
          </p:cNvSpPr>
          <p:nvPr/>
        </p:nvSpPr>
        <p:spPr>
          <a:xfrm>
            <a:off x="1183530" y="4188915"/>
            <a:ext cx="8825658" cy="19928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ko-KR" sz="2400" cap="none" dirty="0"/>
              <a:t>2026 Fall</a:t>
            </a:r>
          </a:p>
          <a:p>
            <a:r>
              <a:rPr lang="ko-KR" altLang="en-US" cap="none" dirty="0"/>
              <a:t>조 상구 교수</a:t>
            </a:r>
            <a:endParaRPr lang="en-US" altLang="ko-KR" cap="none" dirty="0"/>
          </a:p>
          <a:p>
            <a:r>
              <a:rPr lang="ko-KR" altLang="en-US" cap="none" dirty="0"/>
              <a:t>소프트웨어융합과 </a:t>
            </a:r>
            <a:r>
              <a:rPr lang="en-US" altLang="ko-KR" cap="none" dirty="0"/>
              <a:t>AI</a:t>
            </a:r>
            <a:r>
              <a:rPr lang="ko-KR" altLang="en-US" cap="none" dirty="0"/>
              <a:t> 빅데이터 전공 </a:t>
            </a:r>
            <a:endParaRPr lang="en-US" altLang="ko-KR" cap="none" dirty="0"/>
          </a:p>
          <a:p>
            <a:r>
              <a:rPr lang="ko-KR" altLang="en-US" cap="none" dirty="0"/>
              <a:t>경복대학교</a:t>
            </a:r>
            <a:endParaRPr lang="ko-KR" altLang="en-US" sz="3200" cap="none" dirty="0"/>
          </a:p>
        </p:txBody>
      </p:sp>
    </p:spTree>
    <p:extLst>
      <p:ext uri="{BB962C8B-B14F-4D97-AF65-F5344CB8AC3E}">
        <p14:creationId xmlns:p14="http://schemas.microsoft.com/office/powerpoint/2010/main" val="289830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B1705-DDD4-EF8F-6BAB-D9603D8AF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61C7723-F4B8-7401-549D-5D3B4F3F58B3}"/>
              </a:ext>
            </a:extLst>
          </p:cNvPr>
          <p:cNvSpPr txBox="1"/>
          <p:nvPr/>
        </p:nvSpPr>
        <p:spPr>
          <a:xfrm>
            <a:off x="742948" y="2000250"/>
            <a:ext cx="10401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</a:t>
            </a:r>
            <a:r>
              <a:rPr lang="ko-KR" altLang="en-US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를 쓸수록 지능이 올라가는 사람의 특징들 </a:t>
            </a:r>
            <a:r>
              <a:rPr lang="en-US" altLang="ko-KR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(feat. </a:t>
            </a:r>
            <a:r>
              <a:rPr lang="ko-KR" altLang="en-US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과학적</a:t>
            </a:r>
            <a:r>
              <a:rPr lang="en-US" altLang="ko-KR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697410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E3365-8B46-8DC7-B3DB-5804A1E6E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2210BF5-0ED4-818F-8132-C23B48801534}"/>
              </a:ext>
            </a:extLst>
          </p:cNvPr>
          <p:cNvSpPr/>
          <p:nvPr/>
        </p:nvSpPr>
        <p:spPr>
          <a:xfrm>
            <a:off x="1104900" y="1498696"/>
            <a:ext cx="6629399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036B7A-1839-8911-31B1-8ACD94E17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C31064-70EE-FA5B-F370-E6D2F42FE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7627095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기술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Trends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문해력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(AI Literacy)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Machine/Deep Learning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이해</a:t>
            </a:r>
            <a:endParaRPr lang="en-US" altLang="ko-KR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AI)</a:t>
            </a:r>
          </a:p>
        </p:txBody>
      </p:sp>
    </p:spTree>
    <p:extLst>
      <p:ext uri="{BB962C8B-B14F-4D97-AF65-F5344CB8AC3E}">
        <p14:creationId xmlns:p14="http://schemas.microsoft.com/office/powerpoint/2010/main" val="63501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35A7F-4DF6-4C75-04F9-B1D6A23C9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CF6C34-DB60-FD41-194F-1665B9CD6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962799"/>
            <a:ext cx="3458583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2026</a:t>
            </a:r>
            <a:r>
              <a:rPr kumimoji="0" lang="ko-KR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년 </a:t>
            </a: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AI Agent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B5736A1-7F3D-8DB7-7510-96902538B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9745" y="2105025"/>
            <a:ext cx="5776911" cy="361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0C3D7D6-CC9A-5C17-F412-7C8E166F0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962799"/>
            <a:ext cx="3458583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2025</a:t>
            </a:r>
            <a:r>
              <a:rPr kumimoji="0" lang="ko-KR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년 생성형 </a:t>
            </a: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AI</a:t>
            </a:r>
          </a:p>
        </p:txBody>
      </p:sp>
      <p:pic>
        <p:nvPicPr>
          <p:cNvPr id="7" name="그래픽 6" descr="조금 굽은 화살표">
            <a:extLst>
              <a:ext uri="{FF2B5EF4-FFF2-40B4-BE49-F238E27FC236}">
                <a16:creationId xmlns:a16="http://schemas.microsoft.com/office/drawing/2014/main" id="{6D08B07E-E568-4C06-9AE5-18B95B5B1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29100" y="562749"/>
            <a:ext cx="1542276" cy="1542276"/>
          </a:xfrm>
          <a:prstGeom prst="rect">
            <a:avLst/>
          </a:prstGeom>
        </p:spPr>
      </p:pic>
      <p:pic>
        <p:nvPicPr>
          <p:cNvPr id="9" name="Picture 2" descr="▲Chatgpt , Gemini 외의 대화형 생성 AI는 생소하다. &quot;한국형 AI&quot;  네이버 Clova X,  카카오 AskUp, 뤼튼 Wrtn도 애정을 가지고 활용해보자..">
            <a:extLst>
              <a:ext uri="{FF2B5EF4-FFF2-40B4-BE49-F238E27FC236}">
                <a16:creationId xmlns:a16="http://schemas.microsoft.com/office/drawing/2014/main" id="{C581AC35-CA43-BB4F-0F55-93744C537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49" y="2105025"/>
            <a:ext cx="4239101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01A55B55-9C08-C924-2998-E8492F46D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88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39CAD-391B-1A5A-7C6C-CA0F06718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3F9BE6-163C-A512-962D-1615DEE8E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631" y="591324"/>
            <a:ext cx="6320844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2026</a:t>
            </a:r>
            <a:r>
              <a:rPr kumimoji="0" lang="ko-KR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년 </a:t>
            </a: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AI </a:t>
            </a:r>
            <a:r>
              <a:rPr kumimoji="0" lang="ko-KR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기술 </a:t>
            </a: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Trend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F1CCBAC-7B45-46C7-EFAE-DE3694309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560485"/>
              </p:ext>
            </p:extLst>
          </p:nvPr>
        </p:nvGraphicFramePr>
        <p:xfrm>
          <a:off x="655637" y="1400949"/>
          <a:ext cx="10460038" cy="264717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515835">
                  <a:extLst>
                    <a:ext uri="{9D8B030D-6E8A-4147-A177-3AD203B41FA5}">
                      <a16:colId xmlns:a16="http://schemas.microsoft.com/office/drawing/2014/main" val="2308711996"/>
                    </a:ext>
                  </a:extLst>
                </a:gridCol>
                <a:gridCol w="6944203">
                  <a:extLst>
                    <a:ext uri="{9D8B030D-6E8A-4147-A177-3AD203B41FA5}">
                      <a16:colId xmlns:a16="http://schemas.microsoft.com/office/drawing/2014/main" val="1497260062"/>
                    </a:ext>
                  </a:extLst>
                </a:gridCol>
              </a:tblGrid>
              <a:tr h="44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트렌드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핵심 내용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525987"/>
                  </a:ext>
                </a:extLst>
              </a:tr>
              <a:tr h="44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1. AI Agent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단순히 질문에 답하는 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를 넘어 스스로 계획하고 실행하는 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등장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327801"/>
                  </a:ext>
                </a:extLst>
              </a:tr>
              <a:tr h="44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2. </a:t>
                      </a: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Multimodal AI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텍스트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이미지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음성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영상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센서 데이터를 동시에 이해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031982"/>
                  </a:ext>
                </a:extLst>
              </a:tr>
              <a:tr h="44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3. SLM</a:t>
                      </a:r>
                      <a:r>
                        <a:rPr lang="ko-KR" alt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과 </a:t>
                      </a:r>
                      <a:r>
                        <a:rPr lang="ko-KR" altLang="en-US" sz="1600" b="1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온디바이스</a:t>
                      </a:r>
                      <a:r>
                        <a:rPr lang="ko-KR" alt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거대 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뿐 아니라 스마트폰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로봇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자동차에서 동작하는 경량 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확산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6106674"/>
                  </a:ext>
                </a:extLst>
              </a:tr>
              <a:tr h="44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4. Domain </a:t>
                      </a:r>
                      <a:r>
                        <a:rPr lang="ko-KR" alt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전문가 중심의</a:t>
                      </a:r>
                      <a:r>
                        <a:rPr lang="en-US" altLang="ko-KR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AI</a:t>
                      </a:r>
                      <a:r>
                        <a:rPr lang="ko-KR" alt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활용</a:t>
                      </a:r>
                      <a:endParaRPr lang="ko-KR" alt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전문가보다 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를 활용하는 도메인 전문가 가치 증가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717034"/>
                  </a:ext>
                </a:extLst>
              </a:tr>
              <a:tr h="44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5. AI Native </a:t>
                      </a:r>
                      <a:r>
                        <a:rPr lang="ko-KR" alt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시대 도래</a:t>
                      </a:r>
                      <a:endParaRPr lang="ko-KR" alt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가 업무 보조가 아니라 업무 수행의 기본 인프라가 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45918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8C7537A-3D69-AECB-B755-133564319E94}"/>
              </a:ext>
            </a:extLst>
          </p:cNvPr>
          <p:cNvSpPr txBox="1"/>
          <p:nvPr/>
        </p:nvSpPr>
        <p:spPr>
          <a:xfrm>
            <a:off x="4337341" y="4584115"/>
            <a:ext cx="70942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ea typeface="D2Coding" panose="020B0609020101020101" pitchFamily="49" charset="-127"/>
              </a:rPr>
              <a:t>'AI</a:t>
            </a:r>
            <a:r>
              <a:rPr lang="ko-KR" altLang="en-US" dirty="0">
                <a:ea typeface="D2Coding" panose="020B0609020101020101" pitchFamily="49" charset="-127"/>
              </a:rPr>
              <a:t>를 활용한 업무 설계 및 문제 해결 능력</a:t>
            </a:r>
            <a:r>
              <a:rPr lang="en-US" altLang="ko-KR" dirty="0">
                <a:ea typeface="D2Coding" panose="020B0609020101020101" pitchFamily="49" charset="-127"/>
              </a:rPr>
              <a:t>' </a:t>
            </a:r>
            <a:r>
              <a:rPr lang="ko-KR" altLang="en-US" dirty="0">
                <a:ea typeface="D2Coding" panose="020B0609020101020101" pitchFamily="49" charset="-127"/>
              </a:rPr>
              <a:t>중심으로 전환</a:t>
            </a:r>
            <a:endParaRPr lang="en-US" altLang="ko-KR" dirty="0"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dirty="0"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ea typeface="D2Coding" panose="020B0609020101020101" pitchFamily="49" charset="-127"/>
              </a:rPr>
              <a:t>'</a:t>
            </a:r>
            <a:r>
              <a:rPr lang="ko-KR" altLang="en-US" dirty="0">
                <a:ea typeface="D2Coding" panose="020B0609020101020101" pitchFamily="49" charset="-127"/>
              </a:rPr>
              <a:t>다양한 데이터 융합 교육</a:t>
            </a:r>
            <a:r>
              <a:rPr lang="en-US" altLang="ko-KR" dirty="0">
                <a:ea typeface="D2Coding" panose="020B0609020101020101" pitchFamily="49" charset="-127"/>
              </a:rPr>
              <a:t>'</a:t>
            </a:r>
            <a:r>
              <a:rPr lang="ko-KR" altLang="en-US" dirty="0">
                <a:ea typeface="D2Coding" panose="020B0609020101020101" pitchFamily="49" charset="-127"/>
              </a:rPr>
              <a:t>과 </a:t>
            </a:r>
            <a:r>
              <a:rPr lang="en-US" altLang="ko-KR" dirty="0">
                <a:ea typeface="D2Coding" panose="020B0609020101020101" pitchFamily="49" charset="-127"/>
              </a:rPr>
              <a:t>'</a:t>
            </a:r>
            <a:r>
              <a:rPr lang="ko-KR" altLang="en-US" dirty="0">
                <a:ea typeface="D2Coding" panose="020B0609020101020101" pitchFamily="49" charset="-127"/>
              </a:rPr>
              <a:t>산업현장 맞춤형 </a:t>
            </a:r>
            <a:r>
              <a:rPr lang="en-US" altLang="ko-KR" dirty="0">
                <a:ea typeface="D2Coding" panose="020B0609020101020101" pitchFamily="49" charset="-127"/>
              </a:rPr>
              <a:t>AI </a:t>
            </a:r>
            <a:r>
              <a:rPr lang="ko-KR" altLang="en-US" dirty="0">
                <a:ea typeface="D2Coding" panose="020B0609020101020101" pitchFamily="49" charset="-127"/>
              </a:rPr>
              <a:t>역량</a:t>
            </a:r>
            <a:r>
              <a:rPr lang="en-US" altLang="ko-KR" dirty="0">
                <a:ea typeface="D2Coding" panose="020B0609020101020101" pitchFamily="49" charset="-127"/>
              </a:rPr>
              <a:t>' </a:t>
            </a:r>
            <a:r>
              <a:rPr lang="ko-KR" altLang="en-US" dirty="0">
                <a:ea typeface="D2Coding" panose="020B0609020101020101" pitchFamily="49" charset="-127"/>
              </a:rPr>
              <a:t>강화</a:t>
            </a:r>
            <a:endParaRPr lang="en-US" altLang="ko-KR" dirty="0"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dirty="0"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ea typeface="D2Coding" panose="020B0609020101020101" pitchFamily="49" charset="-127"/>
              </a:rPr>
              <a:t>'</a:t>
            </a:r>
            <a:r>
              <a:rPr lang="ko-KR" altLang="en-US" dirty="0">
                <a:ea typeface="D2Coding" panose="020B0609020101020101" pitchFamily="49" charset="-127"/>
              </a:rPr>
              <a:t>전공 지식과 </a:t>
            </a:r>
            <a:r>
              <a:rPr lang="en-US" altLang="ko-KR" dirty="0">
                <a:ea typeface="D2Coding" panose="020B0609020101020101" pitchFamily="49" charset="-127"/>
              </a:rPr>
              <a:t>AI </a:t>
            </a:r>
            <a:r>
              <a:rPr lang="ko-KR" altLang="en-US" dirty="0">
                <a:ea typeface="D2Coding" panose="020B0609020101020101" pitchFamily="49" charset="-127"/>
              </a:rPr>
              <a:t>기술의 필수적인 융합 교육</a:t>
            </a:r>
            <a:r>
              <a:rPr lang="en-US" altLang="ko-KR" dirty="0">
                <a:ea typeface="D2Coding" panose="020B0609020101020101" pitchFamily="49" charset="-127"/>
              </a:rPr>
              <a:t>'</a:t>
            </a:r>
            <a:r>
              <a:rPr lang="ko-KR" altLang="en-US" dirty="0">
                <a:ea typeface="D2Coding" panose="020B0609020101020101" pitchFamily="49" charset="-127"/>
              </a:rPr>
              <a:t>이 실현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ko-KR" altLang="en-US" dirty="0">
              <a:ea typeface="D2Coding" panose="020B0609020101020101" pitchFamily="49" charset="-127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DEE140B5-3AA1-2578-BC96-74F27122D290}"/>
              </a:ext>
            </a:extLst>
          </p:cNvPr>
          <p:cNvSpPr/>
          <p:nvPr/>
        </p:nvSpPr>
        <p:spPr>
          <a:xfrm>
            <a:off x="2067215" y="4650790"/>
            <a:ext cx="1620838" cy="1257300"/>
          </a:xfrm>
          <a:prstGeom prst="rightArrow">
            <a:avLst>
              <a:gd name="adj1" fmla="val 69697"/>
              <a:gd name="adj2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영향</a:t>
            </a:r>
          </a:p>
        </p:txBody>
      </p:sp>
      <p:sp>
        <p:nvSpPr>
          <p:cNvPr id="4" name="슬라이드 번호 개체 틀 7">
            <a:extLst>
              <a:ext uri="{FF2B5EF4-FFF2-40B4-BE49-F238E27FC236}">
                <a16:creationId xmlns:a16="http://schemas.microsoft.com/office/drawing/2014/main" id="{F9507C2B-7BD9-5C5B-F9ED-4F7E543EC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712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E5465-0296-58A4-1609-BC499EAA4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1BDD706-3BEF-315C-7A5B-9ACDA8062DD8}"/>
              </a:ext>
            </a:extLst>
          </p:cNvPr>
          <p:cNvSpPr/>
          <p:nvPr/>
        </p:nvSpPr>
        <p:spPr>
          <a:xfrm>
            <a:off x="1104900" y="2165446"/>
            <a:ext cx="6629399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265B2D2-DBE0-432F-23E6-60D3E3A6E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F020FC3-9A7D-CA21-9CC1-2714D64B4D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7627095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기술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Trends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문해력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(AI Literacy)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Machine/Deep Learning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이해</a:t>
            </a:r>
            <a:endParaRPr lang="en-US" altLang="ko-KR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AI)</a:t>
            </a:r>
          </a:p>
        </p:txBody>
      </p:sp>
    </p:spTree>
    <p:extLst>
      <p:ext uri="{BB962C8B-B14F-4D97-AF65-F5344CB8AC3E}">
        <p14:creationId xmlns:p14="http://schemas.microsoft.com/office/powerpoint/2010/main" val="1476702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2B19C-A0CB-1C03-E942-FDEE22652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D59C107-F17B-9522-C972-A56F19675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9994572" cy="4439262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Clr>
                <a:srgbClr val="FFC000"/>
              </a:buClr>
              <a:buNone/>
            </a:pPr>
            <a:r>
              <a:rPr lang="en-US" altLang="ko-KR" sz="2800" dirty="0"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Literacy</a:t>
            </a:r>
            <a:r>
              <a:rPr lang="ko-KR" altLang="en-US" sz="2800" dirty="0">
                <a:latin typeface="+mn-lt"/>
              </a:rPr>
              <a:t>는</a:t>
            </a:r>
            <a:r>
              <a:rPr lang="en-US" altLang="ko-KR" sz="2800" dirty="0">
                <a:latin typeface="+mn-lt"/>
              </a:rPr>
              <a:t> </a:t>
            </a:r>
            <a:r>
              <a:rPr lang="ko-KR" altLang="en-US" sz="2800" dirty="0">
                <a:latin typeface="+mn-lt"/>
              </a:rPr>
              <a:t>개인</a:t>
            </a:r>
            <a:r>
              <a:rPr lang="en-US" altLang="ko-KR" sz="2800" dirty="0">
                <a:latin typeface="+mn-lt"/>
              </a:rPr>
              <a:t> </a:t>
            </a:r>
            <a:r>
              <a:rPr lang="ko-KR" altLang="en-US" sz="2800" dirty="0">
                <a:latin typeface="+mn-lt"/>
              </a:rPr>
              <a:t>역량</a:t>
            </a:r>
            <a:r>
              <a:rPr lang="en-US" altLang="ko-KR" sz="2800" dirty="0">
                <a:latin typeface="+mn-lt"/>
              </a:rPr>
              <a:t>(competencies ) :</a:t>
            </a:r>
          </a:p>
          <a:p>
            <a:pPr marL="914400" lvl="1" indent="-457200">
              <a:lnSpc>
                <a:spcPct val="200000"/>
              </a:lnSpc>
              <a:buClr>
                <a:srgbClr val="FFC000"/>
              </a:buClr>
              <a:buFont typeface="+mj-lt"/>
              <a:buAutoNum type="arabicParenR"/>
            </a:pPr>
            <a:r>
              <a:rPr lang="en-US" altLang="ko-KR" sz="2400" dirty="0"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dirty="0">
                <a:latin typeface="+mn-lt"/>
                <a:ea typeface="D2Coding" panose="020B0609020101020101" pitchFamily="49" charset="-127"/>
              </a:rPr>
              <a:t>기술을 비판적으로 평가하고</a:t>
            </a:r>
            <a:r>
              <a:rPr lang="en-US" altLang="ko-KR" sz="2400" dirty="0">
                <a:latin typeface="+mn-lt"/>
                <a:ea typeface="D2Coding" panose="020B0609020101020101" pitchFamily="49" charset="-127"/>
              </a:rPr>
              <a:t>,</a:t>
            </a:r>
            <a:endParaRPr lang="en-US" altLang="ko-KR" sz="2400" dirty="0">
              <a:latin typeface="+mn-lt"/>
            </a:endParaRPr>
          </a:p>
          <a:p>
            <a:pPr marL="914400" lvl="1" indent="-457200">
              <a:lnSpc>
                <a:spcPct val="200000"/>
              </a:lnSpc>
              <a:buClr>
                <a:srgbClr val="FFC000"/>
              </a:buClr>
              <a:buFont typeface="+mj-lt"/>
              <a:buAutoNum type="arabicParenR"/>
            </a:pPr>
            <a:r>
              <a:rPr lang="en-US" altLang="ko-KR" sz="2400" dirty="0">
                <a:latin typeface="+mn-lt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+mn-lt"/>
                <a:ea typeface="D2Coding" panose="020B0609020101020101" pitchFamily="49" charset="-127"/>
              </a:rPr>
              <a:t>와 효과적으로 소통하고 협업하며</a:t>
            </a:r>
            <a:r>
              <a:rPr lang="en-US" altLang="ko-KR" sz="2400" dirty="0">
                <a:latin typeface="+mn-lt"/>
                <a:ea typeface="D2Coding" panose="020B0609020101020101" pitchFamily="49" charset="-127"/>
              </a:rPr>
              <a:t>,</a:t>
            </a:r>
            <a:endParaRPr lang="en-US" altLang="ko-KR" sz="2400" dirty="0">
              <a:latin typeface="+mn-lt"/>
            </a:endParaRPr>
          </a:p>
          <a:p>
            <a:pPr marL="914400" lvl="1" indent="-457200">
              <a:lnSpc>
                <a:spcPct val="200000"/>
              </a:lnSpc>
              <a:buClr>
                <a:srgbClr val="FFC000"/>
              </a:buClr>
              <a:buFont typeface="+mj-lt"/>
              <a:buAutoNum type="arabicParenR"/>
            </a:pPr>
            <a:r>
              <a:rPr lang="ko-KR" altLang="en-US" sz="2400" dirty="0">
                <a:latin typeface="+mn-lt"/>
                <a:ea typeface="D2Coding" panose="020B0609020101020101" pitchFamily="49" charset="-127"/>
              </a:rPr>
              <a:t>가정 및 직장에서 </a:t>
            </a:r>
            <a:r>
              <a:rPr lang="en-US" altLang="ko-KR" sz="2400" dirty="0">
                <a:latin typeface="+mn-lt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+mn-lt"/>
                <a:ea typeface="D2Coding" panose="020B0609020101020101" pitchFamily="49" charset="-127"/>
              </a:rPr>
              <a:t>를 도구로 사용할 수 있는 역량</a:t>
            </a:r>
            <a:endParaRPr lang="en-US" altLang="ko-KR" sz="2400" dirty="0">
              <a:latin typeface="+mn-lt"/>
              <a:ea typeface="D2Coding" panose="020B0609020101020101" pitchFamily="49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619B255-3DEB-799D-160F-BF51B59D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876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1DE87-18C1-4A10-0DE4-7C7455CCC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AB387351-8197-8E76-6BD6-4BEFA7A74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+mn-lt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Literacy</a:t>
            </a:r>
            <a:endParaRPr lang="ko-KR" altLang="en-US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C9A12E8-488F-3C2C-F0A7-31AB22F75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 dirty="0"/>
          </a:p>
        </p:txBody>
      </p:sp>
      <p:pic>
        <p:nvPicPr>
          <p:cNvPr id="10" name="그래픽 9" descr="실행">
            <a:extLst>
              <a:ext uri="{FF2B5EF4-FFF2-40B4-BE49-F238E27FC236}">
                <a16:creationId xmlns:a16="http://schemas.microsoft.com/office/drawing/2014/main" id="{D9816C35-8601-DC34-18BB-C496603BB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2823" y="1740039"/>
            <a:ext cx="1688960" cy="1688960"/>
          </a:xfrm>
          <a:prstGeom prst="rect">
            <a:avLst/>
          </a:prstGeom>
        </p:spPr>
      </p:pic>
      <p:pic>
        <p:nvPicPr>
          <p:cNvPr id="1026" name="Picture 2" descr="▲Chatgpt , Gemini 외의 대화형 생성 AI는 생소하다. &quot;한국형 AI&quot;  네이버 Clova X,  카카오 AskUp, 뤼튼 Wrtn도 애정을 가지고 활용해보자..">
            <a:extLst>
              <a:ext uri="{FF2B5EF4-FFF2-40B4-BE49-F238E27FC236}">
                <a16:creationId xmlns:a16="http://schemas.microsoft.com/office/drawing/2014/main" id="{F5E219D3-0BC1-AEB4-C1AD-A518CC4F0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40457"/>
            <a:ext cx="4977170" cy="2885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십자형 10">
            <a:extLst>
              <a:ext uri="{FF2B5EF4-FFF2-40B4-BE49-F238E27FC236}">
                <a16:creationId xmlns:a16="http://schemas.microsoft.com/office/drawing/2014/main" id="{00F4E7D9-7E53-71CA-3BF0-42FC1849E503}"/>
              </a:ext>
            </a:extLst>
          </p:cNvPr>
          <p:cNvSpPr/>
          <p:nvPr/>
        </p:nvSpPr>
        <p:spPr>
          <a:xfrm rot="2797774">
            <a:off x="4301866" y="2927253"/>
            <a:ext cx="964781" cy="964496"/>
          </a:xfrm>
          <a:prstGeom prst="plus">
            <a:avLst>
              <a:gd name="adj" fmla="val 3948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2" descr="기는 아기">
            <a:extLst>
              <a:ext uri="{FF2B5EF4-FFF2-40B4-BE49-F238E27FC236}">
                <a16:creationId xmlns:a16="http://schemas.microsoft.com/office/drawing/2014/main" id="{FBF4451E-6A2F-DCC4-B4A2-F6BFBFBF48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57703" y="4150961"/>
            <a:ext cx="1301680" cy="130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439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F87B5-1A89-D3F8-3C70-DED895D1A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23EF3D5-91C3-8814-1048-E29B81F18A08}"/>
              </a:ext>
            </a:extLst>
          </p:cNvPr>
          <p:cNvSpPr/>
          <p:nvPr/>
        </p:nvSpPr>
        <p:spPr>
          <a:xfrm>
            <a:off x="1104900" y="2841721"/>
            <a:ext cx="6629399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3CAA8B2-B23D-7FB1-3069-7C9FADA91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79E083-24E4-3ABC-B0F4-41E2DAE794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7627095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기술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Trends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문해력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(AI Literacy)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Machine/Deep Learning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이해</a:t>
            </a:r>
            <a:endParaRPr lang="en-US" altLang="ko-KR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AI)</a:t>
            </a:r>
          </a:p>
          <a:p>
            <a:pPr>
              <a:lnSpc>
                <a:spcPct val="150000"/>
              </a:lnSpc>
              <a:buSzPct val="100000"/>
            </a:pPr>
            <a:endParaRPr lang="ko-KR" altLang="en-US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3086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B39CB-29A8-D30A-CCE8-BFC53D81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DC10F64-F249-B0BF-30B8-1D6290B0A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908" y="679572"/>
            <a:ext cx="9970441" cy="1078842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buClr>
                <a:srgbClr val="FFC000"/>
              </a:buClr>
              <a:buFont typeface="Wingdings" panose="05000000000000000000" pitchFamily="2" charset="2"/>
              <a:buChar char="v"/>
            </a:pPr>
            <a:r>
              <a:rPr lang="ko-KR" altLang="en-US" dirty="0" err="1">
                <a:latin typeface="+mn-lt"/>
                <a:ea typeface="D2Coding" panose="020B0609020101020101" pitchFamily="49" charset="-127"/>
              </a:rPr>
              <a:t>머신러닝이전</a:t>
            </a:r>
            <a:r>
              <a:rPr lang="ko-KR" altLang="en-US" dirty="0">
                <a:latin typeface="+mn-lt"/>
                <a:ea typeface="D2Coding" panose="020B0609020101020101" pitchFamily="49" charset="-127"/>
              </a:rPr>
              <a:t> 시대에는</a:t>
            </a:r>
            <a:r>
              <a:rPr lang="en-US" altLang="ko-KR" dirty="0">
                <a:latin typeface="+mn-lt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+mn-lt"/>
                <a:ea typeface="D2Coding" panose="020B0609020101020101" pitchFamily="49" charset="-127"/>
              </a:rPr>
              <a:t>관측된</a:t>
            </a:r>
            <a:r>
              <a:rPr lang="en-US" altLang="ko-KR" dirty="0">
                <a:latin typeface="+mn-lt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+mn-lt"/>
                <a:ea typeface="D2Coding" panose="020B0609020101020101" pitchFamily="49" charset="-127"/>
              </a:rPr>
              <a:t>데이터에 존재하는 규칙성</a:t>
            </a:r>
            <a:r>
              <a:rPr lang="en-US" altLang="ko-KR" dirty="0">
                <a:latin typeface="+mn-lt"/>
                <a:ea typeface="D2Coding" panose="020B0609020101020101" pitchFamily="49" charset="-127"/>
              </a:rPr>
              <a:t>(Patterns)</a:t>
            </a:r>
            <a:r>
              <a:rPr lang="ko-KR" altLang="en-US" dirty="0">
                <a:latin typeface="+mn-lt"/>
                <a:ea typeface="D2Coding" panose="020B0609020101020101" pitchFamily="49" charset="-127"/>
              </a:rPr>
              <a:t>을 사람이 직접 궁리하고 발견하여 새로운 데이터를 예측 </a:t>
            </a:r>
            <a:r>
              <a:rPr lang="en-US" altLang="ko-KR" dirty="0">
                <a:latin typeface="+mn-lt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+mn-lt"/>
                <a:ea typeface="D2Coding" panose="020B0609020101020101" pitchFamily="49" charset="-127"/>
              </a:rPr>
              <a:t>귀납법</a:t>
            </a:r>
            <a:r>
              <a:rPr lang="en-US" altLang="ko-KR" dirty="0">
                <a:latin typeface="+mn-lt"/>
                <a:ea typeface="D2Coding" panose="020B0609020101020101" pitchFamily="49" charset="-127"/>
              </a:rPr>
              <a:t>)</a:t>
            </a:r>
            <a:endParaRPr lang="en-US" altLang="ko-KR" sz="1400" dirty="0">
              <a:latin typeface="+mn-lt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FE32C0B-E627-1492-21C2-F2E2E347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10</a:t>
            </a:fld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A43203B-3F4D-82D3-E6A0-3CFC22A8D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217" y="2261017"/>
            <a:ext cx="3420004" cy="37159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9046B17-37E0-4F85-CF1F-E2D0D2435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998" y="2261017"/>
            <a:ext cx="4582787" cy="221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6733E6-D0A6-586E-F781-8DD0117624C1}"/>
              </a:ext>
            </a:extLst>
          </p:cNvPr>
          <p:cNvSpPr txBox="1"/>
          <p:nvPr/>
        </p:nvSpPr>
        <p:spPr>
          <a:xfrm>
            <a:off x="860423" y="4520705"/>
            <a:ext cx="41021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방대하고 정밀한 데이터들을 직접 수년간 궁리하고 계산</a:t>
            </a:r>
            <a:r>
              <a:rPr lang="en-US" altLang="ko-KR" sz="1200" dirty="0"/>
              <a:t>(</a:t>
            </a:r>
            <a:r>
              <a:rPr lang="ko-KR" altLang="en-US" sz="1200" dirty="0"/>
              <a:t>귀납법</a:t>
            </a:r>
            <a:r>
              <a:rPr lang="en-US" altLang="ko-KR" sz="1200" dirty="0"/>
              <a:t>)</a:t>
            </a:r>
            <a:r>
              <a:rPr lang="ko-KR" altLang="en-US" sz="1200" dirty="0"/>
              <a:t>한 끝에</a:t>
            </a:r>
            <a:r>
              <a:rPr lang="en-US" altLang="ko-KR" sz="1200" dirty="0"/>
              <a:t>, </a:t>
            </a:r>
            <a:r>
              <a:rPr lang="ko-KR" altLang="en-US" sz="1200" dirty="0"/>
              <a:t>행성이 원이 아닌 </a:t>
            </a:r>
            <a:r>
              <a:rPr lang="en-US" altLang="ko-KR" sz="1200" dirty="0"/>
              <a:t>'</a:t>
            </a:r>
            <a:r>
              <a:rPr lang="ko-KR" altLang="en-US" sz="1200" dirty="0"/>
              <a:t>타원 궤도</a:t>
            </a:r>
            <a:r>
              <a:rPr lang="en-US" altLang="ko-KR" sz="1200" dirty="0"/>
              <a:t>'</a:t>
            </a:r>
            <a:r>
              <a:rPr lang="ko-KR" altLang="en-US" sz="1200" dirty="0"/>
              <a:t>로 공전한다는 규칙성을 발견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65FD66-367E-4CF8-6DC4-51918DBDF02D}"/>
              </a:ext>
            </a:extLst>
          </p:cNvPr>
          <p:cNvSpPr txBox="1"/>
          <p:nvPr/>
        </p:nvSpPr>
        <p:spPr>
          <a:xfrm>
            <a:off x="6643410" y="6058772"/>
            <a:ext cx="38817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변광성의 밝기가 변하는 </a:t>
            </a:r>
            <a:r>
              <a:rPr lang="en-US" altLang="ko-KR" sz="1200" dirty="0"/>
              <a:t>'</a:t>
            </a:r>
            <a:r>
              <a:rPr lang="ko-KR" altLang="en-US" sz="1200" dirty="0"/>
              <a:t>주기</a:t>
            </a:r>
            <a:r>
              <a:rPr lang="en-US" altLang="ko-KR" sz="1200" dirty="0"/>
              <a:t>'</a:t>
            </a:r>
            <a:r>
              <a:rPr lang="ko-KR" altLang="en-US" sz="1200" dirty="0"/>
              <a:t>와 실제 별의 </a:t>
            </a:r>
            <a:r>
              <a:rPr lang="en-US" altLang="ko-KR" sz="1200" dirty="0"/>
              <a:t>'</a:t>
            </a:r>
            <a:r>
              <a:rPr lang="ko-KR" altLang="en-US" sz="1200" dirty="0"/>
              <a:t>밝기</a:t>
            </a:r>
            <a:r>
              <a:rPr lang="en-US" altLang="ko-KR" sz="1200" dirty="0"/>
              <a:t>(</a:t>
            </a:r>
            <a:r>
              <a:rPr lang="ko-KR" altLang="en-US" sz="1200" dirty="0"/>
              <a:t>광도</a:t>
            </a:r>
            <a:r>
              <a:rPr lang="en-US" altLang="ko-KR" sz="1200" dirty="0"/>
              <a:t>)' </a:t>
            </a:r>
            <a:r>
              <a:rPr lang="ko-KR" altLang="en-US" sz="1200" dirty="0"/>
              <a:t>사이에 일정한 선형적 관계</a:t>
            </a:r>
            <a:r>
              <a:rPr lang="en-US" altLang="ko-KR" sz="1200" dirty="0"/>
              <a:t>(</a:t>
            </a:r>
            <a:r>
              <a:rPr lang="ko-KR" altLang="en-US" sz="1200" dirty="0"/>
              <a:t>패턴</a:t>
            </a:r>
            <a:r>
              <a:rPr lang="en-US" altLang="ko-KR" sz="1200" dirty="0"/>
              <a:t>)</a:t>
            </a:r>
            <a:r>
              <a:rPr lang="ko-KR" altLang="en-US" sz="1200" dirty="0"/>
              <a:t>가 있음을 직접 발견</a:t>
            </a:r>
          </a:p>
        </p:txBody>
      </p:sp>
    </p:spTree>
    <p:extLst>
      <p:ext uri="{BB962C8B-B14F-4D97-AF65-F5344CB8AC3E}">
        <p14:creationId xmlns:p14="http://schemas.microsoft.com/office/powerpoint/2010/main" val="2762664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89F7D-60F0-C169-8829-01C8F6C7A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482F125-32B2-400E-E458-E0980BA02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278" y="723232"/>
            <a:ext cx="9299247" cy="10951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v"/>
            </a:pP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과거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 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데이터에 존재하는 규칙성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(Patterns)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을 컴퓨터가 발견하게 하여 새로운 데이터를 예측하는 것이 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Machine Learning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(New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Paradigm)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8757285-31DC-BA9E-AB21-460B69252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11</a:t>
            </a:fld>
            <a:endParaRPr 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8E86B95-670E-D3FF-A272-083E38C1053E}"/>
              </a:ext>
            </a:extLst>
          </p:cNvPr>
          <p:cNvSpPr/>
          <p:nvPr/>
        </p:nvSpPr>
        <p:spPr>
          <a:xfrm>
            <a:off x="4683760" y="2305685"/>
            <a:ext cx="2641600" cy="11887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ea typeface="+mj-ea"/>
              </a:rPr>
              <a:t>Classical 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  <a:ea typeface="+mj-ea"/>
              </a:rPr>
              <a:t>Programming</a:t>
            </a:r>
            <a:endParaRPr lang="ko-KR" altLang="en-US" sz="2000" b="1" dirty="0">
              <a:solidFill>
                <a:schemeClr val="bg1"/>
              </a:solidFill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460C2E-420B-007D-0A66-5D8980373754}"/>
              </a:ext>
            </a:extLst>
          </p:cNvPr>
          <p:cNvSpPr/>
          <p:nvPr/>
        </p:nvSpPr>
        <p:spPr>
          <a:xfrm>
            <a:off x="4683760" y="4399280"/>
            <a:ext cx="2641600" cy="11887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ea typeface="+mj-ea"/>
              </a:rPr>
              <a:t>Machine 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  <a:ea typeface="+mj-ea"/>
              </a:rPr>
              <a:t>Learning</a:t>
            </a:r>
            <a:endParaRPr lang="ko-KR" altLang="en-US" sz="2000" b="1" dirty="0">
              <a:solidFill>
                <a:schemeClr val="bg1"/>
              </a:solidFill>
              <a:ea typeface="+mj-ea"/>
            </a:endParaRPr>
          </a:p>
        </p:txBody>
      </p:sp>
      <p:pic>
        <p:nvPicPr>
          <p:cNvPr id="11" name="그래픽 10" descr="줄 화살표: 일자형">
            <a:extLst>
              <a:ext uri="{FF2B5EF4-FFF2-40B4-BE49-F238E27FC236}">
                <a16:creationId xmlns:a16="http://schemas.microsoft.com/office/drawing/2014/main" id="{09056CBC-03F5-03D5-ED50-D6ADD7E6D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664901" y="2285365"/>
            <a:ext cx="701040" cy="701040"/>
          </a:xfrm>
          <a:prstGeom prst="rect">
            <a:avLst/>
          </a:prstGeom>
        </p:spPr>
      </p:pic>
      <p:pic>
        <p:nvPicPr>
          <p:cNvPr id="12" name="그래픽 11" descr="줄 화살표: 일자형">
            <a:extLst>
              <a:ext uri="{FF2B5EF4-FFF2-40B4-BE49-F238E27FC236}">
                <a16:creationId xmlns:a16="http://schemas.microsoft.com/office/drawing/2014/main" id="{88FF5411-4130-3777-7D53-1E224D37C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664901" y="2854326"/>
            <a:ext cx="701040" cy="701040"/>
          </a:xfrm>
          <a:prstGeom prst="rect">
            <a:avLst/>
          </a:prstGeom>
        </p:spPr>
      </p:pic>
      <p:pic>
        <p:nvPicPr>
          <p:cNvPr id="13" name="그래픽 12" descr="줄 화살표: 일자형">
            <a:extLst>
              <a:ext uri="{FF2B5EF4-FFF2-40B4-BE49-F238E27FC236}">
                <a16:creationId xmlns:a16="http://schemas.microsoft.com/office/drawing/2014/main" id="{87088843-587D-1401-6690-C72E0ED6C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643179" y="2515975"/>
            <a:ext cx="701040" cy="7010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9BE911-9A4F-E3BA-8E49-B09C896D3772}"/>
              </a:ext>
            </a:extLst>
          </p:cNvPr>
          <p:cNvSpPr txBox="1"/>
          <p:nvPr/>
        </p:nvSpPr>
        <p:spPr>
          <a:xfrm>
            <a:off x="2466983" y="2385180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ea typeface="+mj-ea"/>
              </a:rPr>
              <a:t>Rules</a:t>
            </a:r>
            <a:endParaRPr lang="ko-KR" altLang="en-US" sz="2000" b="1" dirty="0"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150AB2-2227-53AF-DD6D-436584B1B6E1}"/>
              </a:ext>
            </a:extLst>
          </p:cNvPr>
          <p:cNvSpPr txBox="1"/>
          <p:nvPr/>
        </p:nvSpPr>
        <p:spPr>
          <a:xfrm>
            <a:off x="2466983" y="3023474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ea typeface="+mj-ea"/>
              </a:rPr>
              <a:t>Data</a:t>
            </a:r>
            <a:endParaRPr lang="ko-KR" altLang="en-US" sz="2000" dirty="0"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C3B341-3B7F-88C1-9D36-F37088448565}"/>
              </a:ext>
            </a:extLst>
          </p:cNvPr>
          <p:cNvSpPr txBox="1"/>
          <p:nvPr/>
        </p:nvSpPr>
        <p:spPr>
          <a:xfrm>
            <a:off x="8649500" y="2640968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ea typeface="+mj-ea"/>
              </a:rPr>
              <a:t>Answer</a:t>
            </a:r>
            <a:endParaRPr lang="ko-KR" altLang="en-US" sz="2000" dirty="0">
              <a:ea typeface="+mj-ea"/>
            </a:endParaRPr>
          </a:p>
        </p:txBody>
      </p:sp>
      <p:pic>
        <p:nvPicPr>
          <p:cNvPr id="21" name="그래픽 20" descr="줄 화살표: 일자형">
            <a:extLst>
              <a:ext uri="{FF2B5EF4-FFF2-40B4-BE49-F238E27FC236}">
                <a16:creationId xmlns:a16="http://schemas.microsoft.com/office/drawing/2014/main" id="{C8335104-6DF7-9D56-5664-2071F7A99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664901" y="4368800"/>
            <a:ext cx="701040" cy="701040"/>
          </a:xfrm>
          <a:prstGeom prst="rect">
            <a:avLst/>
          </a:prstGeom>
        </p:spPr>
      </p:pic>
      <p:pic>
        <p:nvPicPr>
          <p:cNvPr id="22" name="그래픽 21" descr="줄 화살표: 일자형">
            <a:extLst>
              <a:ext uri="{FF2B5EF4-FFF2-40B4-BE49-F238E27FC236}">
                <a16:creationId xmlns:a16="http://schemas.microsoft.com/office/drawing/2014/main" id="{BE0C5C2E-828A-9865-FF5F-8C6ABFF95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664901" y="4937761"/>
            <a:ext cx="701040" cy="701040"/>
          </a:xfrm>
          <a:prstGeom prst="rect">
            <a:avLst/>
          </a:prstGeom>
        </p:spPr>
      </p:pic>
      <p:pic>
        <p:nvPicPr>
          <p:cNvPr id="23" name="그래픽 22" descr="줄 화살표: 일자형">
            <a:extLst>
              <a:ext uri="{FF2B5EF4-FFF2-40B4-BE49-F238E27FC236}">
                <a16:creationId xmlns:a16="http://schemas.microsoft.com/office/drawing/2014/main" id="{9FC00F16-A2DA-3008-8AAE-8B25695D1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643179" y="4599410"/>
            <a:ext cx="701040" cy="70104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0011B80-7168-1EB9-CD9E-A16AC80B4122}"/>
              </a:ext>
            </a:extLst>
          </p:cNvPr>
          <p:cNvSpPr txBox="1"/>
          <p:nvPr/>
        </p:nvSpPr>
        <p:spPr>
          <a:xfrm>
            <a:off x="2466983" y="4468615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Answer</a:t>
            </a:r>
            <a:endParaRPr lang="ko-KR" altLang="en-US" sz="2000" dirty="0"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8209D8-FE31-F600-8EDD-F6DD758FA4B8}"/>
              </a:ext>
            </a:extLst>
          </p:cNvPr>
          <p:cNvSpPr txBox="1"/>
          <p:nvPr/>
        </p:nvSpPr>
        <p:spPr>
          <a:xfrm>
            <a:off x="2466983" y="5106909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ea typeface="+mj-ea"/>
              </a:rPr>
              <a:t>Data</a:t>
            </a:r>
            <a:endParaRPr lang="ko-KR" altLang="en-US" sz="2000" dirty="0"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BA574E-16F2-5E7D-6791-9DF613B23231}"/>
              </a:ext>
            </a:extLst>
          </p:cNvPr>
          <p:cNvSpPr txBox="1"/>
          <p:nvPr/>
        </p:nvSpPr>
        <p:spPr>
          <a:xfrm>
            <a:off x="8649500" y="4724403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ea typeface="+mj-ea"/>
              </a:rPr>
              <a:t>Rules</a:t>
            </a:r>
            <a:endParaRPr lang="ko-KR" altLang="en-US" sz="2000" b="1" dirty="0"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46344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55D84-9CA0-9A89-9AE8-5048EF8C2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684C827-6112-6784-ADED-E4B41E9CC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453" y="1971006"/>
            <a:ext cx="10213647" cy="37439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Clr>
                <a:srgbClr val="FFC000"/>
              </a:buClr>
              <a:buNone/>
            </a:pPr>
            <a:r>
              <a:rPr lang="ko-KR" altLang="en-US" sz="2400" dirty="0" err="1">
                <a:latin typeface="+mn-lt"/>
              </a:rPr>
              <a:t>머신러닝</a:t>
            </a:r>
            <a:r>
              <a:rPr lang="ko-KR" altLang="en-US" sz="2400" dirty="0">
                <a:latin typeface="+mn-lt"/>
              </a:rPr>
              <a:t> 시대의 인간은 </a:t>
            </a:r>
            <a:r>
              <a:rPr lang="en-US" altLang="ko-KR" sz="2400" dirty="0">
                <a:latin typeface="+mn-lt"/>
              </a:rPr>
              <a:t>'</a:t>
            </a:r>
            <a:r>
              <a:rPr lang="ko-KR" altLang="en-US" sz="2400" dirty="0">
                <a:latin typeface="+mn-lt"/>
              </a:rPr>
              <a:t>규칙을 계산하는 계산원</a:t>
            </a:r>
            <a:r>
              <a:rPr lang="en-US" altLang="ko-KR" sz="2400" dirty="0">
                <a:latin typeface="+mn-lt"/>
              </a:rPr>
              <a:t>'</a:t>
            </a:r>
            <a:r>
              <a:rPr lang="ko-KR" altLang="en-US" sz="2400" dirty="0">
                <a:latin typeface="+mn-lt"/>
              </a:rPr>
              <a:t>이 아니라</a:t>
            </a:r>
            <a:r>
              <a:rPr lang="en-US" altLang="ko-KR" sz="2400" dirty="0">
                <a:latin typeface="+mn-lt"/>
              </a:rPr>
              <a:t>, </a:t>
            </a:r>
          </a:p>
          <a:p>
            <a:pPr marL="0" indent="0">
              <a:lnSpc>
                <a:spcPct val="150000"/>
              </a:lnSpc>
              <a:buClr>
                <a:srgbClr val="FFC000"/>
              </a:buClr>
              <a:buNone/>
            </a:pPr>
            <a:r>
              <a:rPr lang="ko-KR" altLang="en-US" sz="2400" dirty="0">
                <a:latin typeface="+mn-lt"/>
              </a:rPr>
              <a:t>문제를 올바르게 정의하고</a:t>
            </a:r>
            <a:r>
              <a:rPr lang="en-US" altLang="ko-KR" sz="2400" dirty="0">
                <a:latin typeface="+mn-lt"/>
              </a:rPr>
              <a:t>(</a:t>
            </a:r>
            <a:r>
              <a:rPr lang="ko-KR" altLang="en-US" sz="2400" dirty="0">
                <a:latin typeface="+mn-lt"/>
              </a:rPr>
              <a:t>출발점</a:t>
            </a:r>
            <a:r>
              <a:rPr lang="en-US" altLang="ko-KR" sz="2400" dirty="0">
                <a:latin typeface="+mn-lt"/>
              </a:rPr>
              <a:t>), </a:t>
            </a:r>
          </a:p>
          <a:p>
            <a:pPr marL="0" indent="0">
              <a:lnSpc>
                <a:spcPct val="150000"/>
              </a:lnSpc>
              <a:buClr>
                <a:srgbClr val="FFC000"/>
              </a:buClr>
              <a:buNone/>
            </a:pPr>
            <a:r>
              <a:rPr lang="en-US" altLang="ko-KR" sz="2400" dirty="0">
                <a:latin typeface="+mn-lt"/>
              </a:rPr>
              <a:t>AI</a:t>
            </a:r>
            <a:r>
              <a:rPr lang="ko-KR" altLang="en-US" sz="2400" dirty="0">
                <a:latin typeface="+mn-lt"/>
              </a:rPr>
              <a:t>의 결과를 비판적으로 검증하며</a:t>
            </a:r>
            <a:r>
              <a:rPr lang="en-US" altLang="ko-KR" sz="2400" dirty="0">
                <a:latin typeface="+mn-lt"/>
              </a:rPr>
              <a:t>(</a:t>
            </a:r>
            <a:r>
              <a:rPr lang="ko-KR" altLang="en-US" sz="2400" dirty="0">
                <a:latin typeface="+mn-lt"/>
              </a:rPr>
              <a:t>과정</a:t>
            </a:r>
            <a:r>
              <a:rPr lang="en-US" altLang="ko-KR" sz="2400" dirty="0">
                <a:latin typeface="+mn-lt"/>
              </a:rPr>
              <a:t>), </a:t>
            </a:r>
          </a:p>
          <a:p>
            <a:pPr marL="0" indent="0">
              <a:lnSpc>
                <a:spcPct val="150000"/>
              </a:lnSpc>
              <a:buClr>
                <a:srgbClr val="FFC000"/>
              </a:buClr>
              <a:buNone/>
            </a:pPr>
            <a:r>
              <a:rPr lang="ko-KR" altLang="en-US" sz="2400" dirty="0">
                <a:latin typeface="+mn-lt"/>
              </a:rPr>
              <a:t>이를 윤리적이고 가치 있게 세상에 적용하는</a:t>
            </a:r>
            <a:r>
              <a:rPr lang="en-US" altLang="ko-KR" sz="2400" dirty="0">
                <a:latin typeface="+mn-lt"/>
              </a:rPr>
              <a:t>(</a:t>
            </a:r>
            <a:r>
              <a:rPr lang="ko-KR" altLang="en-US" sz="2400" dirty="0">
                <a:latin typeface="+mn-lt"/>
              </a:rPr>
              <a:t>도착점</a:t>
            </a:r>
            <a:r>
              <a:rPr lang="en-US" altLang="ko-KR" sz="2400" dirty="0">
                <a:latin typeface="+mn-lt"/>
              </a:rPr>
              <a:t>) '</a:t>
            </a:r>
            <a:r>
              <a:rPr lang="ko-KR" altLang="en-US" sz="2400" dirty="0">
                <a:latin typeface="+mn-lt"/>
              </a:rPr>
              <a:t>감독관이자 설계자</a:t>
            </a:r>
            <a:r>
              <a:rPr lang="en-US" altLang="ko-KR" sz="2400" dirty="0">
                <a:latin typeface="+mn-lt"/>
              </a:rPr>
              <a:t>'</a:t>
            </a:r>
            <a:r>
              <a:rPr lang="ko-KR" altLang="en-US" sz="2400" dirty="0">
                <a:latin typeface="+mn-lt"/>
              </a:rPr>
              <a:t>로서의 역량이 필요</a:t>
            </a:r>
            <a:endParaRPr lang="en-US" altLang="ko-KR" sz="2400" dirty="0">
              <a:latin typeface="+mn-lt"/>
              <a:ea typeface="D2Coding" panose="020B0609020101020101" pitchFamily="49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807ABBE-926F-4674-3DF9-5C66AEAB7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213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C482E-F37B-B678-C5D1-F9772C34B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030FC98-3D23-ED2E-9EC4-CB3098C3A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13</a:t>
            </a:fld>
            <a:endParaRPr lang="en-US" dirty="0"/>
          </a:p>
        </p:txBody>
      </p:sp>
      <p:pic>
        <p:nvPicPr>
          <p:cNvPr id="2" name="Picture 2" descr="아기가 부모를 알아보는 시기는 언제일까?">
            <a:extLst>
              <a:ext uri="{FF2B5EF4-FFF2-40B4-BE49-F238E27FC236}">
                <a16:creationId xmlns:a16="http://schemas.microsoft.com/office/drawing/2014/main" id="{3AC7B627-77E3-1217-FF4B-1F06205BF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383" y="2490937"/>
            <a:ext cx="4607639" cy="3068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DC40886-4069-981E-A8D7-A1350274B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980" y="2490937"/>
            <a:ext cx="4743582" cy="30686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9237E07-93B0-6B8B-E648-59C25C7967F5}"/>
              </a:ext>
            </a:extLst>
          </p:cNvPr>
          <p:cNvSpPr txBox="1"/>
          <p:nvPr/>
        </p:nvSpPr>
        <p:spPr>
          <a:xfrm>
            <a:off x="1910080" y="1963712"/>
            <a:ext cx="110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Human</a:t>
            </a:r>
            <a:endParaRPr lang="ko-KR" alt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20B54C-2C31-787C-E855-B061F83F6C39}"/>
              </a:ext>
            </a:extLst>
          </p:cNvPr>
          <p:cNvSpPr txBox="1"/>
          <p:nvPr/>
        </p:nvSpPr>
        <p:spPr>
          <a:xfrm>
            <a:off x="8004451" y="1963712"/>
            <a:ext cx="2072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Deep</a:t>
            </a:r>
            <a:r>
              <a:rPr lang="ko-KR" altLang="en-US" sz="2000" dirty="0"/>
              <a:t> </a:t>
            </a:r>
            <a:r>
              <a:rPr lang="en-US" altLang="ko-KR" sz="2000" dirty="0"/>
              <a:t>Learning</a:t>
            </a:r>
            <a:endParaRPr lang="ko-KR" altLang="en-US" sz="2000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9398C86-972C-45A1-5439-DD236129E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+mn-lt"/>
                <a:cs typeface="Times New Roman" panose="02020603050405020304" pitchFamily="18" charset="0"/>
              </a:rPr>
              <a:t>How to classify ?</a:t>
            </a:r>
            <a:endParaRPr lang="ko-KR" altLang="en-US" b="1" cap="none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963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8379-B0F0-E75F-55B5-46A9B2033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1BF6F47-E1D7-3404-6D26-B63F40AA3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+mn-lt"/>
                <a:cs typeface="Times New Roman" panose="02020603050405020304" pitchFamily="18" charset="0"/>
              </a:rPr>
              <a:t>Supervised Learning(</a:t>
            </a:r>
            <a:r>
              <a:rPr lang="ko-KR" altLang="en-US" b="1" dirty="0">
                <a:latin typeface="+mn-lt"/>
                <a:cs typeface="Times New Roman" panose="02020603050405020304" pitchFamily="18" charset="0"/>
              </a:rPr>
              <a:t>지도학습</a:t>
            </a:r>
            <a:r>
              <a:rPr lang="en-US" altLang="ko-KR" b="1" dirty="0">
                <a:latin typeface="+mn-lt"/>
                <a:cs typeface="Times New Roman" panose="02020603050405020304" pitchFamily="18" charset="0"/>
              </a:rPr>
              <a:t>) </a:t>
            </a:r>
            <a:endParaRPr lang="ko-KR" altLang="en-US" b="1" cap="none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1CAE8AD-8B03-DB93-B617-909AAC92E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14</a:t>
            </a:fld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10CAA31-8D8A-5DC1-2D9F-A0DABDC7E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264" y="1343566"/>
            <a:ext cx="5800377" cy="4677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B7762A-F77E-C397-01D9-B049ED94B47A}"/>
              </a:ext>
            </a:extLst>
          </p:cNvPr>
          <p:cNvSpPr txBox="1"/>
          <p:nvPr/>
        </p:nvSpPr>
        <p:spPr>
          <a:xfrm>
            <a:off x="9200620" y="1343566"/>
            <a:ext cx="1143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회귀</a:t>
            </a:r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)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5F081-78EC-A7B8-D1D6-1CAEC7000201}"/>
              </a:ext>
            </a:extLst>
          </p:cNvPr>
          <p:cNvSpPr txBox="1"/>
          <p:nvPr/>
        </p:nvSpPr>
        <p:spPr>
          <a:xfrm>
            <a:off x="9306530" y="3888447"/>
            <a:ext cx="1143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분류</a:t>
            </a:r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)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830F44-5F9D-1CF1-6475-3DCD2B29F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44" y="1343566"/>
            <a:ext cx="5537631" cy="469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1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322E1-8746-1FA5-3263-79DB08BE5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826FB85-6160-EEBB-0430-C6E64E5D7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+mn-lt"/>
                <a:cs typeface="Times New Roman" panose="02020603050405020304" pitchFamily="18" charset="0"/>
              </a:rPr>
              <a:t>Unsupervised Learning(</a:t>
            </a:r>
            <a:r>
              <a:rPr lang="ko-KR" altLang="en-US" b="1" dirty="0">
                <a:latin typeface="+mn-lt"/>
                <a:cs typeface="Times New Roman" panose="02020603050405020304" pitchFamily="18" charset="0"/>
              </a:rPr>
              <a:t>비지도학습</a:t>
            </a:r>
            <a:r>
              <a:rPr lang="en-US" altLang="ko-KR" b="1" dirty="0">
                <a:latin typeface="+mn-lt"/>
                <a:cs typeface="Times New Roman" panose="02020603050405020304" pitchFamily="18" charset="0"/>
              </a:rPr>
              <a:t>)</a:t>
            </a:r>
            <a:endParaRPr lang="ko-KR" altLang="en-US" b="1" cap="none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8A78BED-627D-BA03-659E-24AB85F20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15</a:t>
            </a:fld>
            <a:endParaRPr 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379BF96-2686-6187-65D2-FFD8B245F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264" y="1852294"/>
            <a:ext cx="5698068" cy="455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E93246-86F7-392C-B5AA-61C126567EE0}"/>
              </a:ext>
            </a:extLst>
          </p:cNvPr>
          <p:cNvSpPr txBox="1"/>
          <p:nvPr/>
        </p:nvSpPr>
        <p:spPr>
          <a:xfrm>
            <a:off x="2353280" y="1318246"/>
            <a:ext cx="2161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cs typeface="Times New Roman" panose="02020603050405020304" pitchFamily="18" charset="0"/>
              </a:rPr>
              <a:t>Cluster(</a:t>
            </a:r>
            <a:r>
              <a:rPr lang="ko-KR" altLang="en-US" sz="2400" b="1" dirty="0">
                <a:cs typeface="Times New Roman" panose="02020603050405020304" pitchFamily="18" charset="0"/>
              </a:rPr>
              <a:t>군집</a:t>
            </a:r>
            <a:r>
              <a:rPr lang="en-US" altLang="ko-KR" sz="2400" b="1" dirty="0">
                <a:cs typeface="Times New Roman" panose="02020603050405020304" pitchFamily="18" charset="0"/>
              </a:rPr>
              <a:t>)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D76D564-A2B8-4E91-EFC8-558B15068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68" y="1852294"/>
            <a:ext cx="5475257" cy="458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23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445DA-B985-E909-67B9-CDF34CB3A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C068FA0-8481-998C-7B14-4E0D85155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153" y="1305833"/>
            <a:ext cx="8625527" cy="46239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7C8E5A-5D44-779D-6463-18DE0C9253F9}"/>
              </a:ext>
            </a:extLst>
          </p:cNvPr>
          <p:cNvSpPr txBox="1"/>
          <p:nvPr/>
        </p:nvSpPr>
        <p:spPr>
          <a:xfrm>
            <a:off x="956535" y="642206"/>
            <a:ext cx="570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notebook practice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71B1A59D-899A-FD38-EE3F-4807ADECF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491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0153F-16C7-748C-F783-C532A61BE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9CE90B8-75C0-B59B-FBB8-B7DD34F69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+mn-lt"/>
                <a:cs typeface="Times New Roman" panose="02020603050405020304" pitchFamily="18" charset="0"/>
              </a:rPr>
              <a:t>Deep </a:t>
            </a:r>
            <a:r>
              <a:rPr lang="en-US" altLang="ko-KR" b="1" dirty="0" err="1">
                <a:latin typeface="+mn-lt"/>
                <a:cs typeface="Times New Roman" panose="02020603050405020304" pitchFamily="18" charset="0"/>
              </a:rPr>
              <a:t>Learning</a:t>
            </a:r>
            <a:r>
              <a:rPr lang="en-US" altLang="ko-KR" sz="3200" b="1" dirty="0" err="1">
                <a:latin typeface="+mn-lt"/>
                <a:cs typeface="Times New Roman" panose="02020603050405020304" pitchFamily="18" charset="0"/>
              </a:rPr>
              <a:t>_how</a:t>
            </a:r>
            <a:r>
              <a:rPr lang="en-US" altLang="ko-KR" sz="3200" b="1" dirty="0">
                <a:latin typeface="+mn-lt"/>
                <a:cs typeface="Times New Roman" panose="02020603050405020304" pitchFamily="18" charset="0"/>
              </a:rPr>
              <a:t> to learn?</a:t>
            </a:r>
            <a:endParaRPr lang="ko-KR" altLang="en-US" b="1" cap="none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AE2235D-A43D-7415-FE91-BE648204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17</a:t>
            </a:fld>
            <a:endParaRPr lang="en-US" dirty="0"/>
          </a:p>
        </p:txBody>
      </p:sp>
      <p:pic>
        <p:nvPicPr>
          <p:cNvPr id="2" name="그림 1">
            <a:hlinkClick r:id="rId2"/>
            <a:extLst>
              <a:ext uri="{FF2B5EF4-FFF2-40B4-BE49-F238E27FC236}">
                <a16:creationId xmlns:a16="http://schemas.microsoft.com/office/drawing/2014/main" id="{B652CA2C-25BA-4D97-1A1A-0D71F4AC4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534" y="1348552"/>
            <a:ext cx="8880719" cy="49998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7A1C21-60E2-96BE-1490-7A8F393B4D42}"/>
              </a:ext>
            </a:extLst>
          </p:cNvPr>
          <p:cNvSpPr txBox="1"/>
          <p:nvPr/>
        </p:nvSpPr>
        <p:spPr>
          <a:xfrm>
            <a:off x="3210982" y="6348383"/>
            <a:ext cx="83893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https://www.youtube.com/watch?v=aircAruvnKk&amp;list=PLZHQObOWTQDNU6R1_67000Dx_ZCJB-3pi</a:t>
            </a:r>
            <a:r>
              <a:rPr lang="ko-KR" altLang="en-US" sz="1200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41EFCE3-4B25-5327-400F-6F094507C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087" y="1622081"/>
            <a:ext cx="1675932" cy="164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D1FC4B4-4383-2C54-E75C-938D44A203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018" y="1348551"/>
            <a:ext cx="3707838" cy="3213924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B1E103A-3B02-4BCF-B1FA-7E25E3E7EB62}"/>
              </a:ext>
            </a:extLst>
          </p:cNvPr>
          <p:cNvSpPr/>
          <p:nvPr/>
        </p:nvSpPr>
        <p:spPr>
          <a:xfrm>
            <a:off x="4252687" y="1728258"/>
            <a:ext cx="843986" cy="6625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ADF67FD-3150-733B-AB4E-DC4133CECA39}"/>
              </a:ext>
            </a:extLst>
          </p:cNvPr>
          <p:cNvCxnSpPr>
            <a:cxnSpLocks/>
          </p:cNvCxnSpPr>
          <p:nvPr/>
        </p:nvCxnSpPr>
        <p:spPr>
          <a:xfrm flipH="1" flipV="1">
            <a:off x="3861856" y="1319603"/>
            <a:ext cx="1234817" cy="39463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EF892D3-7093-5D1A-355A-73EE10E488DF}"/>
              </a:ext>
            </a:extLst>
          </p:cNvPr>
          <p:cNvCxnSpPr>
            <a:cxnSpLocks/>
          </p:cNvCxnSpPr>
          <p:nvPr/>
        </p:nvCxnSpPr>
        <p:spPr>
          <a:xfrm flipH="1">
            <a:off x="3861856" y="2390775"/>
            <a:ext cx="1234817" cy="220064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D78FFEF-A7A3-0EE4-C4A7-1AB34273502C}"/>
              </a:ext>
            </a:extLst>
          </p:cNvPr>
          <p:cNvSpPr txBox="1"/>
          <p:nvPr/>
        </p:nvSpPr>
        <p:spPr>
          <a:xfrm>
            <a:off x="3946408" y="3432968"/>
            <a:ext cx="16722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28 x 28 pixel</a:t>
            </a:r>
          </a:p>
          <a:p>
            <a:endParaRPr lang="en-US" altLang="ko-KR" sz="1600" b="1" dirty="0"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784 pixel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512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F5E29-3325-DDA9-94E0-C37DAE8A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A6B3467-9A3A-1146-0E36-B8C6FF89A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18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6B0A45F-78D4-5488-697F-BCBCAA9D7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93" y="1499713"/>
            <a:ext cx="8937812" cy="3385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37EF5665-33F9-B25F-D9CB-DFD2F5A2F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93" y="1552354"/>
            <a:ext cx="8937812" cy="3790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20E0872F-FDAF-76DB-22F8-7B195997A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93" y="1499713"/>
            <a:ext cx="9170349" cy="4589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2826CD-001A-7C9F-4E5F-11E33E7B8FFE}"/>
              </a:ext>
            </a:extLst>
          </p:cNvPr>
          <p:cNvSpPr txBox="1"/>
          <p:nvPr/>
        </p:nvSpPr>
        <p:spPr>
          <a:xfrm>
            <a:off x="461669" y="638629"/>
            <a:ext cx="98908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ea typeface="D2Coding" panose="020B0609020101020101" pitchFamily="49" charset="-127"/>
              </a:rPr>
              <a:t>컴퓨터가 </a:t>
            </a:r>
            <a:r>
              <a:rPr lang="en-US" altLang="ko-KR" sz="2000" dirty="0">
                <a:ea typeface="D2Coding" panose="020B0609020101020101" pitchFamily="49" charset="-127"/>
              </a:rPr>
              <a:t>Image</a:t>
            </a:r>
            <a:r>
              <a:rPr lang="ko-KR" altLang="en-US" sz="2000" dirty="0">
                <a:ea typeface="D2Coding" panose="020B0609020101020101" pitchFamily="49" charset="-127"/>
              </a:rPr>
              <a:t>를 분류</a:t>
            </a:r>
            <a:r>
              <a:rPr lang="en-US" altLang="ko-KR" sz="2000" dirty="0">
                <a:ea typeface="D2Coding" panose="020B0609020101020101" pitchFamily="49" charset="-127"/>
              </a:rPr>
              <a:t>(Classification) &amp; </a:t>
            </a:r>
            <a:r>
              <a:rPr lang="ko-KR" altLang="en-US" sz="2000" dirty="0">
                <a:ea typeface="D2Coding" panose="020B0609020101020101" pitchFamily="49" charset="-127"/>
              </a:rPr>
              <a:t>객체를</a:t>
            </a:r>
            <a:r>
              <a:rPr lang="en-US" altLang="ko-KR" sz="2000" dirty="0">
                <a:ea typeface="D2Coding" panose="020B0609020101020101" pitchFamily="49" charset="-127"/>
              </a:rPr>
              <a:t> </a:t>
            </a:r>
            <a:r>
              <a:rPr lang="ko-KR" altLang="en-US" sz="2000" dirty="0">
                <a:ea typeface="D2Coding" panose="020B0609020101020101" pitchFamily="49" charset="-127"/>
              </a:rPr>
              <a:t>탐지</a:t>
            </a:r>
            <a:r>
              <a:rPr lang="en-US" altLang="ko-KR" sz="2000" dirty="0">
                <a:ea typeface="D2Coding" panose="020B0609020101020101" pitchFamily="49" charset="-127"/>
              </a:rPr>
              <a:t>(Object</a:t>
            </a:r>
            <a:r>
              <a:rPr lang="ko-KR" altLang="en-US" sz="2000" dirty="0"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ea typeface="D2Coding" panose="020B0609020101020101" pitchFamily="49" charset="-127"/>
              </a:rPr>
              <a:t>Detection)</a:t>
            </a:r>
            <a:r>
              <a:rPr lang="ko-KR" altLang="en-US" sz="2000" dirty="0"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ea typeface="D2Coding" panose="020B0609020101020101" pitchFamily="49" charset="-127"/>
              </a:rPr>
              <a:t>: </a:t>
            </a:r>
            <a:r>
              <a:rPr lang="en-US" altLang="ko-KR" sz="2000" dirty="0">
                <a:solidFill>
                  <a:srgbClr val="FF0000"/>
                </a:solidFill>
                <a:ea typeface="D2Coding" panose="020B0609020101020101" pitchFamily="49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https://huggingface.co/spaces/Xenova/yolov10-web</a:t>
            </a:r>
            <a:endParaRPr lang="ko-KR" altLang="en-US" sz="2000" dirty="0">
              <a:solidFill>
                <a:srgbClr val="FF0000"/>
              </a:solidFill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6A8AFEA-6314-1673-E5BF-5B5D2ADB01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2403" y="1499713"/>
            <a:ext cx="5694427" cy="474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221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74990-2EC9-3E6A-AA88-481CFA3FE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5DF0016-7076-7550-6854-D5081380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8DB1C0-D388-E4DC-7D8D-102601FFF86C}"/>
              </a:ext>
            </a:extLst>
          </p:cNvPr>
          <p:cNvSpPr txBox="1"/>
          <p:nvPr/>
        </p:nvSpPr>
        <p:spPr>
          <a:xfrm>
            <a:off x="461670" y="638629"/>
            <a:ext cx="9227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ea typeface="D2Coding" panose="020B0609020101020101" pitchFamily="49" charset="-127"/>
              </a:rPr>
              <a:t>컴퓨터가 객체를</a:t>
            </a:r>
            <a:r>
              <a:rPr lang="en-US" altLang="ko-KR" sz="2000" dirty="0">
                <a:ea typeface="D2Coding" panose="020B0609020101020101" pitchFamily="49" charset="-127"/>
              </a:rPr>
              <a:t> </a:t>
            </a:r>
            <a:r>
              <a:rPr lang="ko-KR" altLang="en-US" sz="2000" dirty="0">
                <a:ea typeface="D2Coding" panose="020B0609020101020101" pitchFamily="49" charset="-127"/>
              </a:rPr>
              <a:t>탐지</a:t>
            </a:r>
            <a:r>
              <a:rPr lang="en-US" altLang="ko-KR" sz="2000" dirty="0">
                <a:ea typeface="D2Coding" panose="020B0609020101020101" pitchFamily="49" charset="-127"/>
              </a:rPr>
              <a:t>(Object</a:t>
            </a:r>
            <a:r>
              <a:rPr lang="ko-KR" altLang="en-US" sz="2000" dirty="0"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ea typeface="D2Coding" panose="020B0609020101020101" pitchFamily="49" charset="-127"/>
              </a:rPr>
              <a:t>Detection)</a:t>
            </a:r>
            <a:endParaRPr lang="ko-KR" altLang="en-US" sz="2000" dirty="0"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1FAB364-5581-D2DF-8F7A-D290B771F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75" y="1689415"/>
            <a:ext cx="4200874" cy="45391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DE3171-BD09-B89E-5980-4ED7ABC3EB1F}"/>
              </a:ext>
            </a:extLst>
          </p:cNvPr>
          <p:cNvSpPr txBox="1"/>
          <p:nvPr/>
        </p:nvSpPr>
        <p:spPr>
          <a:xfrm>
            <a:off x="6096000" y="1139612"/>
            <a:ext cx="48398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https://pjreddie.com/darknet/yolo/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CE2702-171C-32F2-1621-0572632CB79F}"/>
              </a:ext>
            </a:extLst>
          </p:cNvPr>
          <p:cNvSpPr txBox="1"/>
          <p:nvPr/>
        </p:nvSpPr>
        <p:spPr>
          <a:xfrm>
            <a:off x="461670" y="1164022"/>
            <a:ext cx="5634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https://shaqian.github.io/tfjs-yolo-demo/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2445870-1F6F-987A-679B-05AD466130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797" y="1689415"/>
            <a:ext cx="5490226" cy="435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81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320F6-70E4-E079-4BE5-ACBC974DB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ED35559-0750-49BE-F3C9-8704B52BB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20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5C20774-166D-3FEB-AA9C-C47EAECC6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962230"/>
            <a:ext cx="3749142" cy="337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AA6A2D44-A405-2D37-5810-6908991E8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0683" y="1962230"/>
            <a:ext cx="3749142" cy="337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B781AD-11EE-9278-9E0B-41CE20B3DE3A}"/>
              </a:ext>
            </a:extLst>
          </p:cNvPr>
          <p:cNvSpPr txBox="1"/>
          <p:nvPr/>
        </p:nvSpPr>
        <p:spPr>
          <a:xfrm>
            <a:off x="1981200" y="1434584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Input(Feature)</a:t>
            </a:r>
            <a:endParaRPr lang="ko-KR" altLang="en-US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269930-8CA1-A79B-1B2B-7589AB02D8A7}"/>
              </a:ext>
            </a:extLst>
          </p:cNvPr>
          <p:cNvSpPr txBox="1"/>
          <p:nvPr/>
        </p:nvSpPr>
        <p:spPr>
          <a:xfrm>
            <a:off x="7105202" y="1469545"/>
            <a:ext cx="185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Output(Target)</a:t>
            </a:r>
            <a:endParaRPr lang="ko-KR" altLang="en-US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B309DC-B6A2-0609-8030-1474ECA0D5C1}"/>
              </a:ext>
            </a:extLst>
          </p:cNvPr>
          <p:cNvSpPr txBox="1"/>
          <p:nvPr/>
        </p:nvSpPr>
        <p:spPr>
          <a:xfrm>
            <a:off x="2057400" y="5465264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endParaRPr lang="ko-KR" altLang="en-US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F2B5F1-AC90-008D-96EE-070CCD18B12F}"/>
              </a:ext>
            </a:extLst>
          </p:cNvPr>
          <p:cNvSpPr txBox="1"/>
          <p:nvPr/>
        </p:nvSpPr>
        <p:spPr>
          <a:xfrm>
            <a:off x="7264666" y="5408114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y=[1,2,3]</a:t>
            </a:r>
            <a:endParaRPr lang="ko-KR" altLang="en-US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A77265B-2E48-6320-1E96-6213A2C2B1A3}"/>
              </a:ext>
            </a:extLst>
          </p:cNvPr>
          <p:cNvCxnSpPr>
            <a:cxnSpLocks/>
          </p:cNvCxnSpPr>
          <p:nvPr/>
        </p:nvCxnSpPr>
        <p:spPr>
          <a:xfrm>
            <a:off x="4966726" y="3794342"/>
            <a:ext cx="11620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58ADFB7-373F-B475-0418-D4A56D676777}"/>
              </a:ext>
            </a:extLst>
          </p:cNvPr>
          <p:cNvSpPr txBox="1"/>
          <p:nvPr/>
        </p:nvSpPr>
        <p:spPr>
          <a:xfrm>
            <a:off x="5091112" y="3244334"/>
            <a:ext cx="95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f(X)</a:t>
            </a:r>
            <a:endParaRPr lang="ko-KR" altLang="en-US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6E1EF-7362-B4D4-8179-EF97DB755BE6}"/>
              </a:ext>
            </a:extLst>
          </p:cNvPr>
          <p:cNvSpPr txBox="1"/>
          <p:nvPr/>
        </p:nvSpPr>
        <p:spPr>
          <a:xfrm>
            <a:off x="7467600" y="3543001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800" b="0" i="0" dirty="0">
                <a:effectLst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 (foreground)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F9F665-2560-1968-A2BF-38CACC4F891D}"/>
              </a:ext>
            </a:extLst>
          </p:cNvPr>
          <p:cNvSpPr txBox="1"/>
          <p:nvPr/>
        </p:nvSpPr>
        <p:spPr>
          <a:xfrm rot="19245108">
            <a:off x="7909786" y="4467346"/>
            <a:ext cx="1396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800" b="0" i="0" dirty="0">
                <a:solidFill>
                  <a:schemeClr val="bg1"/>
                </a:solidFill>
                <a:effectLst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 (contour)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FE2AF5-A808-96F0-F4B3-AE1CB2E01413}"/>
              </a:ext>
            </a:extLst>
          </p:cNvPr>
          <p:cNvSpPr txBox="1"/>
          <p:nvPr/>
        </p:nvSpPr>
        <p:spPr>
          <a:xfrm>
            <a:off x="6473236" y="2117141"/>
            <a:ext cx="21564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800" b="0" i="0" dirty="0">
                <a:effectLst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 (background)</a:t>
            </a:r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8FE60CC7-0E88-D026-73D5-668A52A77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925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E2467-5EB9-C685-A299-2EEB8BD08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0193A81-B263-33EA-AC53-8F102D51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2E49D3-1702-B39F-259C-E2B40D0E35A8}"/>
              </a:ext>
            </a:extLst>
          </p:cNvPr>
          <p:cNvSpPr txBox="1"/>
          <p:nvPr/>
        </p:nvSpPr>
        <p:spPr>
          <a:xfrm>
            <a:off x="1983551" y="1372995"/>
            <a:ext cx="1905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Input(Feature)</a:t>
            </a:r>
            <a:endParaRPr lang="ko-KR" altLang="en-US" sz="2000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3ED103-4CC7-3525-0C64-F07A40470B54}"/>
              </a:ext>
            </a:extLst>
          </p:cNvPr>
          <p:cNvSpPr txBox="1"/>
          <p:nvPr/>
        </p:nvSpPr>
        <p:spPr>
          <a:xfrm>
            <a:off x="7458185" y="1398653"/>
            <a:ext cx="2042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Output(Target)</a:t>
            </a:r>
            <a:endParaRPr lang="ko-KR" altLang="en-US" sz="2000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5EC3F1-8C41-C890-A751-98FCC6A945B3}"/>
              </a:ext>
            </a:extLst>
          </p:cNvPr>
          <p:cNvSpPr txBox="1"/>
          <p:nvPr/>
        </p:nvSpPr>
        <p:spPr>
          <a:xfrm>
            <a:off x="2495550" y="5465264"/>
            <a:ext cx="1905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endParaRPr lang="ko-KR" altLang="en-US" sz="2000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6DE053-0025-18D3-0223-5D2D7C1DCDC9}"/>
              </a:ext>
            </a:extLst>
          </p:cNvPr>
          <p:cNvSpPr txBox="1"/>
          <p:nvPr/>
        </p:nvSpPr>
        <p:spPr>
          <a:xfrm>
            <a:off x="7702816" y="5408114"/>
            <a:ext cx="3225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endParaRPr lang="ko-KR" altLang="en-US" sz="2000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3794176-D717-4B6F-F62D-C98A47F441E3}"/>
              </a:ext>
            </a:extLst>
          </p:cNvPr>
          <p:cNvCxnSpPr>
            <a:cxnSpLocks/>
          </p:cNvCxnSpPr>
          <p:nvPr/>
        </p:nvCxnSpPr>
        <p:spPr>
          <a:xfrm>
            <a:off x="5133975" y="3819525"/>
            <a:ext cx="11620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7712384-FF73-1B78-943A-D1719CE93F3C}"/>
              </a:ext>
            </a:extLst>
          </p:cNvPr>
          <p:cNvSpPr txBox="1"/>
          <p:nvPr/>
        </p:nvSpPr>
        <p:spPr>
          <a:xfrm>
            <a:off x="5343525" y="3080861"/>
            <a:ext cx="1905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f(X)</a:t>
            </a:r>
          </a:p>
          <a:p>
            <a:endParaRPr lang="en-US" altLang="ko-KR" sz="2000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endParaRPr lang="en-US" altLang="ko-KR" sz="2000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endParaRPr lang="en-US" altLang="ko-KR" sz="2000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2000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Rules</a:t>
            </a:r>
            <a:endParaRPr lang="ko-KR" altLang="en-US" sz="2000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1D67749-C473-9D24-467A-27F4BD2FCF1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38998" y="2512543"/>
            <a:ext cx="3071750" cy="240362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5A8CA57-80F8-80D7-280A-EA5A00F75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1866248"/>
            <a:ext cx="3509902" cy="3465018"/>
          </a:xfrm>
          <a:prstGeom prst="rect">
            <a:avLst/>
          </a:prstGeom>
        </p:spPr>
      </p:pic>
      <p:sp>
        <p:nvSpPr>
          <p:cNvPr id="23" name="제목 1">
            <a:extLst>
              <a:ext uri="{FF2B5EF4-FFF2-40B4-BE49-F238E27FC236}">
                <a16:creationId xmlns:a16="http://schemas.microsoft.com/office/drawing/2014/main" id="{419C8791-2659-0D29-CFCA-56FC19AD8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+mn-lt"/>
                <a:cs typeface="Times New Roman" panose="02020603050405020304" pitchFamily="18" charset="0"/>
              </a:rPr>
              <a:t>Image Segmentation </a:t>
            </a:r>
            <a:endParaRPr lang="ko-KR" altLang="en-US" b="1" cap="none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713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405B-AF14-B2C8-689A-F6492F268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E79183E-E6F4-4214-DD0E-8C1A51209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22</a:t>
            </a:fld>
            <a:endParaRPr 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5A2CB2E-8468-AEE1-580A-8B67C6616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177" y="616754"/>
            <a:ext cx="10629571" cy="11814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100" dirty="0">
                <a:latin typeface="+mn-lt"/>
                <a:ea typeface="D2Coding" panose="020B0609020101020101" pitchFamily="49" charset="-127"/>
              </a:rPr>
              <a:t>컴퓨터 학습은 </a:t>
            </a:r>
            <a:r>
              <a:rPr lang="en-US" altLang="ko-KR" sz="2100" dirty="0">
                <a:latin typeface="+mn-lt"/>
                <a:ea typeface="D2Coding" panose="020B0609020101020101" pitchFamily="49" charset="-127"/>
              </a:rPr>
              <a:t>Pattern Recognition</a:t>
            </a:r>
            <a:r>
              <a:rPr lang="ko-KR" altLang="en-US" sz="2100" dirty="0">
                <a:latin typeface="+mn-lt"/>
                <a:ea typeface="D2Coding" panose="020B0609020101020101" pitchFamily="49" charset="-127"/>
              </a:rPr>
              <a:t>으로 </a:t>
            </a:r>
            <a:r>
              <a:rPr lang="en-US" altLang="ko-KR" sz="2100" dirty="0">
                <a:latin typeface="+mn-lt"/>
                <a:ea typeface="D2Coding" panose="020B0609020101020101" pitchFamily="49" charset="-127"/>
              </a:rPr>
              <a:t>“</a:t>
            </a:r>
            <a:r>
              <a:rPr lang="ko-KR" altLang="en-US" sz="2100" dirty="0">
                <a:latin typeface="+mn-lt"/>
                <a:ea typeface="D2Coding" panose="020B0609020101020101" pitchFamily="49" charset="-127"/>
              </a:rPr>
              <a:t>복잡한 함수를 찾는 과정</a:t>
            </a:r>
            <a:r>
              <a:rPr lang="en-US" altLang="ko-KR" sz="2100" dirty="0">
                <a:latin typeface="+mn-lt"/>
                <a:ea typeface="D2Coding" panose="020B0609020101020101" pitchFamily="49" charset="-127"/>
              </a:rPr>
              <a:t>”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100" dirty="0">
                <a:latin typeface="+mn-lt"/>
                <a:ea typeface="D2Coding" panose="020B0609020101020101" pitchFamily="49" charset="-127"/>
              </a:rPr>
              <a:t>입력</a:t>
            </a:r>
            <a:r>
              <a:rPr lang="en-US" altLang="ko-KR" sz="2100" dirty="0">
                <a:latin typeface="+mn-lt"/>
                <a:ea typeface="D2Coding" panose="020B0609020101020101" pitchFamily="49" charset="-127"/>
              </a:rPr>
              <a:t>(Input)</a:t>
            </a:r>
            <a:r>
              <a:rPr lang="ko-KR" altLang="en-US" sz="2100" dirty="0">
                <a:latin typeface="+mn-lt"/>
                <a:ea typeface="D2Coding" panose="020B0609020101020101" pitchFamily="49" charset="-127"/>
              </a:rPr>
              <a:t>을 출력</a:t>
            </a:r>
            <a:r>
              <a:rPr lang="en-US" altLang="ko-KR" sz="2100" dirty="0">
                <a:latin typeface="+mn-lt"/>
                <a:ea typeface="D2Coding" panose="020B0609020101020101" pitchFamily="49" charset="-127"/>
              </a:rPr>
              <a:t>(Output)</a:t>
            </a:r>
            <a:r>
              <a:rPr lang="ko-KR" altLang="en-US" sz="2100" dirty="0">
                <a:latin typeface="+mn-lt"/>
                <a:ea typeface="D2Coding" panose="020B0609020101020101" pitchFamily="49" charset="-127"/>
              </a:rPr>
              <a:t>에 </a:t>
            </a:r>
            <a:r>
              <a:rPr lang="ko-KR" altLang="en-US" sz="2100" dirty="0" err="1">
                <a:latin typeface="+mn-lt"/>
                <a:ea typeface="D2Coding" panose="020B0609020101020101" pitchFamily="49" charset="-127"/>
              </a:rPr>
              <a:t>점대점</a:t>
            </a:r>
            <a:r>
              <a:rPr lang="en-US" altLang="ko-KR" sz="2100" dirty="0">
                <a:latin typeface="+mn-lt"/>
                <a:ea typeface="D2Coding" panose="020B0609020101020101" pitchFamily="49" charset="-127"/>
              </a:rPr>
              <a:t>(point by point)</a:t>
            </a:r>
            <a:r>
              <a:rPr lang="ko-KR" altLang="en-US" sz="2100" dirty="0">
                <a:latin typeface="+mn-lt"/>
                <a:ea typeface="D2Coding" panose="020B0609020101020101" pitchFamily="49" charset="-127"/>
              </a:rPr>
              <a:t>으로 매핑하는 작업만을 학습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FE2DA27-6599-B042-D667-9FEEEADD3271}"/>
              </a:ext>
            </a:extLst>
          </p:cNvPr>
          <p:cNvGrpSpPr/>
          <p:nvPr/>
        </p:nvGrpSpPr>
        <p:grpSpPr>
          <a:xfrm>
            <a:off x="3015360" y="2774418"/>
            <a:ext cx="3509265" cy="2656715"/>
            <a:chOff x="1611231" y="3054515"/>
            <a:chExt cx="2905125" cy="2082470"/>
          </a:xfrm>
        </p:grpSpPr>
        <p:sp>
          <p:nvSpPr>
            <p:cNvPr id="16" name="이등변 삼각형 15">
              <a:extLst>
                <a:ext uri="{FF2B5EF4-FFF2-40B4-BE49-F238E27FC236}">
                  <a16:creationId xmlns:a16="http://schemas.microsoft.com/office/drawing/2014/main" id="{012E2A5C-B7F7-E780-9A16-A12FFD94EF3A}"/>
                </a:ext>
              </a:extLst>
            </p:cNvPr>
            <p:cNvSpPr/>
            <p:nvPr/>
          </p:nvSpPr>
          <p:spPr>
            <a:xfrm rot="10800000">
              <a:off x="1835069" y="3054515"/>
              <a:ext cx="914400" cy="69182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이등변 삼각형 16">
              <a:extLst>
                <a:ext uri="{FF2B5EF4-FFF2-40B4-BE49-F238E27FC236}">
                  <a16:creationId xmlns:a16="http://schemas.microsoft.com/office/drawing/2014/main" id="{E51B1900-13D2-F7A2-C1F6-7FDE07AD0377}"/>
                </a:ext>
              </a:extLst>
            </p:cNvPr>
            <p:cNvSpPr/>
            <p:nvPr/>
          </p:nvSpPr>
          <p:spPr>
            <a:xfrm>
              <a:off x="3497179" y="4445165"/>
              <a:ext cx="914400" cy="69182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289895E-86ED-62DF-6A92-6F97D35A61A2}"/>
                </a:ext>
              </a:extLst>
            </p:cNvPr>
            <p:cNvSpPr/>
            <p:nvPr/>
          </p:nvSpPr>
          <p:spPr>
            <a:xfrm>
              <a:off x="1611231" y="3429000"/>
              <a:ext cx="2905125" cy="132397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E47953-F99A-8AD9-CEC2-D58732A98A45}"/>
                  </a:ext>
                </a:extLst>
              </p:cNvPr>
              <p:cNvSpPr txBox="1"/>
              <p:nvPr/>
            </p:nvSpPr>
            <p:spPr>
              <a:xfrm>
                <a:off x="2659852" y="2242920"/>
                <a:ext cx="198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2000" dirty="0">
                    <a:solidFill>
                      <a:schemeClr val="tx1"/>
                    </a:solidFill>
                  </a:rPr>
                  <a:t>Input (</a:t>
                </a:r>
                <a14:m>
                  <m:oMath xmlns:m="http://schemas.openxmlformats.org/officeDocument/2006/math">
                    <m:r>
                      <a:rPr lang="ko-KR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2000" dirty="0">
                    <a:solidFill>
                      <a:schemeClr val="tx1"/>
                    </a:solidFill>
                  </a:rPr>
                  <a:t>)</a:t>
                </a:r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E47953-F99A-8AD9-CEC2-D58732A98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852" y="2242920"/>
                <a:ext cx="1987365" cy="400110"/>
              </a:xfrm>
              <a:prstGeom prst="rect">
                <a:avLst/>
              </a:prstGeom>
              <a:blipFill>
                <a:blip r:embed="rId2"/>
                <a:stretch>
                  <a:fillRect l="-3067" t="-9091" b="-257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C9AC3F-49D5-D340-C129-5C6FEBAEA67D}"/>
                  </a:ext>
                </a:extLst>
              </p:cNvPr>
              <p:cNvSpPr txBox="1"/>
              <p:nvPr/>
            </p:nvSpPr>
            <p:spPr>
              <a:xfrm>
                <a:off x="5720879" y="5585095"/>
                <a:ext cx="19162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2000" dirty="0">
                    <a:solidFill>
                      <a:schemeClr val="tx1"/>
                    </a:solidFill>
                  </a:rPr>
                  <a:t>Output : </a:t>
                </a:r>
                <a14:m>
                  <m:oMath xmlns:m="http://schemas.openxmlformats.org/officeDocument/2006/math">
                    <m:r>
                      <a:rPr lang="ko-KR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2000" dirty="0">
                    <a:solidFill>
                      <a:schemeClr val="tx1"/>
                    </a:solidFill>
                  </a:rPr>
                  <a:t> </a:t>
                </a:r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C9AC3F-49D5-D340-C129-5C6FEBAEA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879" y="5585095"/>
                <a:ext cx="1916266" cy="400110"/>
              </a:xfrm>
              <a:prstGeom prst="rect">
                <a:avLst/>
              </a:prstGeom>
              <a:blipFill>
                <a:blip r:embed="rId3"/>
                <a:stretch>
                  <a:fillRect l="-3175" t="-7576" b="-257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5A5AF3B-51AA-AB25-7F34-2B64B350963D}"/>
                  </a:ext>
                </a:extLst>
              </p:cNvPr>
              <p:cNvSpPr txBox="1"/>
              <p:nvPr/>
            </p:nvSpPr>
            <p:spPr>
              <a:xfrm>
                <a:off x="4279677" y="3714345"/>
                <a:ext cx="92558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sz="3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ko-KR" alt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5A5AF3B-51AA-AB25-7F34-2B64B3509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677" y="3714345"/>
                <a:ext cx="925580" cy="584775"/>
              </a:xfrm>
              <a:prstGeom prst="rect">
                <a:avLst/>
              </a:prstGeom>
              <a:blipFill>
                <a:blip r:embed="rId4"/>
                <a:stretch>
                  <a:fillRect r="-92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EE8FA4-FC86-A298-E904-0492EF29D9E5}"/>
                  </a:ext>
                </a:extLst>
              </p:cNvPr>
              <p:cNvSpPr txBox="1"/>
              <p:nvPr/>
            </p:nvSpPr>
            <p:spPr>
              <a:xfrm>
                <a:off x="8556124" y="5453688"/>
                <a:ext cx="26212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ko-KR" alt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EE8FA4-FC86-A298-E904-0492EF29D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124" y="5453688"/>
                <a:ext cx="2621280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function">
            <a:extLst>
              <a:ext uri="{FF2B5EF4-FFF2-40B4-BE49-F238E27FC236}">
                <a16:creationId xmlns:a16="http://schemas.microsoft.com/office/drawing/2014/main" id="{BB6A124A-B08C-1255-891E-9860AECD5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3445" y="2703841"/>
            <a:ext cx="2605778" cy="2605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0734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DD944-819A-99A2-0021-8DFCD7A76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A5631C7-C44C-1826-3DE3-E976FA254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23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39A759-A092-CFD2-0D84-CA7A9F224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00" y="1348885"/>
            <a:ext cx="10104502" cy="189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4CF98E-FB07-1F35-A45B-77E818B32C87}"/>
              </a:ext>
            </a:extLst>
          </p:cNvPr>
          <p:cNvSpPr txBox="1"/>
          <p:nvPr/>
        </p:nvSpPr>
        <p:spPr>
          <a:xfrm>
            <a:off x="491325" y="679572"/>
            <a:ext cx="10699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ea typeface="D2Coding" panose="020B0609020101020101" pitchFamily="49" charset="-127"/>
              </a:rPr>
              <a:t>컴퓨터가 </a:t>
            </a:r>
            <a:r>
              <a:rPr lang="en-US" altLang="ko-KR" sz="2000" dirty="0">
                <a:ea typeface="D2Coding" panose="020B0609020101020101" pitchFamily="49" charset="-127"/>
              </a:rPr>
              <a:t>Text</a:t>
            </a:r>
            <a:r>
              <a:rPr lang="ko-KR" altLang="en-US" sz="2000" dirty="0">
                <a:ea typeface="D2Coding" panose="020B0609020101020101" pitchFamily="49" charset="-127"/>
              </a:rPr>
              <a:t>를 처리하는 </a:t>
            </a:r>
            <a:r>
              <a:rPr lang="en-US" altLang="ko-KR" sz="2000" dirty="0">
                <a:ea typeface="D2Coding" panose="020B0609020101020101" pitchFamily="49" charset="-127"/>
              </a:rPr>
              <a:t>mechanism</a:t>
            </a:r>
            <a:r>
              <a:rPr lang="ko-KR" altLang="en-US" sz="2000" dirty="0"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ea typeface="D2Coding" panose="020B0609020101020101" pitchFamily="49" charset="-127"/>
              </a:rPr>
              <a:t>:</a:t>
            </a:r>
            <a:r>
              <a:rPr lang="en-US" altLang="ko-KR" sz="2000" dirty="0"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2000" dirty="0"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https://word2vec.kr/search/</a:t>
            </a:r>
            <a:endParaRPr lang="ko-KR" altLang="en-US" sz="2000" dirty="0"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21E80A2-DCA4-8DBF-8859-4701C2AF7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8663" y="3346352"/>
            <a:ext cx="6911939" cy="321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88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9C713-3A9E-1EB0-ABAE-019CE15E7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503A4E1-378C-8C12-39F8-05F0DD5B1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24</a:t>
            </a:fld>
            <a:endParaRPr lang="en-US" dirty="0"/>
          </a:p>
        </p:txBody>
      </p:sp>
      <p:pic>
        <p:nvPicPr>
          <p:cNvPr id="8194" name="Picture 2" descr="Examples of Photorealistic GAN Generated Faces">
            <a:extLst>
              <a:ext uri="{FF2B5EF4-FFF2-40B4-BE49-F238E27FC236}">
                <a16:creationId xmlns:a16="http://schemas.microsoft.com/office/drawing/2014/main" id="{A04F284F-E9EB-A504-DA3A-9FA6D3FE7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43906"/>
            <a:ext cx="6381750" cy="4766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8C1D3A-0F11-1BE3-E1AE-2FFBFE242FAC}"/>
              </a:ext>
            </a:extLst>
          </p:cNvPr>
          <p:cNvSpPr txBox="1"/>
          <p:nvPr/>
        </p:nvSpPr>
        <p:spPr>
          <a:xfrm>
            <a:off x="971550" y="6086475"/>
            <a:ext cx="6477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dirty="0">
                <a:effectLst/>
                <a:latin typeface="Helvetica Neue"/>
              </a:rPr>
              <a:t>Examples of Photorealistic GAN-Generated </a:t>
            </a:r>
            <a:r>
              <a:rPr lang="en-US" altLang="ko-KR" sz="1100" b="0" i="0" dirty="0" err="1">
                <a:effectLst/>
                <a:latin typeface="Helvetica Neue"/>
              </a:rPr>
              <a:t>Faces.Taken</a:t>
            </a:r>
            <a:r>
              <a:rPr lang="en-US" altLang="ko-KR" sz="1100" b="0" i="0" dirty="0">
                <a:effectLst/>
                <a:latin typeface="Helvetica Neue"/>
              </a:rPr>
              <a:t> from Progressive Growing of GANs for Improved Quality, Stability, and Variation, 2017.</a:t>
            </a:r>
            <a:endParaRPr lang="ko-KR" altLang="en-US" sz="11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D5A61E4-270B-4EA8-8626-23E5E8E47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+mn-lt"/>
                <a:cs typeface="Times New Roman" panose="02020603050405020304" pitchFamily="18" charset="0"/>
              </a:rPr>
              <a:t>Generate Face Image  </a:t>
            </a:r>
            <a:endParaRPr lang="ko-KR" altLang="en-US" b="1" cap="none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2427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09AAA-1F30-AE73-C38D-9C818C1B8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27988D7-267E-7FB5-32B6-D6E8A94E5889}"/>
              </a:ext>
            </a:extLst>
          </p:cNvPr>
          <p:cNvSpPr/>
          <p:nvPr/>
        </p:nvSpPr>
        <p:spPr>
          <a:xfrm>
            <a:off x="1104900" y="3537046"/>
            <a:ext cx="6629399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9C774A1-09F8-7B0A-48B8-92C9456D3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CE4D27-B67D-DEEF-3BCB-55ABC0022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7627095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기술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Trends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문해력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(AI Literacy)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Machine/Deep Learning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이해</a:t>
            </a:r>
            <a:endParaRPr lang="en-US" altLang="ko-KR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AI)</a:t>
            </a:r>
          </a:p>
        </p:txBody>
      </p:sp>
    </p:spTree>
    <p:extLst>
      <p:ext uri="{BB962C8B-B14F-4D97-AF65-F5344CB8AC3E}">
        <p14:creationId xmlns:p14="http://schemas.microsoft.com/office/powerpoint/2010/main" val="3343380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FA7E8-3898-1642-FC37-F3EC28839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F7D7E62-88C0-2899-7D53-45B1AA80C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26</a:t>
            </a:fld>
            <a:endParaRPr 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7DE6F0E-CC28-6D91-BE1E-0137F11B9842}"/>
              </a:ext>
            </a:extLst>
          </p:cNvPr>
          <p:cNvSpPr txBox="1">
            <a:spLocks/>
          </p:cNvSpPr>
          <p:nvPr/>
        </p:nvSpPr>
        <p:spPr>
          <a:xfrm>
            <a:off x="718606" y="2056645"/>
            <a:ext cx="6482087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블랙       </a:t>
            </a:r>
            <a:r>
              <a:rPr lang="en-US" altLang="ko-KR" sz="28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          ?  </a:t>
            </a:r>
            <a:endParaRPr lang="ko-KR" altLang="en-US" sz="2800" dirty="0">
              <a:solidFill>
                <a:srgbClr val="FFFFFF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7" name="화살표: 위로 구부러짐 6">
            <a:extLst>
              <a:ext uri="{FF2B5EF4-FFF2-40B4-BE49-F238E27FC236}">
                <a16:creationId xmlns:a16="http://schemas.microsoft.com/office/drawing/2014/main" id="{046724D1-DF42-06F1-FAF0-29BB8535327B}"/>
              </a:ext>
            </a:extLst>
          </p:cNvPr>
          <p:cNvSpPr/>
          <p:nvPr/>
        </p:nvSpPr>
        <p:spPr>
          <a:xfrm>
            <a:off x="1241773" y="2760525"/>
            <a:ext cx="1901477" cy="400337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5F735-0A6C-0262-ABC4-C7650839ABEA}"/>
              </a:ext>
            </a:extLst>
          </p:cNvPr>
          <p:cNvSpPr txBox="1"/>
          <p:nvPr/>
        </p:nvSpPr>
        <p:spPr>
          <a:xfrm>
            <a:off x="572955" y="697875"/>
            <a:ext cx="9694995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학습한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딥러닝은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이전 단어들을 기반으로 다음 단어를 확률적으로 예측하여 텍스트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음악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 등 새로운 콘텐츠를 생성하는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LLM(Large Language Model)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E723F44-9B2E-5BDF-A6E4-FC6EB276D266}"/>
              </a:ext>
            </a:extLst>
          </p:cNvPr>
          <p:cNvGrpSpPr/>
          <p:nvPr/>
        </p:nvGrpSpPr>
        <p:grpSpPr>
          <a:xfrm>
            <a:off x="2938879" y="1883378"/>
            <a:ext cx="5734688" cy="3866290"/>
            <a:chOff x="2938879" y="1883378"/>
            <a:chExt cx="5734688" cy="3866290"/>
          </a:xfrm>
        </p:grpSpPr>
        <p:sp>
          <p:nvSpPr>
            <p:cNvPr id="5" name="제목 1">
              <a:extLst>
                <a:ext uri="{FF2B5EF4-FFF2-40B4-BE49-F238E27FC236}">
                  <a16:creationId xmlns:a16="http://schemas.microsoft.com/office/drawing/2014/main" id="{611FA2E5-14CD-9CE6-B4C3-AB709E921D99}"/>
                </a:ext>
              </a:extLst>
            </p:cNvPr>
            <p:cNvSpPr txBox="1">
              <a:spLocks/>
            </p:cNvSpPr>
            <p:nvPr/>
          </p:nvSpPr>
          <p:spPr>
            <a:xfrm>
              <a:off x="2938879" y="2978137"/>
              <a:ext cx="217731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800" dirty="0">
                  <a:solidFill>
                    <a:srgbClr val="FFC000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핑크</a:t>
              </a:r>
              <a:r>
                <a:rPr lang="en-US" altLang="ko-KR" sz="2800" dirty="0"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</a:t>
              </a:r>
              <a:endParaRPr lang="ko-KR" altLang="en-US" sz="28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1669C79-6E12-C653-721F-8A8D0705C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03671" y="1883378"/>
              <a:ext cx="3569896" cy="3866290"/>
            </a:xfrm>
            <a:prstGeom prst="rect">
              <a:avLst/>
            </a:prstGeom>
          </p:spPr>
        </p:pic>
      </p:grpSp>
      <p:sp>
        <p:nvSpPr>
          <p:cNvPr id="9" name="제목 1">
            <a:extLst>
              <a:ext uri="{FF2B5EF4-FFF2-40B4-BE49-F238E27FC236}">
                <a16:creationId xmlns:a16="http://schemas.microsoft.com/office/drawing/2014/main" id="{990F8DB8-DDC4-EDCB-893F-F3EABAE4EA45}"/>
              </a:ext>
            </a:extLst>
          </p:cNvPr>
          <p:cNvSpPr txBox="1">
            <a:spLocks/>
          </p:cNvSpPr>
          <p:nvPr/>
        </p:nvSpPr>
        <p:spPr>
          <a:xfrm>
            <a:off x="2941695" y="4026310"/>
            <a:ext cx="2177317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dirty="0">
                <a:solidFill>
                  <a:srgbClr val="FFFF00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커피</a:t>
            </a:r>
            <a:r>
              <a:rPr lang="en-US" altLang="ko-KR" sz="28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ko-KR" altLang="en-US" sz="28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6150" name="Picture 6" descr="커피가 담긴 화이트 세라믹 머그잔">
            <a:extLst>
              <a:ext uri="{FF2B5EF4-FFF2-40B4-BE49-F238E27FC236}">
                <a16:creationId xmlns:a16="http://schemas.microsoft.com/office/drawing/2014/main" id="{A505F6CD-DFF6-B16F-93A7-AEA63D574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2352675"/>
            <a:ext cx="2870160" cy="430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A2BCF9E2-ED44-0CF7-2A28-6C73929297AE}"/>
              </a:ext>
            </a:extLst>
          </p:cNvPr>
          <p:cNvGrpSpPr/>
          <p:nvPr/>
        </p:nvGrpSpPr>
        <p:grpSpPr>
          <a:xfrm>
            <a:off x="2928225" y="3200636"/>
            <a:ext cx="8852915" cy="3104914"/>
            <a:chOff x="2928225" y="3200636"/>
            <a:chExt cx="8852915" cy="3104914"/>
          </a:xfrm>
        </p:grpSpPr>
        <p:sp>
          <p:nvSpPr>
            <p:cNvPr id="11" name="제목 1">
              <a:extLst>
                <a:ext uri="{FF2B5EF4-FFF2-40B4-BE49-F238E27FC236}">
                  <a16:creationId xmlns:a16="http://schemas.microsoft.com/office/drawing/2014/main" id="{C5B4E57A-7758-2A62-A476-E7A95EB53D66}"/>
                </a:ext>
              </a:extLst>
            </p:cNvPr>
            <p:cNvSpPr txBox="1">
              <a:spLocks/>
            </p:cNvSpPr>
            <p:nvPr/>
          </p:nvSpPr>
          <p:spPr>
            <a:xfrm>
              <a:off x="2928225" y="4983229"/>
              <a:ext cx="217731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800" dirty="0">
                  <a:solidFill>
                    <a:srgbClr val="FF0000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홀</a:t>
              </a:r>
              <a:r>
                <a:rPr lang="en-US" altLang="ko-KR" sz="28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</a:t>
              </a:r>
              <a:endParaRPr lang="ko-KR" altLang="en-US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6148" name="Picture 4" descr="어둠 속에서 불의 고리가 보인다">
              <a:extLst>
                <a:ext uri="{FF2B5EF4-FFF2-40B4-BE49-F238E27FC236}">
                  <a16:creationId xmlns:a16="http://schemas.microsoft.com/office/drawing/2014/main" id="{E6DD4576-D0D2-F798-B847-A0C25AD5CE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62730" y="3200636"/>
              <a:ext cx="5518410" cy="31049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2278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04049-3842-3F62-B21A-BD6507D0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02BC5E3-224A-24E3-5CD4-6E5BAB6EB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D99B4-8E4E-4BDD-3CB8-D12EAE2B6F32}"/>
              </a:ext>
            </a:extLst>
          </p:cNvPr>
          <p:cNvSpPr txBox="1"/>
          <p:nvPr/>
        </p:nvSpPr>
        <p:spPr>
          <a:xfrm>
            <a:off x="572955" y="697875"/>
            <a:ext cx="9694995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ea typeface="D2Coding" panose="020B0609020101020101" pitchFamily="49" charset="-127"/>
              </a:rPr>
              <a:t>데이터를 학습한 </a:t>
            </a:r>
            <a:r>
              <a:rPr lang="ko-KR" altLang="en-US" dirty="0" err="1">
                <a:ea typeface="D2Coding" panose="020B0609020101020101" pitchFamily="49" charset="-127"/>
              </a:rPr>
              <a:t>딥러닝은</a:t>
            </a:r>
            <a:r>
              <a:rPr lang="ko-KR" altLang="en-US" dirty="0">
                <a:ea typeface="D2Coding" panose="020B0609020101020101" pitchFamily="49" charset="-127"/>
              </a:rPr>
              <a:t> </a:t>
            </a:r>
            <a:r>
              <a:rPr lang="ko-KR" altLang="en-US" b="1" dirty="0">
                <a:ea typeface="D2Coding" panose="020B0609020101020101" pitchFamily="49" charset="-127"/>
              </a:rPr>
              <a:t>이전 픽셀들을 기반으로 다음 픽셀을 확률적으로 예측하여</a:t>
            </a:r>
            <a:r>
              <a:rPr lang="ko-KR" altLang="en-US" dirty="0">
                <a:ea typeface="D2Coding" panose="020B0609020101020101" pitchFamily="49" charset="-127"/>
              </a:rPr>
              <a:t> 텍스트</a:t>
            </a:r>
            <a:r>
              <a:rPr lang="en-US" altLang="ko-KR" dirty="0">
                <a:ea typeface="D2Coding" panose="020B0609020101020101" pitchFamily="49" charset="-127"/>
              </a:rPr>
              <a:t>, </a:t>
            </a:r>
            <a:r>
              <a:rPr lang="ko-KR" altLang="en-US" dirty="0">
                <a:ea typeface="D2Coding" panose="020B0609020101020101" pitchFamily="49" charset="-127"/>
              </a:rPr>
              <a:t>이미지</a:t>
            </a:r>
            <a:r>
              <a:rPr lang="en-US" altLang="ko-KR" dirty="0">
                <a:ea typeface="D2Coding" panose="020B0609020101020101" pitchFamily="49" charset="-127"/>
              </a:rPr>
              <a:t>, </a:t>
            </a:r>
            <a:r>
              <a:rPr lang="ko-KR" altLang="en-US" dirty="0">
                <a:ea typeface="D2Coding" panose="020B0609020101020101" pitchFamily="49" charset="-127"/>
              </a:rPr>
              <a:t>음악</a:t>
            </a:r>
            <a:r>
              <a:rPr lang="en-US" altLang="ko-KR" dirty="0">
                <a:ea typeface="D2Coding" panose="020B0609020101020101" pitchFamily="49" charset="-127"/>
              </a:rPr>
              <a:t>, </a:t>
            </a:r>
            <a:r>
              <a:rPr lang="ko-KR" altLang="en-US" dirty="0">
                <a:ea typeface="D2Coding" panose="020B0609020101020101" pitchFamily="49" charset="-127"/>
              </a:rPr>
              <a:t>코드 등 새로운 콘텐츠를 생성하는 </a:t>
            </a:r>
            <a:r>
              <a:rPr lang="en-US" altLang="ko-KR" b="1" dirty="0">
                <a:cs typeface="Times New Roman" panose="02020603050405020304" pitchFamily="18" charset="0"/>
              </a:rPr>
              <a:t>LLM(Large Language Model)</a:t>
            </a:r>
            <a:endParaRPr lang="ko-KR" altLang="en-US" dirty="0">
              <a:ea typeface="D2Coding" panose="020B0609020101020101" pitchFamily="49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74DC582-07A1-80C0-0395-B53ED416E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17" y="2011520"/>
            <a:ext cx="10541521" cy="433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520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AEAFC-BE00-BAFE-D0FA-D525C3477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A11FA24-C803-43CA-B36C-F6BBFD78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28</a:t>
            </a:fld>
            <a:endParaRPr lang="en-US" dirty="0"/>
          </a:p>
        </p:txBody>
      </p:sp>
      <p:pic>
        <p:nvPicPr>
          <p:cNvPr id="19" name="Picture 2" descr="코드에서 대화로: LLM은 어떻게 작동하나요?">
            <a:extLst>
              <a:ext uri="{FF2B5EF4-FFF2-40B4-BE49-F238E27FC236}">
                <a16:creationId xmlns:a16="http://schemas.microsoft.com/office/drawing/2014/main" id="{1FD4B2C6-0335-9409-DB54-C0E55819C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957" y="2547639"/>
            <a:ext cx="7624085" cy="4038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1DFEDB0-1965-79D2-75D3-9E3A6282EA84}"/>
              </a:ext>
            </a:extLst>
          </p:cNvPr>
          <p:cNvSpPr txBox="1">
            <a:spLocks/>
          </p:cNvSpPr>
          <p:nvPr/>
        </p:nvSpPr>
        <p:spPr>
          <a:xfrm>
            <a:off x="115115" y="355166"/>
            <a:ext cx="9308471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400" dirty="0">
                <a:solidFill>
                  <a:srgbClr val="FFFFFF"/>
                </a:solidFill>
                <a:latin typeface="+mn-lt"/>
                <a:ea typeface="D2Coding" panose="020B0609020101020101" pitchFamily="49" charset="-127"/>
              </a:rPr>
              <a:t>대규모 언어 모델 </a:t>
            </a:r>
            <a:r>
              <a:rPr lang="en-US" altLang="ko-KR" sz="2400" dirty="0">
                <a:solidFill>
                  <a:srgbClr val="FFFFFF"/>
                </a:solidFill>
                <a:latin typeface="+mn-lt"/>
                <a:ea typeface="D2Coding" panose="020B0609020101020101" pitchFamily="49" charset="-127"/>
              </a:rPr>
              <a:t>(Large Language Model, LLM)</a:t>
            </a:r>
            <a:endParaRPr lang="ko-KR" altLang="en-US" sz="2400" dirty="0">
              <a:solidFill>
                <a:srgbClr val="FFFFFF"/>
              </a:solidFill>
              <a:latin typeface="+mn-lt"/>
              <a:ea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4EC25-E590-3BDF-7682-BBA1C5D7A3FF}"/>
              </a:ext>
            </a:extLst>
          </p:cNvPr>
          <p:cNvSpPr txBox="1"/>
          <p:nvPr/>
        </p:nvSpPr>
        <p:spPr>
          <a:xfrm>
            <a:off x="471797" y="994854"/>
            <a:ext cx="9308471" cy="1296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수십억 개의 단어를 학습하여 사람처럼 자연스럽게 언어를 생성하는 인공지능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신경망</a:t>
            </a:r>
            <a:r>
              <a:rPr lang="en-US" altLang="ko-KR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(Neural Network) </a:t>
            </a:r>
            <a:r>
              <a:rPr lang="ko-KR" alt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기반으로 문맥을 이해하고 논리적 답변 생성 가능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대표 모델</a:t>
            </a:r>
            <a:r>
              <a:rPr lang="en-US" altLang="ko-KR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: GPT-4, Claude, Gemini, </a:t>
            </a:r>
            <a:r>
              <a:rPr lang="en-US" altLang="ko-KR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LLaMA</a:t>
            </a:r>
            <a:r>
              <a:rPr lang="en-US" altLang="ko-KR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 </a:t>
            </a:r>
            <a:r>
              <a:rPr lang="ko-KR" alt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등</a:t>
            </a:r>
            <a:endParaRPr lang="en-US" altLang="ko-KR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FFFF"/>
              </a:solidFill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51129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46662-7D95-C9B3-62AA-957CAF4E0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2A79256-9618-23AF-842D-9DC6D75C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29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6F99FA-1063-9B3E-6B8A-D5378429B1A2}"/>
              </a:ext>
            </a:extLst>
          </p:cNvPr>
          <p:cNvSpPr txBox="1"/>
          <p:nvPr/>
        </p:nvSpPr>
        <p:spPr>
          <a:xfrm>
            <a:off x="371475" y="852542"/>
            <a:ext cx="48109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Major Large Language Models (LLMs)</a:t>
            </a:r>
            <a:endParaRPr lang="ko-KR" altLang="en-US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5488D2-788A-A220-F5B8-D703537CA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465" y="1252652"/>
            <a:ext cx="9179802" cy="530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085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B5748-9A97-E469-5E70-624969003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7105A62-C109-8869-51D9-44353E91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30</a:t>
            </a:fld>
            <a:endParaRPr lang="en-US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41486B11-1D22-2746-6822-E1FBA2BA6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518408"/>
            <a:ext cx="8253412" cy="5821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1674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891C0-09A2-FBF5-D85B-F929E86B1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15BFE62-C839-E465-CB29-E8EBA793E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62149A-A199-CCC2-90FE-DA283B99BD0E}"/>
              </a:ext>
            </a:extLst>
          </p:cNvPr>
          <p:cNvSpPr txBox="1"/>
          <p:nvPr/>
        </p:nvSpPr>
        <p:spPr>
          <a:xfrm>
            <a:off x="572955" y="697875"/>
            <a:ext cx="9694995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ea typeface="D2Coding" panose="020B0609020101020101" pitchFamily="49" charset="-127"/>
              </a:rPr>
              <a:t>데이터를 학습한 </a:t>
            </a:r>
            <a:r>
              <a:rPr lang="ko-KR" altLang="en-US" dirty="0" err="1">
                <a:ea typeface="D2Coding" panose="020B0609020101020101" pitchFamily="49" charset="-127"/>
              </a:rPr>
              <a:t>딥러닝은</a:t>
            </a:r>
            <a:r>
              <a:rPr lang="ko-KR" altLang="en-US" dirty="0">
                <a:ea typeface="D2Coding" panose="020B0609020101020101" pitchFamily="49" charset="-127"/>
              </a:rPr>
              <a:t> 이전 단어들을 기반으로 다음 단어를 확률적으로 예측하여</a:t>
            </a:r>
            <a:r>
              <a:rPr lang="en-US" altLang="ko-KR" dirty="0">
                <a:ea typeface="D2Coding" panose="020B0609020101020101" pitchFamily="49" charset="-127"/>
              </a:rPr>
              <a:t> </a:t>
            </a:r>
            <a:r>
              <a:rPr lang="ko-KR" altLang="en-US" dirty="0">
                <a:ea typeface="D2Coding" panose="020B0609020101020101" pitchFamily="49" charset="-127"/>
              </a:rPr>
              <a:t> 말을 이어가는 끝 말 이어가기 끝 판 왕 </a:t>
            </a:r>
            <a:r>
              <a:rPr lang="en-US" altLang="ko-KR" dirty="0"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ko-KR" altLang="en-US" dirty="0"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b="1" dirty="0">
                <a:cs typeface="Times New Roman" panose="02020603050405020304" pitchFamily="18" charset="0"/>
              </a:rPr>
              <a:t>LLM(Large Language Model)</a:t>
            </a:r>
            <a:endParaRPr lang="ko-KR" altLang="en-US" dirty="0">
              <a:ea typeface="D2Coding" panose="020B0609020101020101" pitchFamily="49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03CC034-95A1-22B6-813A-A9AEF578AA6E}"/>
              </a:ext>
            </a:extLst>
          </p:cNvPr>
          <p:cNvGrpSpPr/>
          <p:nvPr/>
        </p:nvGrpSpPr>
        <p:grpSpPr>
          <a:xfrm>
            <a:off x="630711" y="2050117"/>
            <a:ext cx="8621503" cy="4008020"/>
            <a:chOff x="1159339" y="601426"/>
            <a:chExt cx="8621503" cy="400802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3063706-CD35-9C6A-4CB6-80ED3CE4B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9339" y="601427"/>
              <a:ext cx="8621503" cy="4008019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6575486-E78F-E443-AA75-0A87FF177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5880" y="1466342"/>
              <a:ext cx="5366966" cy="2971188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9D8F261-C778-0BEE-19FF-56F5F5EC4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07302" y="601426"/>
              <a:ext cx="1268392" cy="3836103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6A4B8B2-3F5F-A57F-814F-8B9D867214DC}"/>
              </a:ext>
            </a:extLst>
          </p:cNvPr>
          <p:cNvSpPr txBox="1"/>
          <p:nvPr/>
        </p:nvSpPr>
        <p:spPr>
          <a:xfrm>
            <a:off x="572955" y="6110338"/>
            <a:ext cx="51276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00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https://huggingface.co/learn/nlp-course/chapter1/4?fw=pt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00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ko-KR" altLang="en-US" sz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FF00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CFBF25-FAF7-113C-B329-3B3290862E7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9494855" y="2073025"/>
            <a:ext cx="2550213" cy="321375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2897CF4-C106-CB2B-772B-10044F9CA7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854" y="2201722"/>
            <a:ext cx="1150720" cy="66299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F0B4B90-10D3-CD96-7F65-13D0D48F66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757" y="3202215"/>
            <a:ext cx="2289316" cy="78467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CF73849-1994-6CC6-66C1-5F5DC3DEA5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1277" y="3202215"/>
            <a:ext cx="1150720" cy="64775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3B95147-8E14-88F2-AE54-F38A428C29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795" y="4211009"/>
            <a:ext cx="3380148" cy="78467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899A1B7-FDA2-A969-7E4F-1596039EF5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02186" y="4144270"/>
            <a:ext cx="1356478" cy="77730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E6B3DD4-1580-FB79-A68B-6B0312B8B2B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8774" y="5166032"/>
            <a:ext cx="4696050" cy="85455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5CB67AC-629A-E9B0-4DBA-A87BE860AA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1277" y="5215876"/>
            <a:ext cx="891617" cy="66299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FFFE5D0-1147-B9EF-DACA-7CFB027D0670}"/>
              </a:ext>
            </a:extLst>
          </p:cNvPr>
          <p:cNvSpPr txBox="1"/>
          <p:nvPr/>
        </p:nvSpPr>
        <p:spPr>
          <a:xfrm>
            <a:off x="10648985" y="3218316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</a:t>
            </a:r>
            <a:endParaRPr lang="ko-KR" altLang="en-US" sz="1400" dirty="0">
              <a:solidFill>
                <a:schemeClr val="bg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407F6F-3FB3-E5C9-00C6-FCB477C1A2A1}"/>
              </a:ext>
            </a:extLst>
          </p:cNvPr>
          <p:cNvSpPr txBox="1"/>
          <p:nvPr/>
        </p:nvSpPr>
        <p:spPr>
          <a:xfrm>
            <a:off x="11326175" y="4057120"/>
            <a:ext cx="431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girl</a:t>
            </a:r>
            <a:endParaRPr lang="ko-KR" altLang="en-US" sz="1400" dirty="0">
              <a:solidFill>
                <a:schemeClr val="bg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09A9DB-AE7E-4B2B-74F9-74B691C5E350}"/>
              </a:ext>
            </a:extLst>
          </p:cNvPr>
          <p:cNvSpPr txBox="1"/>
          <p:nvPr/>
        </p:nvSpPr>
        <p:spPr>
          <a:xfrm>
            <a:off x="9591150" y="2379331"/>
            <a:ext cx="6559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house</a:t>
            </a:r>
            <a:endParaRPr lang="ko-KR" altLang="en-US" sz="1400" dirty="0">
              <a:solidFill>
                <a:schemeClr val="bg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0C7E1F-8A86-36B2-6E45-AB7A32DAE995}"/>
              </a:ext>
            </a:extLst>
          </p:cNvPr>
          <p:cNvSpPr txBox="1"/>
          <p:nvPr/>
        </p:nvSpPr>
        <p:spPr>
          <a:xfrm>
            <a:off x="10584158" y="5904248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26E32FF-72A5-ECB7-FE1A-1D6180C7DED7}"/>
              </a:ext>
            </a:extLst>
          </p:cNvPr>
          <p:cNvCxnSpPr>
            <a:cxnSpLocks/>
          </p:cNvCxnSpPr>
          <p:nvPr/>
        </p:nvCxnSpPr>
        <p:spPr>
          <a:xfrm flipV="1">
            <a:off x="10816670" y="5424217"/>
            <a:ext cx="0" cy="4620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170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C0553-22BD-A141-661E-CFFF82AE7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227804C-449C-463A-C5BE-8C503ABF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969A97-C2BE-D9A0-A387-843BB3B69242}"/>
              </a:ext>
            </a:extLst>
          </p:cNvPr>
          <p:cNvSpPr txBox="1"/>
          <p:nvPr/>
        </p:nvSpPr>
        <p:spPr>
          <a:xfrm>
            <a:off x="572955" y="697875"/>
            <a:ext cx="9694995" cy="589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ea typeface="D2Coding" panose="020B0609020101020101" pitchFamily="49" charset="-127"/>
              </a:rPr>
              <a:t>확률적 언어모델을 가진 앵무새</a:t>
            </a:r>
            <a:r>
              <a:rPr lang="en-US" altLang="ko-KR" sz="2400" dirty="0">
                <a:ea typeface="D2Coding" panose="020B0609020101020101" pitchFamily="49" charset="-127"/>
              </a:rPr>
              <a:t>(Generative AI, LLM)</a:t>
            </a:r>
            <a:endParaRPr lang="ko-KR" altLang="en-US" sz="2400" dirty="0">
              <a:ea typeface="D2Coding" panose="020B0609020101020101" pitchFamily="49" charset="-127"/>
            </a:endParaRPr>
          </a:p>
        </p:txBody>
      </p:sp>
      <p:pic>
        <p:nvPicPr>
          <p:cNvPr id="2050" name="Picture 2" descr="나뭇가지에 주홍색 잉꼬 현관">
            <a:extLst>
              <a:ext uri="{FF2B5EF4-FFF2-40B4-BE49-F238E27FC236}">
                <a16:creationId xmlns:a16="http://schemas.microsoft.com/office/drawing/2014/main" id="{2E033474-6E41-5E4F-66B7-54A1F585C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836451"/>
            <a:ext cx="36576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110A9A-7874-8257-1B97-39876E538845}"/>
              </a:ext>
            </a:extLst>
          </p:cNvPr>
          <p:cNvSpPr txBox="1"/>
          <p:nvPr/>
        </p:nvSpPr>
        <p:spPr>
          <a:xfrm>
            <a:off x="6673214" y="1851958"/>
            <a:ext cx="5290186" cy="300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ea typeface="D2Coding" panose="020B0609020101020101" pitchFamily="49" charset="-127"/>
              </a:rPr>
              <a:t>대규모 언어 모델 </a:t>
            </a:r>
            <a:r>
              <a:rPr lang="en-US" altLang="ko-KR" sz="1600" dirty="0">
                <a:ea typeface="D2Coding" panose="020B0609020101020101" pitchFamily="49" charset="-127"/>
              </a:rPr>
              <a:t>(Large Language Model, LLM)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ea typeface="D2Coding" panose="020B0609020101020101" pitchFamily="49" charset="-127"/>
              </a:rPr>
              <a:t>수십억 개의 단어를 학습하여 사람처럼 자연스럽게 언어를 생성하는 인공지능</a:t>
            </a:r>
            <a:endParaRPr lang="en-US" altLang="ko-KR" sz="1600" dirty="0"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z="1600" dirty="0"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ea typeface="D2Coding" panose="020B0609020101020101" pitchFamily="49" charset="-127"/>
              </a:rPr>
              <a:t>신경망</a:t>
            </a:r>
            <a:r>
              <a:rPr lang="en-US" altLang="ko-KR" sz="1600" dirty="0">
                <a:ea typeface="D2Coding" panose="020B0609020101020101" pitchFamily="49" charset="-127"/>
              </a:rPr>
              <a:t>(Neural Network) </a:t>
            </a:r>
            <a:r>
              <a:rPr lang="ko-KR" altLang="en-US" sz="1600" dirty="0">
                <a:ea typeface="D2Coding" panose="020B0609020101020101" pitchFamily="49" charset="-127"/>
              </a:rPr>
              <a:t>기반으로 문맥을 이해하고 논리적 답변 생성 가능</a:t>
            </a:r>
            <a:endParaRPr lang="en-US" altLang="ko-KR" sz="1600" dirty="0"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z="1600" dirty="0"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ea typeface="D2Coding" panose="020B0609020101020101" pitchFamily="49" charset="-127"/>
              </a:rPr>
              <a:t>대표 모델</a:t>
            </a:r>
            <a:r>
              <a:rPr lang="en-US" altLang="ko-KR" sz="1600" dirty="0">
                <a:ea typeface="D2Coding" panose="020B0609020101020101" pitchFamily="49" charset="-127"/>
              </a:rPr>
              <a:t>: GPT-4, Claude, Gemini, </a:t>
            </a:r>
            <a:r>
              <a:rPr lang="en-US" altLang="ko-KR" sz="1600" dirty="0" err="1">
                <a:ea typeface="D2Coding" panose="020B0609020101020101" pitchFamily="49" charset="-127"/>
              </a:rPr>
              <a:t>LLaMA</a:t>
            </a:r>
            <a:r>
              <a:rPr lang="en-US" altLang="ko-KR" sz="1600" dirty="0"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ea typeface="D2Coding" panose="020B0609020101020101" pitchFamily="49" charset="-127"/>
              </a:rPr>
              <a:t>등</a:t>
            </a:r>
            <a:endParaRPr lang="en-US" altLang="ko-KR" sz="1600" dirty="0"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18167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8C289-FB36-0F26-D9B4-AE7777DE8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94798AA-0B60-9394-D1EE-42D1F0EE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25A948-FA2A-62F4-707C-F357C4E527CF}"/>
              </a:ext>
            </a:extLst>
          </p:cNvPr>
          <p:cNvSpPr txBox="1"/>
          <p:nvPr/>
        </p:nvSpPr>
        <p:spPr>
          <a:xfrm>
            <a:off x="218291" y="247650"/>
            <a:ext cx="10354460" cy="1254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ea typeface="D2Coding" panose="020B0609020101020101" pitchFamily="49" charset="-127"/>
                <a:cs typeface="+mj-cs"/>
              </a:rPr>
              <a:t>LLM</a:t>
            </a:r>
            <a:r>
              <a:rPr lang="ko-KR" altLang="en-US" sz="2000" dirty="0">
                <a:ea typeface="D2Coding" panose="020B0609020101020101" pitchFamily="49" charset="-127"/>
                <a:cs typeface="+mj-cs"/>
              </a:rPr>
              <a:t>의 한계는 정보 검색</a:t>
            </a:r>
            <a:r>
              <a:rPr lang="en-US" altLang="ko-KR" sz="2000" dirty="0">
                <a:ea typeface="D2Coding" panose="020B0609020101020101" pitchFamily="49" charset="-127"/>
                <a:cs typeface="+mj-cs"/>
              </a:rPr>
              <a:t>(Information Retrieval)</a:t>
            </a:r>
            <a:r>
              <a:rPr lang="ko-KR" altLang="en-US" sz="2000" dirty="0">
                <a:ea typeface="D2Coding" panose="020B0609020101020101" pitchFamily="49" charset="-127"/>
                <a:cs typeface="+mj-cs"/>
              </a:rPr>
              <a:t>만 잘함</a:t>
            </a:r>
            <a:endParaRPr lang="en-US" altLang="ko-KR" dirty="0">
              <a:ea typeface="D2Coding" panose="020B0609020101020101" pitchFamily="49" charset="-127"/>
              <a:cs typeface="+mj-cs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ea typeface="D2Coding" panose="020B0609020101020101" pitchFamily="49" charset="-127"/>
                <a:cs typeface="+mj-cs"/>
              </a:rPr>
              <a:t>학습 중에 접했던 패턴과 매우 유사한 패턴을 인식하거나 생성해 내며 본질적으로 새로운 상황에 적응하는 능력이 떨어짐 </a:t>
            </a:r>
            <a:r>
              <a:rPr lang="en-US" altLang="ko-KR" sz="1600" dirty="0">
                <a:ea typeface="D2Coding" panose="020B0609020101020101" pitchFamily="49" charset="-127"/>
                <a:cs typeface="+mj-cs"/>
              </a:rPr>
              <a:t>(</a:t>
            </a:r>
            <a:r>
              <a:rPr lang="ko-KR" altLang="en-US" sz="1600" dirty="0">
                <a:ea typeface="D2Coding" panose="020B0609020101020101" pitchFamily="49" charset="-127"/>
                <a:cs typeface="+mj-cs"/>
              </a:rPr>
              <a:t>아래 그림 </a:t>
            </a:r>
            <a:r>
              <a:rPr lang="en-US" altLang="ko-KR" sz="1600" dirty="0">
                <a:ea typeface="D2Coding" panose="020B0609020101020101" pitchFamily="49" charset="-127"/>
                <a:cs typeface="+mj-cs"/>
              </a:rPr>
              <a:t>An easy yet novel puzzle)</a:t>
            </a:r>
            <a:endParaRPr lang="ko-KR" altLang="en-US" sz="1600" dirty="0">
              <a:ea typeface="D2Coding" panose="020B0609020101020101" pitchFamily="49" charset="-127"/>
              <a:cs typeface="+mj-cs"/>
            </a:endParaRP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27CDEEFE-CC04-501A-16E8-419D49941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759" y="1742079"/>
            <a:ext cx="8340091" cy="4602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1239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81F98-2A90-A1E0-3E6D-AFF6D2CE3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390EEC5-D3FB-1EBC-028E-E1677E27F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34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E69FA9-C66D-8B99-1236-5A901EB63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2128" y="970346"/>
            <a:ext cx="9727744" cy="4917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Gary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Marcus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: "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LLMs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are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fluent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bullshitters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." 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언어적 유창성은 뛰어나나 사실 검증 메커니즘이 없음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Yejin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Choi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: "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Commonsense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한컴 고딕" panose="02000500000000000000" pitchFamily="2" charset="-127"/>
              </a:rPr>
              <a:t>missing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therefore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bullshit-prone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“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세상에 대한 상식 없이 말하기 때문에 자주 현실과 동떨어짐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ko-K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코마에서 깨어난 신입사원 아인슈타인 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55912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668BC-2E6C-F726-4EA1-D52CD0D6B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961E60-D9F0-9719-D657-861C30216ACD}"/>
              </a:ext>
            </a:extLst>
          </p:cNvPr>
          <p:cNvSpPr txBox="1"/>
          <p:nvPr/>
        </p:nvSpPr>
        <p:spPr>
          <a:xfrm>
            <a:off x="729672" y="1034108"/>
            <a:ext cx="9509703" cy="421653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600" dirty="0"/>
              <a:t>Learn A to Z to become AI Expert.</a:t>
            </a:r>
          </a:p>
          <a:p>
            <a:pPr>
              <a:lnSpc>
                <a:spcPct val="200000"/>
              </a:lnSpc>
            </a:pPr>
            <a:endParaRPr lang="en-US" altLang="ko-KR" sz="800" dirty="0">
              <a:solidFill>
                <a:srgbClr val="FFFF00"/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Python, Web application, SQL(Database)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Pandas(EDA)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Feature Engineering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FastAPI</a:t>
            </a:r>
            <a:r>
              <a:rPr lang="en-US" altLang="ko-KR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(Modern Web Architecture)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Data Pipeline(Work</a:t>
            </a:r>
            <a:r>
              <a:rPr lang="ko-KR" altLang="en-US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Flow</a:t>
            </a:r>
            <a:r>
              <a:rPr lang="ko-KR" altLang="en-US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Automation, n8n)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Math for machine learning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Scikit-Learn(Machine Learning Algorithms)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Deep Learning(FNN, CNN, RNN, Transformer)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LLM(Large</a:t>
            </a:r>
            <a:r>
              <a:rPr lang="ko-KR" altLang="en-US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Language</a:t>
            </a:r>
            <a:r>
              <a:rPr lang="ko-KR" altLang="en-US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Model)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Langchain</a:t>
            </a:r>
            <a:r>
              <a:rPr lang="en-US" altLang="ko-KR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(AI Agent)</a:t>
            </a:r>
          </a:p>
        </p:txBody>
      </p:sp>
    </p:spTree>
    <p:extLst>
      <p:ext uri="{BB962C8B-B14F-4D97-AF65-F5344CB8AC3E}">
        <p14:creationId xmlns:p14="http://schemas.microsoft.com/office/powerpoint/2010/main" val="28386001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9571A-E691-53B9-5537-C91AEAFE0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E0FD5A-C573-E34A-78B6-0D3354B80308}"/>
              </a:ext>
            </a:extLst>
          </p:cNvPr>
          <p:cNvSpPr txBox="1"/>
          <p:nvPr/>
        </p:nvSpPr>
        <p:spPr>
          <a:xfrm>
            <a:off x="683490" y="994853"/>
            <a:ext cx="9301019" cy="2117183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/>
              <a:t>Python for Data Analysis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ko-KR" altLang="ko-KR" dirty="0" err="1"/>
              <a:t>Python</a:t>
            </a:r>
            <a:r>
              <a:rPr lang="ko-KR" altLang="ko-KR" dirty="0"/>
              <a:t> Data </a:t>
            </a:r>
            <a:r>
              <a:rPr lang="ko-KR" altLang="ko-KR" dirty="0" err="1"/>
              <a:t>Science</a:t>
            </a:r>
            <a:r>
              <a:rPr lang="ko-KR" altLang="ko-KR" dirty="0"/>
              <a:t> </a:t>
            </a:r>
            <a:r>
              <a:rPr lang="ko-KR" altLang="ko-KR" dirty="0" err="1"/>
              <a:t>Handbook</a:t>
            </a:r>
            <a:r>
              <a:rPr lang="ko-KR" altLang="ko-KR" dirty="0"/>
              <a:t>: </a:t>
            </a:r>
            <a:r>
              <a:rPr lang="ko-KR" altLang="ko-KR" dirty="0" err="1"/>
              <a:t>Essential</a:t>
            </a:r>
            <a:r>
              <a:rPr lang="ko-KR" altLang="ko-KR" dirty="0"/>
              <a:t> </a:t>
            </a:r>
            <a:r>
              <a:rPr lang="ko-KR" altLang="ko-KR" dirty="0" err="1"/>
              <a:t>Tools</a:t>
            </a:r>
            <a:r>
              <a:rPr lang="ko-KR" altLang="ko-KR" dirty="0"/>
              <a:t> </a:t>
            </a:r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Working</a:t>
            </a:r>
            <a:r>
              <a:rPr lang="ko-KR" altLang="ko-KR" dirty="0"/>
              <a:t> </a:t>
            </a:r>
            <a:r>
              <a:rPr lang="ko-KR" altLang="ko-KR" dirty="0" err="1"/>
              <a:t>with</a:t>
            </a:r>
            <a:r>
              <a:rPr lang="ko-KR" altLang="ko-KR" dirty="0"/>
              <a:t> Data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Pandas</a:t>
            </a:r>
            <a:r>
              <a:rPr lang="en-US" altLang="ko-KR" dirty="0">
                <a:solidFill>
                  <a:srgbClr val="FFFF00"/>
                </a:solidFill>
              </a:rPr>
              <a:t>(Data</a:t>
            </a:r>
            <a:r>
              <a:rPr lang="ko-KR" altLang="en-US" dirty="0">
                <a:solidFill>
                  <a:srgbClr val="FFFF00"/>
                </a:solidFill>
              </a:rPr>
              <a:t> </a:t>
            </a:r>
            <a:r>
              <a:rPr lang="en-US" altLang="ko-KR" dirty="0">
                <a:solidFill>
                  <a:srgbClr val="FFFF00"/>
                </a:solidFill>
              </a:rPr>
              <a:t>Wrangle)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 err="1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FastAPI</a:t>
            </a:r>
            <a:endParaRPr lang="ko-KR" altLang="en-US" dirty="0">
              <a:solidFill>
                <a:srgbClr val="FFFF00"/>
              </a:solidFill>
            </a:endParaRPr>
          </a:p>
        </p:txBody>
      </p:sp>
      <p:pic>
        <p:nvPicPr>
          <p:cNvPr id="3" name="그림 2" descr="Python for Data Analysis">
            <a:extLst>
              <a:ext uri="{FF2B5EF4-FFF2-40B4-BE49-F238E27FC236}">
                <a16:creationId xmlns:a16="http://schemas.microsoft.com/office/drawing/2014/main" id="{DA171502-5E32-CA14-CF0D-01DDDE69F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398" y="2811158"/>
            <a:ext cx="2326211" cy="3051989"/>
          </a:xfrm>
          <a:prstGeom prst="rect">
            <a:avLst/>
          </a:prstGeom>
        </p:spPr>
      </p:pic>
      <p:pic>
        <p:nvPicPr>
          <p:cNvPr id="2050" name="Picture 2" descr="FastAPI [Book]">
            <a:extLst>
              <a:ext uri="{FF2B5EF4-FFF2-40B4-BE49-F238E27FC236}">
                <a16:creationId xmlns:a16="http://schemas.microsoft.com/office/drawing/2014/main" id="{76A712BA-E052-8B26-F826-D3EAE8EE3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2299" y="2811157"/>
            <a:ext cx="2326211" cy="3051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luent Python - 교보문고">
            <a:extLst>
              <a:ext uri="{FF2B5EF4-FFF2-40B4-BE49-F238E27FC236}">
                <a16:creationId xmlns:a16="http://schemas.microsoft.com/office/drawing/2014/main" id="{7FD9A664-CDDF-1AF4-DEE6-8814D6249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497" y="2820684"/>
            <a:ext cx="2326211" cy="3053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9C726D41-58B7-7805-C16F-3DC10D4B3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6033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577E1-F60F-EF8C-5807-22523F9DE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78C10FD3-B3DD-B475-DB99-541B98859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261" y="2825512"/>
            <a:ext cx="2129588" cy="38013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104568-A957-7943-84B3-76AD8028A6B5}"/>
              </a:ext>
            </a:extLst>
          </p:cNvPr>
          <p:cNvSpPr txBox="1"/>
          <p:nvPr/>
        </p:nvSpPr>
        <p:spPr>
          <a:xfrm>
            <a:off x="626340" y="985328"/>
            <a:ext cx="9301019" cy="184018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/>
              <a:t>Feature Engineering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Feature Engineering A-Z</a:t>
            </a:r>
            <a:r>
              <a:rPr lang="en-US" altLang="ko-KR" dirty="0">
                <a:solidFill>
                  <a:srgbClr val="FFFF00"/>
                </a:solidFill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rgbClr val="FFFF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Feature Engineering for Machine Learning</a:t>
            </a:r>
            <a:endParaRPr lang="en-US" altLang="ko-KR" dirty="0">
              <a:solidFill>
                <a:srgbClr val="FFFF00"/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rgbClr val="FFFF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Feature Engineering </a:t>
            </a:r>
            <a:r>
              <a:rPr lang="en-US" altLang="ko-KR" dirty="0" err="1">
                <a:solidFill>
                  <a:srgbClr val="FFFF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Bookcamp</a:t>
            </a:r>
            <a:r>
              <a:rPr lang="en-US" altLang="ko-KR" dirty="0">
                <a:solidFill>
                  <a:srgbClr val="FFFF00"/>
                </a:solidFill>
              </a:rPr>
              <a:t> (advanced)</a:t>
            </a:r>
            <a:endParaRPr lang="ko-KR" altLang="en-US" dirty="0">
              <a:solidFill>
                <a:srgbClr val="FFFF00"/>
              </a:solidFill>
            </a:endParaRPr>
          </a:p>
        </p:txBody>
      </p:sp>
      <p:pic>
        <p:nvPicPr>
          <p:cNvPr id="7170" name="Picture 2" descr="Feature Engineering for Machine Learning [Book]">
            <a:extLst>
              <a:ext uri="{FF2B5EF4-FFF2-40B4-BE49-F238E27FC236}">
                <a16:creationId xmlns:a16="http://schemas.microsoft.com/office/drawing/2014/main" id="{EBC27B71-0AEC-192D-F4B7-A34D3F929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3849" y="2825512"/>
            <a:ext cx="2897358" cy="3801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Feature Engineering Bookcamp [Book]">
            <a:extLst>
              <a:ext uri="{FF2B5EF4-FFF2-40B4-BE49-F238E27FC236}">
                <a16:creationId xmlns:a16="http://schemas.microsoft.com/office/drawing/2014/main" id="{B0865C1E-510B-52D9-A82A-C6367B197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8208" y="2825512"/>
            <a:ext cx="3028951" cy="3801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492603DA-A1D3-62F5-8DCC-0EB806768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8637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E0769-D623-C117-6AC5-9451F318F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077698-0821-8253-3694-517835251C75}"/>
              </a:ext>
            </a:extLst>
          </p:cNvPr>
          <p:cNvSpPr txBox="1"/>
          <p:nvPr/>
        </p:nvSpPr>
        <p:spPr>
          <a:xfrm>
            <a:off x="683490" y="994853"/>
            <a:ext cx="9301019" cy="166705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/>
              <a:t>Data Pipelines with Apache Airflow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rgbClr val="FFFF00"/>
                </a:solidFill>
              </a:rPr>
              <a:t>n8n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rgbClr val="FFFF00"/>
                </a:solidFill>
              </a:rPr>
              <a:t>mage</a:t>
            </a:r>
          </a:p>
        </p:txBody>
      </p:sp>
      <p:pic>
        <p:nvPicPr>
          <p:cNvPr id="2056" name="Picture 8" descr="Data Pipelines with Apache Airflow, Second Edition: Orchestration for data and AI">
            <a:extLst>
              <a:ext uri="{FF2B5EF4-FFF2-40B4-BE49-F238E27FC236}">
                <a16:creationId xmlns:a16="http://schemas.microsoft.com/office/drawing/2014/main" id="{C7DE969E-D98F-9793-A21B-BE3243C1D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588" y="1828382"/>
            <a:ext cx="3671887" cy="4599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02824B08-9A38-E764-EB02-EA2C8BF8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5082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3059B-EFA6-7E9B-4486-7C1C1BF96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42F396-0531-5B48-2F7A-02A1DDFBF322}"/>
              </a:ext>
            </a:extLst>
          </p:cNvPr>
          <p:cNvSpPr txBox="1"/>
          <p:nvPr/>
        </p:nvSpPr>
        <p:spPr>
          <a:xfrm>
            <a:off x="979053" y="957908"/>
            <a:ext cx="4839854" cy="244618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dirty="0" err="1"/>
              <a:t>Essential</a:t>
            </a:r>
            <a:r>
              <a:rPr lang="ko-KR" altLang="ko-KR" dirty="0"/>
              <a:t> </a:t>
            </a:r>
            <a:r>
              <a:rPr lang="ko-KR" altLang="ko-KR" dirty="0" err="1"/>
              <a:t>Math</a:t>
            </a:r>
            <a:r>
              <a:rPr lang="ko-KR" altLang="ko-KR" dirty="0"/>
              <a:t> </a:t>
            </a:r>
            <a:r>
              <a:rPr lang="ko-KR" altLang="ko-KR" dirty="0" err="1"/>
              <a:t>for</a:t>
            </a:r>
            <a:r>
              <a:rPr lang="ko-KR" altLang="ko-KR" dirty="0"/>
              <a:t> Data </a:t>
            </a:r>
            <a:r>
              <a:rPr lang="ko-KR" altLang="ko-KR" dirty="0" err="1"/>
              <a:t>Science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/>
              <a:t>Linear Algebra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/>
              <a:t>Basic calculus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/>
              <a:t>Statistics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/>
              <a:t>Probability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/>
              <a:t>Simulation</a:t>
            </a:r>
            <a:endParaRPr lang="ko-KR" altLang="ko-KR" sz="1600" dirty="0"/>
          </a:p>
        </p:txBody>
      </p:sp>
      <p:pic>
        <p:nvPicPr>
          <p:cNvPr id="4" name="그림 3" descr="Essential Math for Data Science [Book]">
            <a:extLst>
              <a:ext uri="{FF2B5EF4-FFF2-40B4-BE49-F238E27FC236}">
                <a16:creationId xmlns:a16="http://schemas.microsoft.com/office/drawing/2014/main" id="{DAE0EC9F-C9E8-C8FB-967D-A80C67AD2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955" y="2180999"/>
            <a:ext cx="3056370" cy="4009957"/>
          </a:xfrm>
          <a:prstGeom prst="rect">
            <a:avLst/>
          </a:prstGeom>
        </p:spPr>
      </p:pic>
      <p:pic>
        <p:nvPicPr>
          <p:cNvPr id="4098" name="Picture 2" descr="Practical Statistics for Data Scientists - 교보문고">
            <a:extLst>
              <a:ext uri="{FF2B5EF4-FFF2-40B4-BE49-F238E27FC236}">
                <a16:creationId xmlns:a16="http://schemas.microsoft.com/office/drawing/2014/main" id="{44A960F9-8BC6-1871-564A-C734EFCD2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7275" y="2180998"/>
            <a:ext cx="3055205" cy="400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2157018C-4ABA-C7C4-90B6-D1B6B07E6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7123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FF796-6EF1-1E0E-DC23-F9C5BBD06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315219-55E6-C7C6-8847-FF0ADA8B8F4E}"/>
              </a:ext>
            </a:extLst>
          </p:cNvPr>
          <p:cNvSpPr txBox="1"/>
          <p:nvPr/>
        </p:nvSpPr>
        <p:spPr>
          <a:xfrm>
            <a:off x="979052" y="957908"/>
            <a:ext cx="7536297" cy="96885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Scikit-Learn.org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 err="1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machine_learning_map</a:t>
            </a:r>
            <a:endParaRPr lang="ko-KR" altLang="ko-KR" sz="1600" dirty="0">
              <a:solidFill>
                <a:srgbClr val="FFFF00"/>
              </a:solidFill>
            </a:endParaRPr>
          </a:p>
        </p:txBody>
      </p:sp>
      <p:pic>
        <p:nvPicPr>
          <p:cNvPr id="5122" name="Picture 2" descr="Move mouse over image">
            <a:extLst>
              <a:ext uri="{FF2B5EF4-FFF2-40B4-BE49-F238E27FC236}">
                <a16:creationId xmlns:a16="http://schemas.microsoft.com/office/drawing/2014/main" id="{BFCB19F1-275A-16CF-0A05-51F4892A4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956" y="2105856"/>
            <a:ext cx="5048870" cy="3147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86F868A9-784B-9EF6-7A58-47DB9EC8B268}"/>
              </a:ext>
            </a:extLst>
          </p:cNvPr>
          <p:cNvGrpSpPr/>
          <p:nvPr/>
        </p:nvGrpSpPr>
        <p:grpSpPr>
          <a:xfrm>
            <a:off x="1816873" y="2105856"/>
            <a:ext cx="4422002" cy="3147802"/>
            <a:chOff x="855716" y="2273938"/>
            <a:chExt cx="5411734" cy="371803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51D30BC-9121-08BA-0876-A654BD91C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5716" y="2273938"/>
              <a:ext cx="5411733" cy="183548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7608830-209B-4748-7DC4-70E7DE772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55717" y="4100967"/>
              <a:ext cx="5411733" cy="1891007"/>
            </a:xfrm>
            <a:prstGeom prst="rect">
              <a:avLst/>
            </a:prstGeom>
          </p:spPr>
        </p:pic>
      </p:grpSp>
      <p:sp>
        <p:nvSpPr>
          <p:cNvPr id="9" name="슬라이드 번호 개체 틀 7">
            <a:extLst>
              <a:ext uri="{FF2B5EF4-FFF2-40B4-BE49-F238E27FC236}">
                <a16:creationId xmlns:a16="http://schemas.microsoft.com/office/drawing/2014/main" id="{5DC19D10-0A69-E1F8-2C20-F706F8AA1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6216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987E4-5485-1CAC-92D3-95893A49F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D12CF8-F9B4-5749-CEEB-B517E22B0E89}"/>
              </a:ext>
            </a:extLst>
          </p:cNvPr>
          <p:cNvSpPr txBox="1"/>
          <p:nvPr/>
        </p:nvSpPr>
        <p:spPr>
          <a:xfrm>
            <a:off x="984538" y="1061528"/>
            <a:ext cx="9301019" cy="156901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Scikit-learn</a:t>
            </a:r>
            <a:r>
              <a:rPr lang="en-US" altLang="ko-KR" dirty="0"/>
              <a:t>(Machine</a:t>
            </a:r>
            <a:r>
              <a:rPr lang="ko-KR" altLang="en-US" dirty="0"/>
              <a:t> </a:t>
            </a:r>
            <a:r>
              <a:rPr lang="en-US" altLang="ko-KR" dirty="0"/>
              <a:t>Learning)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solidFill>
                  <a:srgbClr val="FFFF00"/>
                </a:solidFill>
              </a:rPr>
              <a:t>Supervised</a:t>
            </a:r>
            <a:r>
              <a:rPr lang="ko-KR" altLang="en-US" sz="1600" dirty="0">
                <a:solidFill>
                  <a:srgbClr val="FFFF00"/>
                </a:solidFill>
              </a:rPr>
              <a:t> </a:t>
            </a:r>
            <a:r>
              <a:rPr lang="en-US" altLang="ko-KR" sz="1600" dirty="0">
                <a:solidFill>
                  <a:srgbClr val="FFFF00"/>
                </a:solidFill>
              </a:rPr>
              <a:t>learning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solidFill>
                  <a:srgbClr val="FFFF00"/>
                </a:solidFill>
              </a:rPr>
              <a:t>Supervised</a:t>
            </a:r>
            <a:r>
              <a:rPr lang="ko-KR" altLang="en-US" sz="1600" dirty="0">
                <a:solidFill>
                  <a:srgbClr val="FFFF00"/>
                </a:solidFill>
              </a:rPr>
              <a:t> </a:t>
            </a:r>
            <a:r>
              <a:rPr lang="en-US" altLang="ko-KR" sz="1600" dirty="0">
                <a:solidFill>
                  <a:srgbClr val="FFFF00"/>
                </a:solidFill>
              </a:rPr>
              <a:t>learning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solidFill>
                  <a:srgbClr val="FFFF00"/>
                </a:solidFill>
              </a:rPr>
              <a:t>Data preprocessing</a:t>
            </a:r>
            <a:endParaRPr lang="en-US" altLang="ko-KR" dirty="0">
              <a:solidFill>
                <a:srgbClr val="FFFF00"/>
              </a:solidFill>
            </a:endParaRPr>
          </a:p>
        </p:txBody>
      </p:sp>
      <p:pic>
        <p:nvPicPr>
          <p:cNvPr id="6" name="그림 5" descr="Book Cover">
            <a:extLst>
              <a:ext uri="{FF2B5EF4-FFF2-40B4-BE49-F238E27FC236}">
                <a16:creationId xmlns:a16="http://schemas.microsoft.com/office/drawing/2014/main" id="{6912DFA8-EDE2-CA6F-F8F5-69EE9351C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403" y="2476523"/>
            <a:ext cx="3037602" cy="4009956"/>
          </a:xfrm>
          <a:prstGeom prst="rect">
            <a:avLst/>
          </a:prstGeom>
        </p:spPr>
      </p:pic>
      <p:pic>
        <p:nvPicPr>
          <p:cNvPr id="1026" name="Picture 2" descr="Introduction to Machine Learning with Python 커버 이미지">
            <a:extLst>
              <a:ext uri="{FF2B5EF4-FFF2-40B4-BE49-F238E27FC236}">
                <a16:creationId xmlns:a16="http://schemas.microsoft.com/office/drawing/2014/main" id="{06D65ABE-9076-A4E7-5B49-9645C1740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1823" y="2476523"/>
            <a:ext cx="3007468" cy="400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7">
            <a:extLst>
              <a:ext uri="{FF2B5EF4-FFF2-40B4-BE49-F238E27FC236}">
                <a16:creationId xmlns:a16="http://schemas.microsoft.com/office/drawing/2014/main" id="{79B71D3B-9661-C084-9BBE-BD00C4C3F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1945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AF3D6-B16E-BA23-E105-5EB598AFF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C45924-E3FC-E3F3-89BC-35516D54D2CF}"/>
              </a:ext>
            </a:extLst>
          </p:cNvPr>
          <p:cNvSpPr txBox="1"/>
          <p:nvPr/>
        </p:nvSpPr>
        <p:spPr>
          <a:xfrm>
            <a:off x="729672" y="1034108"/>
            <a:ext cx="9176328" cy="111306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/>
              <a:t>hands-on machine learning with scikit-learn, </a:t>
            </a:r>
            <a:r>
              <a:rPr lang="en-US" altLang="ko-KR" dirty="0" err="1"/>
              <a:t>keras</a:t>
            </a:r>
            <a:r>
              <a:rPr lang="en-US" altLang="ko-KR" dirty="0"/>
              <a:t> &amp; </a:t>
            </a:r>
            <a:r>
              <a:rPr lang="en-US" altLang="ko-KR" dirty="0" err="1"/>
              <a:t>tensorflow</a:t>
            </a:r>
            <a:r>
              <a:rPr lang="en-US" altLang="ko-KR" dirty="0"/>
              <a:t> (advanced)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/>
              <a:t>Deep Learning with Python (advanced)</a:t>
            </a:r>
            <a:endParaRPr lang="ko-KR" altLang="en-US" dirty="0"/>
          </a:p>
        </p:txBody>
      </p:sp>
      <p:pic>
        <p:nvPicPr>
          <p:cNvPr id="4" name="그림 3" descr="GitHub - ageron/handson-ml3: A series of Jupyter notebooks that walk you through the fundamentals of Machine Learning and Deep Learning in Python using Scikit-Learn, Keras and TensorFlow 2. · GitHub">
            <a:extLst>
              <a:ext uri="{FF2B5EF4-FFF2-40B4-BE49-F238E27FC236}">
                <a16:creationId xmlns:a16="http://schemas.microsoft.com/office/drawing/2014/main" id="{45F4D8C6-F96E-0727-AD19-569B91051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385" y="2239012"/>
            <a:ext cx="3254665" cy="4274460"/>
          </a:xfrm>
          <a:prstGeom prst="rect">
            <a:avLst/>
          </a:prstGeom>
        </p:spPr>
      </p:pic>
      <p:pic>
        <p:nvPicPr>
          <p:cNvPr id="7" name="그림 6" descr="Deep Learning with Python">
            <a:extLst>
              <a:ext uri="{FF2B5EF4-FFF2-40B4-BE49-F238E27FC236}">
                <a16:creationId xmlns:a16="http://schemas.microsoft.com/office/drawing/2014/main" id="{68B334A9-889D-42E0-497D-189A7FBB0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504" y="2239012"/>
            <a:ext cx="3396096" cy="426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2817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D430F-AADD-4F1C-F65A-6386A2FA9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9B2F4E-3595-E798-8521-A7301F125AB5}"/>
              </a:ext>
            </a:extLst>
          </p:cNvPr>
          <p:cNvSpPr txBox="1"/>
          <p:nvPr/>
        </p:nvSpPr>
        <p:spPr>
          <a:xfrm>
            <a:off x="729673" y="1034108"/>
            <a:ext cx="9290628" cy="10701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/>
              <a:t>Generative Deep Learning : </a:t>
            </a:r>
            <a:r>
              <a:rPr lang="en-US" altLang="ko-KR" sz="1600" dirty="0"/>
              <a:t>Teaching</a:t>
            </a:r>
            <a:r>
              <a:rPr lang="ko-KR" altLang="en-US" sz="1600" dirty="0"/>
              <a:t> </a:t>
            </a:r>
            <a:r>
              <a:rPr lang="en-US" altLang="ko-KR" sz="1600" dirty="0"/>
              <a:t>Machines</a:t>
            </a:r>
            <a:r>
              <a:rPr lang="ko-KR" altLang="en-US" sz="1600" dirty="0"/>
              <a:t> </a:t>
            </a:r>
            <a:r>
              <a:rPr lang="en-US" altLang="ko-KR" sz="1600" dirty="0"/>
              <a:t>to</a:t>
            </a:r>
            <a:r>
              <a:rPr lang="ko-KR" altLang="en-US" sz="1600" dirty="0"/>
              <a:t> </a:t>
            </a:r>
            <a:r>
              <a:rPr lang="en-US" altLang="ko-KR" sz="1600" dirty="0"/>
              <a:t>Paint,</a:t>
            </a:r>
            <a:r>
              <a:rPr lang="ko-KR" altLang="en-US" sz="1600" dirty="0"/>
              <a:t> </a:t>
            </a:r>
            <a:r>
              <a:rPr lang="en-US" altLang="ko-KR" sz="1600" dirty="0"/>
              <a:t>Write,</a:t>
            </a:r>
            <a:r>
              <a:rPr lang="ko-KR" altLang="en-US" sz="1600" dirty="0"/>
              <a:t> </a:t>
            </a:r>
            <a:r>
              <a:rPr lang="en-US" altLang="ko-KR" sz="1600" dirty="0"/>
              <a:t>Compose,</a:t>
            </a:r>
            <a:r>
              <a:rPr lang="ko-KR" altLang="en-US" sz="1600" dirty="0"/>
              <a:t> </a:t>
            </a:r>
            <a:r>
              <a:rPr lang="en-US" altLang="ko-KR" sz="1600" dirty="0"/>
              <a:t>and</a:t>
            </a:r>
            <a:r>
              <a:rPr lang="ko-KR" altLang="en-US" sz="1600" dirty="0"/>
              <a:t> </a:t>
            </a:r>
            <a:r>
              <a:rPr lang="en-US" altLang="ko-KR" sz="1600" dirty="0"/>
              <a:t>Play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Generative Deep Learning.pptx</a:t>
            </a:r>
            <a:r>
              <a:rPr lang="en-US" altLang="ko-KR" sz="1600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(Part</a:t>
            </a:r>
            <a:r>
              <a:rPr lang="ko-KR" altLang="en-US" sz="1600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1. Chapter 1. Generative Modeling)</a:t>
            </a:r>
            <a:endParaRPr lang="ko-KR" altLang="en-US" sz="1600" dirty="0">
              <a:solidFill>
                <a:srgbClr val="FFFF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EA89951-D99A-F849-5CB8-00278FE00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68" y="2398568"/>
            <a:ext cx="3048264" cy="40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0212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5FD97-661E-EA36-2CB0-EB2685FD9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E84F12-7572-78B0-8716-C2C3C54DD750}"/>
              </a:ext>
            </a:extLst>
          </p:cNvPr>
          <p:cNvSpPr txBox="1"/>
          <p:nvPr/>
        </p:nvSpPr>
        <p:spPr>
          <a:xfrm>
            <a:off x="729672" y="1034108"/>
            <a:ext cx="8321965" cy="277505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/>
              <a:t>Hands-on large language models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solidFill>
                  <a:schemeClr val="bg2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Hands-On-Large-Language-Models Scripts 1/2/3</a:t>
            </a:r>
            <a:r>
              <a:rPr lang="en-US" altLang="ko-KR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LLM</a:t>
            </a:r>
            <a:r>
              <a:rPr lang="ko-KR" alt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기초 코드로 배우기</a:t>
            </a:r>
            <a:endParaRPr lang="en-US" altLang="ko-KR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/>
              <a:t>Learning </a:t>
            </a:r>
            <a:r>
              <a:rPr lang="en-US" altLang="ko-KR" dirty="0" err="1"/>
              <a:t>Langchain</a:t>
            </a:r>
            <a:endParaRPr lang="en-US" altLang="ko-KR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 err="1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LangChain</a:t>
            </a:r>
            <a:endParaRPr lang="en-US" altLang="ko-KR" dirty="0">
              <a:solidFill>
                <a:srgbClr val="FFFF00"/>
              </a:solidFill>
            </a:endParaRPr>
          </a:p>
        </p:txBody>
      </p:sp>
      <p:pic>
        <p:nvPicPr>
          <p:cNvPr id="2" name="그림 1" descr="Hands-On Large Language Models - NLB - OverDrive">
            <a:extLst>
              <a:ext uri="{FF2B5EF4-FFF2-40B4-BE49-F238E27FC236}">
                <a16:creationId xmlns:a16="http://schemas.microsoft.com/office/drawing/2014/main" id="{F82753AA-8682-D5A2-2275-423B8FF3E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6599" y="2643676"/>
            <a:ext cx="2745033" cy="3664761"/>
          </a:xfrm>
          <a:prstGeom prst="rect">
            <a:avLst/>
          </a:prstGeom>
        </p:spPr>
      </p:pic>
      <p:pic>
        <p:nvPicPr>
          <p:cNvPr id="3" name="그림 2" descr="Learning LangChain [Book]">
            <a:extLst>
              <a:ext uri="{FF2B5EF4-FFF2-40B4-BE49-F238E27FC236}">
                <a16:creationId xmlns:a16="http://schemas.microsoft.com/office/drawing/2014/main" id="{D291A608-9611-DCFA-BA43-84C53F11C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513" y="2643676"/>
            <a:ext cx="2794915" cy="366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9595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이온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7137</TotalTime>
  <Words>1190</Words>
  <Application>Microsoft Office PowerPoint</Application>
  <PresentationFormat>와이드스크린</PresentationFormat>
  <Paragraphs>228</Paragraphs>
  <Slides>44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8" baseType="lpstr">
      <vt:lpstr>D2Coding</vt:lpstr>
      <vt:lpstr>Helvetica Neue</vt:lpstr>
      <vt:lpstr>맑은 고딕</vt:lpstr>
      <vt:lpstr>맑은 고딕 Semilight</vt:lpstr>
      <vt:lpstr>한컴 고딕</vt:lpstr>
      <vt:lpstr>한컴 말랑말랑 Bold</vt:lpstr>
      <vt:lpstr>Arial</vt:lpstr>
      <vt:lpstr>Cambria Math</vt:lpstr>
      <vt:lpstr>Century Gothic</vt:lpstr>
      <vt:lpstr>Tahoma</vt:lpstr>
      <vt:lpstr>Times New Roman</vt:lpstr>
      <vt:lpstr>Wingdings</vt:lpstr>
      <vt:lpstr>Wingdings 3</vt:lpstr>
      <vt:lpstr>이온</vt:lpstr>
      <vt:lpstr>AI Literacy</vt:lpstr>
      <vt:lpstr>PowerPoint 프레젠테이션</vt:lpstr>
      <vt:lpstr>Contents</vt:lpstr>
      <vt:lpstr>PowerPoint 프레젠테이션</vt:lpstr>
      <vt:lpstr>PowerPoint 프레젠테이션</vt:lpstr>
      <vt:lpstr>Contents</vt:lpstr>
      <vt:lpstr>PowerPoint 프레젠테이션</vt:lpstr>
      <vt:lpstr>AI Literacy</vt:lpstr>
      <vt:lpstr>Contents</vt:lpstr>
      <vt:lpstr>PowerPoint 프레젠테이션</vt:lpstr>
      <vt:lpstr>PowerPoint 프레젠테이션</vt:lpstr>
      <vt:lpstr>PowerPoint 프레젠테이션</vt:lpstr>
      <vt:lpstr>How to classify ?</vt:lpstr>
      <vt:lpstr>Supervised Learning(지도학습) </vt:lpstr>
      <vt:lpstr>Unsupervised Learning(비지도학습)</vt:lpstr>
      <vt:lpstr>PowerPoint 프레젠테이션</vt:lpstr>
      <vt:lpstr>Deep Learning_how to learn?</vt:lpstr>
      <vt:lpstr>PowerPoint 프레젠테이션</vt:lpstr>
      <vt:lpstr>PowerPoint 프레젠테이션</vt:lpstr>
      <vt:lpstr>Image Segmentation </vt:lpstr>
      <vt:lpstr>Image Segmentation </vt:lpstr>
      <vt:lpstr>PowerPoint 프레젠테이션</vt:lpstr>
      <vt:lpstr>PowerPoint 프레젠테이션</vt:lpstr>
      <vt:lpstr>Generate Face Image  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Sanggoo Cho</cp:lastModifiedBy>
  <cp:revision>111</cp:revision>
  <dcterms:created xsi:type="dcterms:W3CDTF">2026-04-11T22:24:40Z</dcterms:created>
  <dcterms:modified xsi:type="dcterms:W3CDTF">2026-08-29T23:18:59Z</dcterms:modified>
</cp:coreProperties>
</file>