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41"/>
  </p:notesMasterIdLst>
  <p:sldIdLst>
    <p:sldId id="256" r:id="rId2"/>
    <p:sldId id="461" r:id="rId3"/>
    <p:sldId id="435" r:id="rId4"/>
    <p:sldId id="448" r:id="rId5"/>
    <p:sldId id="449" r:id="rId6"/>
    <p:sldId id="458" r:id="rId7"/>
    <p:sldId id="404" r:id="rId8"/>
    <p:sldId id="405" r:id="rId9"/>
    <p:sldId id="459" r:id="rId10"/>
    <p:sldId id="380" r:id="rId11"/>
    <p:sldId id="381" r:id="rId12"/>
    <p:sldId id="453" r:id="rId13"/>
    <p:sldId id="399" r:id="rId14"/>
    <p:sldId id="388" r:id="rId15"/>
    <p:sldId id="389" r:id="rId16"/>
    <p:sldId id="462" r:id="rId17"/>
    <p:sldId id="470" r:id="rId18"/>
    <p:sldId id="468" r:id="rId19"/>
    <p:sldId id="441" r:id="rId20"/>
    <p:sldId id="385" r:id="rId21"/>
    <p:sldId id="469" r:id="rId22"/>
    <p:sldId id="440" r:id="rId23"/>
    <p:sldId id="454" r:id="rId24"/>
    <p:sldId id="466" r:id="rId25"/>
    <p:sldId id="379" r:id="rId26"/>
    <p:sldId id="396" r:id="rId27"/>
    <p:sldId id="434" r:id="rId28"/>
    <p:sldId id="471" r:id="rId29"/>
    <p:sldId id="460" r:id="rId30"/>
    <p:sldId id="401" r:id="rId31"/>
    <p:sldId id="433" r:id="rId32"/>
    <p:sldId id="382" r:id="rId33"/>
    <p:sldId id="457" r:id="rId34"/>
    <p:sldId id="451" r:id="rId35"/>
    <p:sldId id="432" r:id="rId36"/>
    <p:sldId id="407" r:id="rId37"/>
    <p:sldId id="397" r:id="rId38"/>
    <p:sldId id="452" r:id="rId39"/>
    <p:sldId id="467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8FB837D-C827-4EFA-A057-4D05807E0F7C}" styleName="테마 스타일 1 - 강조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0A1B5D5-9B99-4C35-A422-299274C87663}" styleName="보통 스타일 1 - 강조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5DA37D80-6434-44D0-A028-1B22A696006F}" styleName="밝은 스타일 3 - 강조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6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5491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8017EF-B0C5-4F2B-99F2-8DD7659ECF32}" type="datetimeFigureOut">
              <a:rPr lang="ko-KR" altLang="en-US" smtClean="0"/>
              <a:t>2026-08-27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233B1C-0D5F-42ED-944D-ADB4310BB8E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3732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dirty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96027F-7875-4030-9381-8BD8C4F21935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AAD347D-5ACD-4C99-B74B-A9C85AD731AF}" type="datetimeFigureOut">
              <a:rPr lang="en-US" dirty="0"/>
              <a:t>8/27/2026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1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1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9O1terlCTts&amp;t=307s" TargetMode="Externa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jpeg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3.svg"/><Relationship Id="rId2" Type="http://schemas.openxmlformats.org/officeDocument/2006/relationships/hyperlink" Target="https://en.wikipedia.org/wiki/AI_literacy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9.jpeg"/><Relationship Id="rId4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5_Winter_Deep-Learning-with-TensorFlow/tree/main/20260128_06_Introduction%20AI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" TargetMode="External"/><Relationship Id="rId2" Type="http://schemas.openxmlformats.org/officeDocument/2006/relationships/hyperlink" Target="https://pandas.pydata.org/" TargetMode="Externa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gif"/><Relationship Id="rId5" Type="http://schemas.openxmlformats.org/officeDocument/2006/relationships/image" Target="../media/image25.png"/><Relationship Id="rId4" Type="http://schemas.openxmlformats.org/officeDocument/2006/relationships/hyperlink" Target="https://fastapi.tiangolo.com/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www.youtube.com/watch?v=aircAruvnKk&amp;list=PLZHQObOWTQDNU6R1_67000Dx_ZCJB-3pi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hyperlink" Target="https://huggingface.co/spaces/Xenova/yolov10-web" TargetMode="External"/><Relationship Id="rId4" Type="http://schemas.openxmlformats.org/officeDocument/2006/relationships/image" Target="../media/image3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jreddie.com/darknet/yolo/" TargetMode="Externa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hyperlink" Target="https://shaqian.github.io/tfjs-yolo-demo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7" Type="http://schemas.microsoft.com/office/2007/relationships/hdphoto" Target="../media/hdphoto1.wdp"/><Relationship Id="rId2" Type="http://schemas.openxmlformats.org/officeDocument/2006/relationships/image" Target="../media/image3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80.png"/><Relationship Id="rId4" Type="http://schemas.openxmlformats.org/officeDocument/2006/relationships/image" Target="../media/image37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word2vec.kr/search/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jpe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jpe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informationisbeautiful.net/visualizations/the-rise-of-generative-ai-large-language-models-llms-like-chatgpt/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6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61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jpe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jpeg"/><Relationship Id="rId2" Type="http://schemas.openxmlformats.org/officeDocument/2006/relationships/hyperlink" Target="https://www.langchain.com/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3E07EC-FAE3-CD22-0A12-F95D0F9FD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5700" y="924580"/>
            <a:ext cx="10465545" cy="1362075"/>
          </a:xfrm>
        </p:spPr>
        <p:txBody>
          <a:bodyPr/>
          <a:lstStyle/>
          <a:p>
            <a:r>
              <a:rPr lang="en-US" altLang="ko-KR" sz="6000" dirty="0">
                <a:solidFill>
                  <a:schemeClr val="tx1"/>
                </a:solidFill>
              </a:rPr>
              <a:t>AI Literacy</a:t>
            </a:r>
            <a:endParaRPr lang="ko-KR" altLang="en-US" sz="6000" dirty="0">
              <a:solidFill>
                <a:schemeClr val="tx1"/>
              </a:solidFill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4126B61E-1F39-452D-5C3B-A004CC62B8A8}"/>
              </a:ext>
            </a:extLst>
          </p:cNvPr>
          <p:cNvSpPr txBox="1">
            <a:spLocks/>
          </p:cNvSpPr>
          <p:nvPr/>
        </p:nvSpPr>
        <p:spPr>
          <a:xfrm>
            <a:off x="1183530" y="4188915"/>
            <a:ext cx="8825658" cy="199281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1" hangingPunct="1">
              <a:spcBef>
                <a:spcPts val="1000"/>
              </a:spcBef>
              <a:spcAft>
                <a:spcPts val="0"/>
              </a:spcAft>
              <a:buClr>
                <a:schemeClr val="bg2">
                  <a:lumMod val="40000"/>
                  <a:lumOff val="60000"/>
                </a:schemeClr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ko-KR" sz="2400" cap="none" dirty="0"/>
              <a:t>2026 Fall</a:t>
            </a:r>
          </a:p>
          <a:p>
            <a:r>
              <a:rPr lang="ko-KR" altLang="en-US" cap="none" dirty="0"/>
              <a:t>조 상구 교수</a:t>
            </a:r>
            <a:endParaRPr lang="en-US" altLang="ko-KR" cap="none" dirty="0"/>
          </a:p>
          <a:p>
            <a:r>
              <a:rPr lang="ko-KR" altLang="en-US" cap="none" dirty="0"/>
              <a:t>소프트웨어융합과 </a:t>
            </a:r>
            <a:r>
              <a:rPr lang="en-US" altLang="ko-KR" cap="none" dirty="0"/>
              <a:t>AI</a:t>
            </a:r>
            <a:r>
              <a:rPr lang="ko-KR" altLang="en-US" cap="none" dirty="0"/>
              <a:t> 빅데이터 전공 </a:t>
            </a:r>
            <a:endParaRPr lang="en-US" altLang="ko-KR" cap="none" dirty="0"/>
          </a:p>
          <a:p>
            <a:r>
              <a:rPr lang="ko-KR" altLang="en-US" cap="none" dirty="0"/>
              <a:t>경복대학교</a:t>
            </a:r>
            <a:endParaRPr lang="ko-KR" altLang="en-US" sz="3200" cap="none" dirty="0"/>
          </a:p>
        </p:txBody>
      </p:sp>
    </p:spTree>
    <p:extLst>
      <p:ext uri="{BB962C8B-B14F-4D97-AF65-F5344CB8AC3E}">
        <p14:creationId xmlns:p14="http://schemas.microsoft.com/office/powerpoint/2010/main" val="28983045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6B1705-DDD4-EF8F-6BAB-D9603D8AF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B61C7723-F4B8-7401-549D-5D3B4F3F58B3}"/>
              </a:ext>
            </a:extLst>
          </p:cNvPr>
          <p:cNvSpPr txBox="1"/>
          <p:nvPr/>
        </p:nvSpPr>
        <p:spPr>
          <a:xfrm>
            <a:off x="742948" y="2000250"/>
            <a:ext cx="104013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를 쓸수록 지능이 올라가는 사람의 특징들 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(feat. </a:t>
            </a:r>
            <a:r>
              <a:rPr lang="ko-KR" altLang="en-US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과학적</a:t>
            </a:r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69741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9E3365-8B46-8DC7-B3DB-5804A1E6E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72210BF5-0ED4-818F-8132-C23B48801534}"/>
              </a:ext>
            </a:extLst>
          </p:cNvPr>
          <p:cNvSpPr/>
          <p:nvPr/>
        </p:nvSpPr>
        <p:spPr>
          <a:xfrm>
            <a:off x="1104900" y="149869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F4036B7A-1839-8911-31B1-8ACD94E17A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3C31064-70EE-FA5B-F370-E6D2F42FE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6350157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35A7F-4DF6-4C75-04F9-B1D6A23C9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7CF6C34-DB60-FD41-194F-1665B9CD67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9600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Agent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5736A1-7F3D-8DB7-7510-96902538B8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9745" y="2105025"/>
            <a:ext cx="5776911" cy="3615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B0C3D7D6-CC9A-5C17-F412-7C8E166F05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450" y="962799"/>
            <a:ext cx="3458583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2025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생성형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</a:t>
            </a:r>
          </a:p>
        </p:txBody>
      </p:sp>
      <p:pic>
        <p:nvPicPr>
          <p:cNvPr id="7" name="그래픽 6" descr="조금 굽은 화살표">
            <a:extLst>
              <a:ext uri="{FF2B5EF4-FFF2-40B4-BE49-F238E27FC236}">
                <a16:creationId xmlns:a16="http://schemas.microsoft.com/office/drawing/2014/main" id="{6D08B07E-E568-4C06-9AE5-18B95B5B1B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29100" y="562749"/>
            <a:ext cx="1542276" cy="1542276"/>
          </a:xfrm>
          <a:prstGeom prst="rect">
            <a:avLst/>
          </a:prstGeom>
        </p:spPr>
      </p:pic>
      <p:pic>
        <p:nvPicPr>
          <p:cNvPr id="9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C581AC35-CA43-BB4F-0F55-93744C53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0049" y="2105025"/>
            <a:ext cx="4239101" cy="2457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슬라이드 번호 개체 틀 7">
            <a:extLst>
              <a:ext uri="{FF2B5EF4-FFF2-40B4-BE49-F238E27FC236}">
                <a16:creationId xmlns:a16="http://schemas.microsoft.com/office/drawing/2014/main" id="{01A55B55-9C08-C924-2998-E8492F46D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888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39CAD-391B-1A5A-7C6C-CA0F06718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3F9BE6-163C-A512-962D-1615DEE8E4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7631" y="591324"/>
            <a:ext cx="6320844" cy="5386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2026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년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AI </a:t>
            </a:r>
            <a:r>
              <a:rPr kumimoji="0" lang="ko-KR" altLang="en-US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기술 </a:t>
            </a:r>
            <a:r>
              <a:rPr kumimoji="0" lang="en-US" altLang="ko-KR" sz="3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ea typeface="D2Coding" panose="020B0609020101020101" pitchFamily="49" charset="-127"/>
              </a:rPr>
              <a:t>Trend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BF1CCBAC-7B45-46C7-EFAE-DE36943092A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6560485"/>
              </p:ext>
            </p:extLst>
          </p:nvPr>
        </p:nvGraphicFramePr>
        <p:xfrm>
          <a:off x="655637" y="1400949"/>
          <a:ext cx="10460038" cy="2647176"/>
        </p:xfrm>
        <a:graphic>
          <a:graphicData uri="http://schemas.openxmlformats.org/drawingml/2006/table">
            <a:tbl>
              <a:tblPr>
                <a:tableStyleId>{5DA37D80-6434-44D0-A028-1B22A696006F}</a:tableStyleId>
              </a:tblPr>
              <a:tblGrid>
                <a:gridCol w="3515835">
                  <a:extLst>
                    <a:ext uri="{9D8B030D-6E8A-4147-A177-3AD203B41FA5}">
                      <a16:colId xmlns:a16="http://schemas.microsoft.com/office/drawing/2014/main" val="2308711996"/>
                    </a:ext>
                  </a:extLst>
                </a:gridCol>
                <a:gridCol w="6944203">
                  <a:extLst>
                    <a:ext uri="{9D8B030D-6E8A-4147-A177-3AD203B41FA5}">
                      <a16:colId xmlns:a16="http://schemas.microsoft.com/office/drawing/2014/main" val="1497260062"/>
                    </a:ext>
                  </a:extLst>
                </a:gridCol>
              </a:tblGrid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트렌드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핵심 내용</a:t>
                      </a:r>
                    </a:p>
                  </a:txBody>
                  <a:tcPr anchor="ctr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525987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1. AI Agent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단순히 질문에 답하는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넘어 스스로 계획하고 실행하는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등장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00327801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2.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Multimodal 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텍스트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이미지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음성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영상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센서 데이터를 동시에 이해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5031982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3. SLM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과 </a:t>
                      </a:r>
                      <a:r>
                        <a:rPr lang="ko-KR" altLang="en-US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온디바이스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거대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뿐 아니라 스마트폰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로봇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자동차에서 동작하는 경량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확산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610667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4. Domain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 중심의</a:t>
                      </a:r>
                      <a:r>
                        <a:rPr lang="en-US" alt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AI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활용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 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전문가보다 </a:t>
                      </a: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를 활용하는 도메인 전문가 가치 증가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41717034"/>
                  </a:ext>
                </a:extLst>
              </a:tr>
              <a:tr h="4411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5. AI Native </a:t>
                      </a:r>
                      <a:r>
                        <a:rPr lang="ko-KR" altLang="en-US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시대 도래</a:t>
                      </a:r>
                      <a:endParaRPr lang="ko-KR" alt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</a:t>
                      </a:r>
                      <a:r>
                        <a:rPr lang="ko-KR" altLang="en-US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가 업무 보조가 아니라 업무 수행의 기본 인프라가 됨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14591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98C7537A-3D69-AECB-B755-133564319E94}"/>
              </a:ext>
            </a:extLst>
          </p:cNvPr>
          <p:cNvSpPr txBox="1"/>
          <p:nvPr/>
        </p:nvSpPr>
        <p:spPr>
          <a:xfrm>
            <a:off x="4337341" y="4584115"/>
            <a:ext cx="709424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'AI</a:t>
            </a:r>
            <a:r>
              <a:rPr lang="ko-KR" altLang="en-US" dirty="0">
                <a:ea typeface="D2Coding" panose="020B0609020101020101" pitchFamily="49" charset="-127"/>
              </a:rPr>
              <a:t>를 활용한 업무 설계 및 문제 해결 능력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중심으로 전환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다양한 데이터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과 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산업현장 맞춤형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역량</a:t>
            </a:r>
            <a:r>
              <a:rPr lang="en-US" altLang="ko-KR" dirty="0">
                <a:ea typeface="D2Coding" panose="020B0609020101020101" pitchFamily="49" charset="-127"/>
              </a:rPr>
              <a:t>' </a:t>
            </a:r>
            <a:r>
              <a:rPr lang="ko-KR" altLang="en-US" dirty="0">
                <a:ea typeface="D2Coding" panose="020B0609020101020101" pitchFamily="49" charset="-127"/>
              </a:rPr>
              <a:t>강화</a:t>
            </a: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dirty="0"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전공 지식과 </a:t>
            </a:r>
            <a:r>
              <a:rPr lang="en-US" altLang="ko-KR" dirty="0">
                <a:ea typeface="D2Coding" panose="020B0609020101020101" pitchFamily="49" charset="-127"/>
              </a:rPr>
              <a:t>AI </a:t>
            </a:r>
            <a:r>
              <a:rPr lang="ko-KR" altLang="en-US" dirty="0">
                <a:ea typeface="D2Coding" panose="020B0609020101020101" pitchFamily="49" charset="-127"/>
              </a:rPr>
              <a:t>기술의 필수적인 융합 교육</a:t>
            </a:r>
            <a:r>
              <a:rPr lang="en-US" altLang="ko-KR" dirty="0">
                <a:ea typeface="D2Coding" panose="020B0609020101020101" pitchFamily="49" charset="-127"/>
              </a:rPr>
              <a:t>'</a:t>
            </a:r>
            <a:r>
              <a:rPr lang="ko-KR" altLang="en-US" dirty="0">
                <a:ea typeface="D2Coding" panose="020B0609020101020101" pitchFamily="49" charset="-127"/>
              </a:rPr>
              <a:t>이 실현</a:t>
            </a: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ko-KR" altLang="en-US" dirty="0">
              <a:ea typeface="D2Coding" panose="020B0609020101020101" pitchFamily="49" charset="-127"/>
            </a:endParaRPr>
          </a:p>
        </p:txBody>
      </p:sp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DEE140B5-3AA1-2578-BC96-74F27122D290}"/>
              </a:ext>
            </a:extLst>
          </p:cNvPr>
          <p:cNvSpPr/>
          <p:nvPr/>
        </p:nvSpPr>
        <p:spPr>
          <a:xfrm>
            <a:off x="2067215" y="4650790"/>
            <a:ext cx="1620838" cy="1257300"/>
          </a:xfrm>
          <a:prstGeom prst="rightArrow">
            <a:avLst>
              <a:gd name="adj1" fmla="val 69697"/>
              <a:gd name="adj2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영향</a:t>
            </a:r>
          </a:p>
        </p:txBody>
      </p:sp>
      <p:sp>
        <p:nvSpPr>
          <p:cNvPr id="4" name="슬라이드 번호 개체 틀 7">
            <a:extLst>
              <a:ext uri="{FF2B5EF4-FFF2-40B4-BE49-F238E27FC236}">
                <a16:creationId xmlns:a16="http://schemas.microsoft.com/office/drawing/2014/main" id="{F9507C2B-7BD9-5C5B-F9ED-4F7E543E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02111984F565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7124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E5465-0296-58A4-1609-BC499EAA4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1BDD706-3BEF-315C-7A5B-9ACDA8062DD8}"/>
              </a:ext>
            </a:extLst>
          </p:cNvPr>
          <p:cNvSpPr/>
          <p:nvPr/>
        </p:nvSpPr>
        <p:spPr>
          <a:xfrm>
            <a:off x="1104900" y="21654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65B2D2-DBE0-432F-23E6-60D3E3A6ED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F020FC3-9A7D-CA21-9CC1-2714D64B4D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1476702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2B19C-A0CB-1C03-E942-FDEE22652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0D59C107-F17B-9522-C972-A56F19675E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8229" y="1321458"/>
            <a:ext cx="9994572" cy="4439262"/>
          </a:xfrm>
        </p:spPr>
        <p:txBody>
          <a:bodyPr>
            <a:normAutofit/>
          </a:bodyPr>
          <a:lstStyle/>
          <a:p>
            <a:pPr marL="0" indent="0">
              <a:lnSpc>
                <a:spcPct val="200000"/>
              </a:lnSpc>
              <a:buClr>
                <a:srgbClr val="FFC000"/>
              </a:buClr>
              <a:buNone/>
            </a:pPr>
            <a:r>
              <a:rPr lang="en-US" altLang="ko-KR" sz="2800" dirty="0">
                <a:latin typeface="+mn-l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r>
              <a:rPr lang="ko-KR" altLang="en-US" sz="2800" dirty="0">
                <a:latin typeface="+mn-lt"/>
              </a:rPr>
              <a:t>는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개인</a:t>
            </a:r>
            <a:r>
              <a:rPr lang="en-US" altLang="ko-KR" sz="2800" dirty="0">
                <a:latin typeface="+mn-lt"/>
              </a:rPr>
              <a:t> </a:t>
            </a:r>
            <a:r>
              <a:rPr lang="ko-KR" altLang="en-US" sz="2800" dirty="0">
                <a:latin typeface="+mn-lt"/>
              </a:rPr>
              <a:t>역량</a:t>
            </a:r>
            <a:r>
              <a:rPr lang="en-US" altLang="ko-KR" sz="2800" dirty="0">
                <a:latin typeface="+mn-lt"/>
              </a:rPr>
              <a:t>(competencies ) :</a:t>
            </a: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기술을 비판적으로 평가하고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와 효과적으로 소통하고 협업하며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,</a:t>
            </a:r>
            <a:endParaRPr lang="en-US" altLang="ko-KR" sz="2400" dirty="0">
              <a:latin typeface="+mn-lt"/>
            </a:endParaRPr>
          </a:p>
          <a:p>
            <a:pPr marL="914400" lvl="1" indent="-457200">
              <a:lnSpc>
                <a:spcPct val="200000"/>
              </a:lnSpc>
              <a:buClr>
                <a:srgbClr val="FFC000"/>
              </a:buClr>
              <a:buFont typeface="+mj-lt"/>
              <a:buAutoNum type="arabicParenR"/>
            </a:pP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가정 및 직장에서 </a:t>
            </a:r>
            <a:r>
              <a:rPr lang="en-US" altLang="ko-KR" sz="2400" dirty="0">
                <a:latin typeface="+mn-lt"/>
                <a:ea typeface="D2Coding" panose="020B0609020101020101" pitchFamily="49" charset="-127"/>
              </a:rPr>
              <a:t>AI</a:t>
            </a:r>
            <a:r>
              <a:rPr lang="ko-KR" altLang="en-US" sz="2400" dirty="0">
                <a:latin typeface="+mn-lt"/>
                <a:ea typeface="D2Coding" panose="020B0609020101020101" pitchFamily="49" charset="-127"/>
              </a:rPr>
              <a:t>를 도구로 사용할 수 있는 역량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7619B255-3DEB-799D-160F-BF51B59DF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48761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1DE87-18C1-4A10-0DE4-7C7455CCC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AB387351-8197-8E76-6BD6-4BEFA7A74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Literacy</a:t>
            </a:r>
            <a:endParaRPr lang="ko-KR" altLang="en-US" b="1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C9A12E8-488F-3C2C-F0A7-31AB22F75F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8</a:t>
            </a:fld>
            <a:endParaRPr lang="en-US" dirty="0"/>
          </a:p>
        </p:txBody>
      </p:sp>
      <p:pic>
        <p:nvPicPr>
          <p:cNvPr id="10" name="그래픽 9" descr="실행">
            <a:extLst>
              <a:ext uri="{FF2B5EF4-FFF2-40B4-BE49-F238E27FC236}">
                <a16:creationId xmlns:a16="http://schemas.microsoft.com/office/drawing/2014/main" id="{D9816C35-8601-DC34-18BB-C496603BBB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022823" y="1740039"/>
            <a:ext cx="1688960" cy="1688960"/>
          </a:xfrm>
          <a:prstGeom prst="rect">
            <a:avLst/>
          </a:prstGeom>
        </p:spPr>
      </p:pic>
      <p:pic>
        <p:nvPicPr>
          <p:cNvPr id="1026" name="Picture 2" descr="▲Chatgpt , Gemini 외의 대화형 생성 AI는 생소하다. &quot;한국형 AI&quot;  네이버 Clova X,  카카오 AskUp, 뤼튼 Wrtn도 애정을 가지고 활용해보자..">
            <a:extLst>
              <a:ext uri="{FF2B5EF4-FFF2-40B4-BE49-F238E27FC236}">
                <a16:creationId xmlns:a16="http://schemas.microsoft.com/office/drawing/2014/main" id="{F5E219D3-0BC1-AEB4-C1AD-A518CC4F00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040457"/>
            <a:ext cx="4977170" cy="28853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십자형 10">
            <a:extLst>
              <a:ext uri="{FF2B5EF4-FFF2-40B4-BE49-F238E27FC236}">
                <a16:creationId xmlns:a16="http://schemas.microsoft.com/office/drawing/2014/main" id="{00F4E7D9-7E53-71CA-3BF0-42FC1849E503}"/>
              </a:ext>
            </a:extLst>
          </p:cNvPr>
          <p:cNvSpPr/>
          <p:nvPr/>
        </p:nvSpPr>
        <p:spPr>
          <a:xfrm rot="2797774">
            <a:off x="4301866" y="2927253"/>
            <a:ext cx="964781" cy="964496"/>
          </a:xfrm>
          <a:prstGeom prst="plus">
            <a:avLst>
              <a:gd name="adj" fmla="val 39483"/>
            </a:avLst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기는 아기">
            <a:extLst>
              <a:ext uri="{FF2B5EF4-FFF2-40B4-BE49-F238E27FC236}">
                <a16:creationId xmlns:a16="http://schemas.microsoft.com/office/drawing/2014/main" id="{FBF4451E-6A2F-DCC4-B4A2-F6BFBFBF487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257703" y="4150961"/>
            <a:ext cx="1301680" cy="13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5439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F87B5-1A89-D3F8-3C70-DED895D1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623EF3D5-91C3-8814-1048-E29B81F18A08}"/>
              </a:ext>
            </a:extLst>
          </p:cNvPr>
          <p:cNvSpPr/>
          <p:nvPr/>
        </p:nvSpPr>
        <p:spPr>
          <a:xfrm>
            <a:off x="1104900" y="2841721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3CAA8B2-B23D-7FB1-3069-7C9FADA91A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D79E083-24E4-3ABC-B0F4-41E2DAE794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  <a:p>
            <a:pPr>
              <a:lnSpc>
                <a:spcPct val="150000"/>
              </a:lnSpc>
              <a:buSzPct val="100000"/>
            </a:pPr>
            <a:endParaRPr lang="ko-KR" altLang="en-US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130864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EB39CB-29A8-D30A-CCE8-BFC53D818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1DC10F64-F249-B0BF-30B8-1D6290B0A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908" y="679572"/>
            <a:ext cx="9970441" cy="1078842"/>
          </a:xfrm>
        </p:spPr>
        <p:txBody>
          <a:bodyPr>
            <a:normAutofit/>
          </a:bodyPr>
          <a:lstStyle/>
          <a:p>
            <a:pPr>
              <a:lnSpc>
                <a:spcPct val="17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+mn-lt"/>
                <a:ea typeface="D2Coding" panose="020B0609020101020101" pitchFamily="49" charset="-127"/>
              </a:rPr>
              <a:t>머신러닝이전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 시대에는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관측된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을 사람이 직접 궁리하고 발견하여 새로운 데이터를 예측 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+mn-lt"/>
                <a:ea typeface="D2Coding" panose="020B0609020101020101" pitchFamily="49" charset="-127"/>
              </a:rPr>
              <a:t>귀납법</a:t>
            </a:r>
            <a:r>
              <a:rPr lang="en-US" altLang="ko-KR" dirty="0">
                <a:latin typeface="+mn-lt"/>
                <a:ea typeface="D2Coding" panose="020B0609020101020101" pitchFamily="49" charset="-127"/>
              </a:rPr>
              <a:t>)</a:t>
            </a:r>
            <a:endParaRPr lang="en-US" altLang="ko-KR" sz="1400" dirty="0">
              <a:latin typeface="+mn-lt"/>
              <a:ea typeface="D2Coding" panose="020B0609020101020101" pitchFamily="49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FE32C0B-E627-1492-21C2-F2E2E347D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10</a:t>
            </a:fld>
            <a:endParaRPr lang="en-US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A43203B-3F4D-82D3-E6A0-3CFC22A8DF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217" y="2261017"/>
            <a:ext cx="3420004" cy="37159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9046B17-37E0-4F85-CF1F-E2D0D2435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998" y="2261017"/>
            <a:ext cx="4582787" cy="22101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16733E6-D0A6-586E-F781-8DD0117624C1}"/>
              </a:ext>
            </a:extLst>
          </p:cNvPr>
          <p:cNvSpPr txBox="1"/>
          <p:nvPr/>
        </p:nvSpPr>
        <p:spPr>
          <a:xfrm>
            <a:off x="860423" y="4520705"/>
            <a:ext cx="41021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방대하고 정밀한 데이터들을 직접 수년간 궁리하고 계산</a:t>
            </a:r>
            <a:r>
              <a:rPr lang="en-US" altLang="ko-KR" sz="1200" dirty="0"/>
              <a:t>(</a:t>
            </a:r>
            <a:r>
              <a:rPr lang="ko-KR" altLang="en-US" sz="1200" dirty="0"/>
              <a:t>귀납법</a:t>
            </a:r>
            <a:r>
              <a:rPr lang="en-US" altLang="ko-KR" sz="1200" dirty="0"/>
              <a:t>)</a:t>
            </a:r>
            <a:r>
              <a:rPr lang="ko-KR" altLang="en-US" sz="1200" dirty="0"/>
              <a:t>한 끝에</a:t>
            </a:r>
            <a:r>
              <a:rPr lang="en-US" altLang="ko-KR" sz="1200" dirty="0"/>
              <a:t>, </a:t>
            </a:r>
            <a:r>
              <a:rPr lang="ko-KR" altLang="en-US" sz="1200" dirty="0"/>
              <a:t>행성이 원이 아닌 </a:t>
            </a:r>
            <a:r>
              <a:rPr lang="en-US" altLang="ko-KR" sz="1200" dirty="0"/>
              <a:t>'</a:t>
            </a:r>
            <a:r>
              <a:rPr lang="ko-KR" altLang="en-US" sz="1200" dirty="0"/>
              <a:t>타원 궤도</a:t>
            </a:r>
            <a:r>
              <a:rPr lang="en-US" altLang="ko-KR" sz="1200" dirty="0"/>
              <a:t>'</a:t>
            </a:r>
            <a:r>
              <a:rPr lang="ko-KR" altLang="en-US" sz="1200" dirty="0"/>
              <a:t>로 공전한다는 규칙성을 발견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65FD66-367E-4CF8-6DC4-51918DBDF02D}"/>
              </a:ext>
            </a:extLst>
          </p:cNvPr>
          <p:cNvSpPr txBox="1"/>
          <p:nvPr/>
        </p:nvSpPr>
        <p:spPr>
          <a:xfrm>
            <a:off x="6643410" y="6058772"/>
            <a:ext cx="38817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변광성의 밝기가 변하는 </a:t>
            </a:r>
            <a:r>
              <a:rPr lang="en-US" altLang="ko-KR" sz="1200" dirty="0"/>
              <a:t>'</a:t>
            </a:r>
            <a:r>
              <a:rPr lang="ko-KR" altLang="en-US" sz="1200" dirty="0"/>
              <a:t>주기</a:t>
            </a:r>
            <a:r>
              <a:rPr lang="en-US" altLang="ko-KR" sz="1200" dirty="0"/>
              <a:t>'</a:t>
            </a:r>
            <a:r>
              <a:rPr lang="ko-KR" altLang="en-US" sz="1200" dirty="0"/>
              <a:t>와 실제 별의 </a:t>
            </a:r>
            <a:r>
              <a:rPr lang="en-US" altLang="ko-KR" sz="1200" dirty="0"/>
              <a:t>'</a:t>
            </a:r>
            <a:r>
              <a:rPr lang="ko-KR" altLang="en-US" sz="1200" dirty="0"/>
              <a:t>밝기</a:t>
            </a:r>
            <a:r>
              <a:rPr lang="en-US" altLang="ko-KR" sz="1200" dirty="0"/>
              <a:t>(</a:t>
            </a:r>
            <a:r>
              <a:rPr lang="ko-KR" altLang="en-US" sz="1200" dirty="0"/>
              <a:t>광도</a:t>
            </a:r>
            <a:r>
              <a:rPr lang="en-US" altLang="ko-KR" sz="1200" dirty="0"/>
              <a:t>)' </a:t>
            </a:r>
            <a:r>
              <a:rPr lang="ko-KR" altLang="en-US" sz="1200" dirty="0"/>
              <a:t>사이에 일정한 선형적 관계</a:t>
            </a:r>
            <a:r>
              <a:rPr lang="en-US" altLang="ko-KR" sz="1200" dirty="0"/>
              <a:t>(</a:t>
            </a:r>
            <a:r>
              <a:rPr lang="ko-KR" altLang="en-US" sz="1200" dirty="0"/>
              <a:t>패턴</a:t>
            </a:r>
            <a:r>
              <a:rPr lang="en-US" altLang="ko-KR" sz="1200" dirty="0"/>
              <a:t>)</a:t>
            </a:r>
            <a:r>
              <a:rPr lang="ko-KR" altLang="en-US" sz="1200" dirty="0"/>
              <a:t>가 있음을 직접 발견</a:t>
            </a:r>
          </a:p>
        </p:txBody>
      </p:sp>
    </p:spTree>
    <p:extLst>
      <p:ext uri="{BB962C8B-B14F-4D97-AF65-F5344CB8AC3E}">
        <p14:creationId xmlns:p14="http://schemas.microsoft.com/office/powerpoint/2010/main" val="2762664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89F7D-60F0-C169-8829-01C8F6C7A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9482F125-32B2-400E-E458-E0980BA02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278" y="723232"/>
            <a:ext cx="9299247" cy="1095136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Clr>
                <a:srgbClr val="FFC000"/>
              </a:buClr>
              <a:buFont typeface="Wingdings" panose="05000000000000000000" pitchFamily="2" charset="2"/>
              <a:buChar char="v"/>
            </a:pP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과거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데이터에 존재하는 규칙성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(Patterns)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을 컴퓨터가 발견하게 하여 새로운 데이터를 예측하는 것이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Machine Learning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(New</a:t>
            </a:r>
            <a:r>
              <a:rPr lang="ko-KR" altLang="en-US" sz="1800" dirty="0"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1800" dirty="0">
                <a:latin typeface="+mn-lt"/>
                <a:ea typeface="D2Coding" panose="020B0609020101020101" pitchFamily="49" charset="-127"/>
              </a:rPr>
              <a:t>Paradigm)</a:t>
            </a: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8757285-31DC-BA9E-AB21-460B69252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86B95-670E-D3FF-A272-083E38C1053E}"/>
              </a:ext>
            </a:extLst>
          </p:cNvPr>
          <p:cNvSpPr/>
          <p:nvPr/>
        </p:nvSpPr>
        <p:spPr>
          <a:xfrm>
            <a:off x="4683760" y="2305685"/>
            <a:ext cx="2641600" cy="118872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Classical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Programming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F460C2E-420B-007D-0A66-5D8980373754}"/>
              </a:ext>
            </a:extLst>
          </p:cNvPr>
          <p:cNvSpPr/>
          <p:nvPr/>
        </p:nvSpPr>
        <p:spPr>
          <a:xfrm>
            <a:off x="4683760" y="4399280"/>
            <a:ext cx="2641600" cy="1188720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Machine </a:t>
            </a:r>
          </a:p>
          <a:p>
            <a:pPr algn="ctr"/>
            <a:r>
              <a:rPr lang="en-US" altLang="ko-KR" sz="2000" b="1" dirty="0">
                <a:solidFill>
                  <a:schemeClr val="bg1"/>
                </a:solidFill>
                <a:ea typeface="+mj-ea"/>
              </a:rPr>
              <a:t>Learning</a:t>
            </a:r>
            <a:endParaRPr lang="ko-KR" altLang="en-US" sz="2000" b="1" dirty="0">
              <a:solidFill>
                <a:schemeClr val="bg1"/>
              </a:solidFill>
              <a:ea typeface="+mj-ea"/>
            </a:endParaRPr>
          </a:p>
        </p:txBody>
      </p:sp>
      <p:pic>
        <p:nvPicPr>
          <p:cNvPr id="11" name="그래픽 10" descr="줄 화살표: 일자형">
            <a:extLst>
              <a:ext uri="{FF2B5EF4-FFF2-40B4-BE49-F238E27FC236}">
                <a16:creationId xmlns:a16="http://schemas.microsoft.com/office/drawing/2014/main" id="{09056CBC-03F5-03D5-ED50-D6ADD7E6D8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285365"/>
            <a:ext cx="701040" cy="701040"/>
          </a:xfrm>
          <a:prstGeom prst="rect">
            <a:avLst/>
          </a:prstGeom>
        </p:spPr>
      </p:pic>
      <p:pic>
        <p:nvPicPr>
          <p:cNvPr id="12" name="그래픽 11" descr="줄 화살표: 일자형">
            <a:extLst>
              <a:ext uri="{FF2B5EF4-FFF2-40B4-BE49-F238E27FC236}">
                <a16:creationId xmlns:a16="http://schemas.microsoft.com/office/drawing/2014/main" id="{88FF5411-4130-3777-7D53-1E224D37C9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2854326"/>
            <a:ext cx="701040" cy="701040"/>
          </a:xfrm>
          <a:prstGeom prst="rect">
            <a:avLst/>
          </a:prstGeom>
        </p:spPr>
      </p:pic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87088843-587D-1401-6690-C72E0ED6C3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2515975"/>
            <a:ext cx="701040" cy="70104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49BE911-9A4F-E3BA-8E49-B09C896D3772}"/>
              </a:ext>
            </a:extLst>
          </p:cNvPr>
          <p:cNvSpPr txBox="1"/>
          <p:nvPr/>
        </p:nvSpPr>
        <p:spPr>
          <a:xfrm>
            <a:off x="2466983" y="2385180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150AB2-2227-53AF-DD6D-436584B1B6E1}"/>
              </a:ext>
            </a:extLst>
          </p:cNvPr>
          <p:cNvSpPr txBox="1"/>
          <p:nvPr/>
        </p:nvSpPr>
        <p:spPr>
          <a:xfrm>
            <a:off x="2466983" y="3023474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3B341-3B7F-88C1-9D36-F37088448565}"/>
              </a:ext>
            </a:extLst>
          </p:cNvPr>
          <p:cNvSpPr txBox="1"/>
          <p:nvPr/>
        </p:nvSpPr>
        <p:spPr>
          <a:xfrm>
            <a:off x="8649500" y="2640968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Answer</a:t>
            </a:r>
            <a:endParaRPr lang="ko-KR" altLang="en-US" sz="2000" dirty="0">
              <a:ea typeface="+mj-ea"/>
            </a:endParaRPr>
          </a:p>
        </p:txBody>
      </p:sp>
      <p:pic>
        <p:nvPicPr>
          <p:cNvPr id="21" name="그래픽 20" descr="줄 화살표: 일자형">
            <a:extLst>
              <a:ext uri="{FF2B5EF4-FFF2-40B4-BE49-F238E27FC236}">
                <a16:creationId xmlns:a16="http://schemas.microsoft.com/office/drawing/2014/main" id="{C8335104-6DF7-9D56-5664-2071F7A995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368800"/>
            <a:ext cx="701040" cy="701040"/>
          </a:xfrm>
          <a:prstGeom prst="rect">
            <a:avLst/>
          </a:prstGeom>
        </p:spPr>
      </p:pic>
      <p:pic>
        <p:nvPicPr>
          <p:cNvPr id="22" name="그래픽 21" descr="줄 화살표: 일자형">
            <a:extLst>
              <a:ext uri="{FF2B5EF4-FFF2-40B4-BE49-F238E27FC236}">
                <a16:creationId xmlns:a16="http://schemas.microsoft.com/office/drawing/2014/main" id="{BE0C5C2E-828A-9865-FF5F-8C6ABFF95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3664901" y="4937761"/>
            <a:ext cx="701040" cy="701040"/>
          </a:xfrm>
          <a:prstGeom prst="rect">
            <a:avLst/>
          </a:prstGeom>
        </p:spPr>
      </p:pic>
      <p:pic>
        <p:nvPicPr>
          <p:cNvPr id="23" name="그래픽 22" descr="줄 화살표: 일자형">
            <a:extLst>
              <a:ext uri="{FF2B5EF4-FFF2-40B4-BE49-F238E27FC236}">
                <a16:creationId xmlns:a16="http://schemas.microsoft.com/office/drawing/2014/main" id="{9FC00F16-A2DA-3008-8AAE-8B25695D1A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0800000">
            <a:off x="7643179" y="4599410"/>
            <a:ext cx="701040" cy="70104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60011B80-7168-1EB9-CD9E-A16AC80B4122}"/>
              </a:ext>
            </a:extLst>
          </p:cNvPr>
          <p:cNvSpPr txBox="1"/>
          <p:nvPr/>
        </p:nvSpPr>
        <p:spPr>
          <a:xfrm>
            <a:off x="2466983" y="4468615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Answer</a:t>
            </a:r>
            <a:endParaRPr lang="ko-KR" altLang="en-US" sz="2000" dirty="0"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8209D8-FE31-F600-8EDD-F6DD758FA4B8}"/>
              </a:ext>
            </a:extLst>
          </p:cNvPr>
          <p:cNvSpPr txBox="1"/>
          <p:nvPr/>
        </p:nvSpPr>
        <p:spPr>
          <a:xfrm>
            <a:off x="2466983" y="5106909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+mj-ea"/>
              </a:rPr>
              <a:t>Data</a:t>
            </a:r>
            <a:endParaRPr lang="ko-KR" altLang="en-US" sz="2000" dirty="0"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BA574E-16F2-5E7D-6791-9DF613B23231}"/>
              </a:ext>
            </a:extLst>
          </p:cNvPr>
          <p:cNvSpPr txBox="1"/>
          <p:nvPr/>
        </p:nvSpPr>
        <p:spPr>
          <a:xfrm>
            <a:off x="8649500" y="4724403"/>
            <a:ext cx="119791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b="1" dirty="0">
                <a:ea typeface="+mj-ea"/>
              </a:rPr>
              <a:t>Rules</a:t>
            </a:r>
            <a:endParaRPr lang="ko-KR" altLang="en-US" sz="2000" b="1" dirty="0"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463444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55D84-9CA0-9A89-9AE8-5048EF8C2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F684C827-6112-6784-ADED-E4B41E9CC4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54453" y="1971006"/>
            <a:ext cx="10213647" cy="3743993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 err="1">
                <a:latin typeface="+mn-lt"/>
              </a:rPr>
              <a:t>머신러닝</a:t>
            </a:r>
            <a:r>
              <a:rPr lang="ko-KR" altLang="en-US" sz="2400" dirty="0">
                <a:latin typeface="+mn-lt"/>
              </a:rPr>
              <a:t> 시대의 인간은 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규칙을 계산하는 계산원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이 아니라</a:t>
            </a:r>
            <a:r>
              <a:rPr lang="en-US" altLang="ko-KR" sz="2400" dirty="0">
                <a:latin typeface="+mn-lt"/>
              </a:rPr>
              <a:t>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문제를 올바르게 정의하고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출발점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en-US" altLang="ko-KR" sz="2400" dirty="0">
                <a:latin typeface="+mn-lt"/>
              </a:rPr>
              <a:t>AI</a:t>
            </a:r>
            <a:r>
              <a:rPr lang="ko-KR" altLang="en-US" sz="2400" dirty="0">
                <a:latin typeface="+mn-lt"/>
              </a:rPr>
              <a:t>의 결과를 비판적으로 검증하며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과정</a:t>
            </a:r>
            <a:r>
              <a:rPr lang="en-US" altLang="ko-KR" sz="2400" dirty="0">
                <a:latin typeface="+mn-lt"/>
              </a:rPr>
              <a:t>), </a:t>
            </a:r>
          </a:p>
          <a:p>
            <a:pPr marL="0" indent="0">
              <a:lnSpc>
                <a:spcPct val="150000"/>
              </a:lnSpc>
              <a:buClr>
                <a:srgbClr val="FFC000"/>
              </a:buClr>
              <a:buNone/>
            </a:pPr>
            <a:r>
              <a:rPr lang="ko-KR" altLang="en-US" sz="2400" dirty="0">
                <a:latin typeface="+mn-lt"/>
              </a:rPr>
              <a:t>이를 윤리적이고 가치 있게 세상에 적용하는</a:t>
            </a:r>
            <a:r>
              <a:rPr lang="en-US" altLang="ko-KR" sz="2400" dirty="0">
                <a:latin typeface="+mn-lt"/>
              </a:rPr>
              <a:t>(</a:t>
            </a:r>
            <a:r>
              <a:rPr lang="ko-KR" altLang="en-US" sz="2400" dirty="0">
                <a:latin typeface="+mn-lt"/>
              </a:rPr>
              <a:t>도착점</a:t>
            </a:r>
            <a:r>
              <a:rPr lang="en-US" altLang="ko-KR" sz="2400" dirty="0">
                <a:latin typeface="+mn-lt"/>
              </a:rPr>
              <a:t>) '</a:t>
            </a:r>
            <a:r>
              <a:rPr lang="ko-KR" altLang="en-US" sz="2400" dirty="0">
                <a:latin typeface="+mn-lt"/>
              </a:rPr>
              <a:t>감독관이자 설계자</a:t>
            </a:r>
            <a:r>
              <a:rPr lang="en-US" altLang="ko-KR" sz="2400" dirty="0">
                <a:latin typeface="+mn-lt"/>
              </a:rPr>
              <a:t>'</a:t>
            </a:r>
            <a:r>
              <a:rPr lang="ko-KR" altLang="en-US" sz="2400" dirty="0">
                <a:latin typeface="+mn-lt"/>
              </a:rPr>
              <a:t>로서의 역량이 필요</a:t>
            </a:r>
            <a:endParaRPr lang="en-US" altLang="ko-KR" sz="2400" dirty="0"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807ABBE-926F-4674-3DF9-5C66AEAB7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99213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4C482E-F37B-B678-C5D1-F9772C34B9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030FC98-3D23-ED2E-9EC4-CB3098C3A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13</a:t>
            </a:fld>
            <a:endParaRPr lang="en-US" dirty="0"/>
          </a:p>
        </p:txBody>
      </p:sp>
      <p:pic>
        <p:nvPicPr>
          <p:cNvPr id="2" name="Picture 2" descr="아기가 부모를 알아보는 시기는 언제일까?">
            <a:extLst>
              <a:ext uri="{FF2B5EF4-FFF2-40B4-BE49-F238E27FC236}">
                <a16:creationId xmlns:a16="http://schemas.microsoft.com/office/drawing/2014/main" id="{3AC7B627-77E3-1217-FF4B-1F06205BFB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5383" y="2490937"/>
            <a:ext cx="4607639" cy="3068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DC40886-4069-981E-A8D7-A1350274B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8980" y="2490937"/>
            <a:ext cx="4743582" cy="306868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9237E07-93B0-6B8B-E648-59C25C7967F5}"/>
              </a:ext>
            </a:extLst>
          </p:cNvPr>
          <p:cNvSpPr txBox="1"/>
          <p:nvPr/>
        </p:nvSpPr>
        <p:spPr>
          <a:xfrm>
            <a:off x="1910080" y="1963712"/>
            <a:ext cx="11074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Human</a:t>
            </a:r>
            <a:endParaRPr lang="ko-KR" altLang="en-US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0B54C-2C31-787C-E855-B061F83F6C39}"/>
              </a:ext>
            </a:extLst>
          </p:cNvPr>
          <p:cNvSpPr txBox="1"/>
          <p:nvPr/>
        </p:nvSpPr>
        <p:spPr>
          <a:xfrm>
            <a:off x="8004451" y="1963712"/>
            <a:ext cx="20726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/>
              <a:t>Deep</a:t>
            </a:r>
            <a:r>
              <a:rPr lang="ko-KR" altLang="en-US" sz="2000" dirty="0"/>
              <a:t> </a:t>
            </a:r>
            <a:r>
              <a:rPr lang="en-US" altLang="ko-KR" sz="2000" dirty="0"/>
              <a:t>Learning</a:t>
            </a:r>
            <a:endParaRPr lang="ko-KR" altLang="en-US" sz="2000" dirty="0"/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89398C86-972C-45A1-5439-DD236129E9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+mn-lt"/>
                <a:cs typeface="Times New Roman" panose="02020603050405020304" pitchFamily="18" charset="0"/>
              </a:rPr>
              <a:t>How to classify 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29632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88379-B0F0-E75F-55B5-46A9B2033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01BF6F47-E1D7-3404-6D26-B63F40AA3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1CAE8AD-8B03-DB93-B617-909AAC92E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14</a:t>
            </a:fld>
            <a:endParaRPr lang="en-US" dirty="0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810CAA31-8D8A-5DC1-2D9F-A0DABDC7E4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343566"/>
            <a:ext cx="5800377" cy="4677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B7762A-F77E-C397-01D9-B049ED94B47A}"/>
              </a:ext>
            </a:extLst>
          </p:cNvPr>
          <p:cNvSpPr txBox="1"/>
          <p:nvPr/>
        </p:nvSpPr>
        <p:spPr>
          <a:xfrm>
            <a:off x="9200620" y="1343566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회귀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C5F081-78EC-A7B8-D1D6-1CAEC7000201}"/>
              </a:ext>
            </a:extLst>
          </p:cNvPr>
          <p:cNvSpPr txBox="1"/>
          <p:nvPr/>
        </p:nvSpPr>
        <p:spPr>
          <a:xfrm>
            <a:off x="9306530" y="3888447"/>
            <a:ext cx="11433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(</a:t>
            </a:r>
            <a:r>
              <a:rPr lang="ko-KR" altLang="en-US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분류</a:t>
            </a:r>
            <a:r>
              <a:rPr lang="en-US" altLang="ko-KR" sz="2400" b="1" dirty="0">
                <a:solidFill>
                  <a:schemeClr val="bg1"/>
                </a:solidFill>
                <a:cs typeface="Times New Roman" panose="02020603050405020304" pitchFamily="18" charset="0"/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5830F44-5F9D-1CF1-6475-3DCD2B29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44" y="1343566"/>
            <a:ext cx="5537631" cy="4697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21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322E1-8746-1FA5-3263-79DB08BE5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6826FB85-6160-EEBB-0430-C6E64E5D70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Unsupervised Learning(</a:t>
            </a:r>
            <a:r>
              <a:rPr lang="ko-KR" altLang="en-US" b="1" dirty="0">
                <a:latin typeface="+mn-lt"/>
                <a:cs typeface="Times New Roman" panose="02020603050405020304" pitchFamily="18" charset="0"/>
              </a:rPr>
              <a:t>비지도학습</a:t>
            </a:r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)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D8A78BED-627D-BA03-659E-24AB85F20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15</a:t>
            </a:fld>
            <a:endParaRPr lang="en-US" dirty="0"/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379BF96-2686-6187-65D2-FFD8B245F4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2264" y="1852294"/>
            <a:ext cx="5698068" cy="4558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9E93246-86F7-392C-B5AA-61C126567EE0}"/>
              </a:ext>
            </a:extLst>
          </p:cNvPr>
          <p:cNvSpPr txBox="1"/>
          <p:nvPr/>
        </p:nvSpPr>
        <p:spPr>
          <a:xfrm>
            <a:off x="2353280" y="1318246"/>
            <a:ext cx="21615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b="1" dirty="0">
                <a:cs typeface="Times New Roman" panose="02020603050405020304" pitchFamily="18" charset="0"/>
              </a:rPr>
              <a:t>Cluster(</a:t>
            </a:r>
            <a:r>
              <a:rPr lang="ko-KR" altLang="en-US" sz="2400" b="1" dirty="0">
                <a:cs typeface="Times New Roman" panose="02020603050405020304" pitchFamily="18" charset="0"/>
              </a:rPr>
              <a:t>군집</a:t>
            </a:r>
            <a:r>
              <a:rPr lang="en-US" altLang="ko-KR" sz="2400" b="1" dirty="0">
                <a:cs typeface="Times New Roman" panose="02020603050405020304" pitchFamily="18" charset="0"/>
              </a:rPr>
              <a:t>)</a:t>
            </a:r>
            <a:endParaRPr lang="ko-KR" altLang="en-US" sz="240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D76D564-A2B8-4E91-EFC8-558B15068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668" y="1852294"/>
            <a:ext cx="5475257" cy="4584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1323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445DA-B985-E909-67B9-CDF34CB3A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6C068FA0-8481-998C-7B14-4E0D85155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5153" y="1305833"/>
            <a:ext cx="8625527" cy="46239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17C8E5A-5D44-779D-6463-18DE0C9253F9}"/>
              </a:ext>
            </a:extLst>
          </p:cNvPr>
          <p:cNvSpPr txBox="1"/>
          <p:nvPr/>
        </p:nvSpPr>
        <p:spPr>
          <a:xfrm>
            <a:off x="956535" y="642206"/>
            <a:ext cx="57080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notebook practice</a:t>
            </a:r>
            <a:endParaRPr lang="ko-KR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64916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2F456-AED1-0784-FC3B-942D158EB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1C40856-2080-C068-9DF9-679A90DA5B8D}"/>
              </a:ext>
            </a:extLst>
          </p:cNvPr>
          <p:cNvSpPr txBox="1"/>
          <p:nvPr/>
        </p:nvSpPr>
        <p:spPr>
          <a:xfrm>
            <a:off x="683490" y="994853"/>
            <a:ext cx="9301019" cy="253268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Python for Data Analysis</a:t>
            </a:r>
          </a:p>
          <a:p>
            <a:pPr marL="285750" indent="-285750">
              <a:lnSpc>
                <a:spcPct val="1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Python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r>
              <a:rPr lang="ko-KR" altLang="ko-KR" dirty="0"/>
              <a:t> </a:t>
            </a:r>
            <a:r>
              <a:rPr lang="ko-KR" altLang="ko-KR" dirty="0" err="1"/>
              <a:t>Handbook</a:t>
            </a:r>
            <a:r>
              <a:rPr lang="ko-KR" altLang="ko-KR" dirty="0"/>
              <a:t>: </a:t>
            </a: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Tools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</a:t>
            </a:r>
            <a:r>
              <a:rPr lang="ko-KR" altLang="ko-KR" dirty="0" err="1"/>
              <a:t>Working</a:t>
            </a:r>
            <a:r>
              <a:rPr lang="ko-KR" altLang="ko-KR" dirty="0"/>
              <a:t> </a:t>
            </a:r>
            <a:r>
              <a:rPr lang="ko-KR" altLang="ko-KR" dirty="0" err="1"/>
              <a:t>with</a:t>
            </a:r>
            <a:r>
              <a:rPr lang="ko-KR" altLang="ko-KR" dirty="0"/>
              <a:t> Data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Pandas</a:t>
            </a:r>
            <a:r>
              <a:rPr lang="en-US" altLang="ko-KR" dirty="0">
                <a:solidFill>
                  <a:srgbClr val="FFFF00"/>
                </a:solidFill>
              </a:rPr>
              <a:t>(Data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Wrangle) 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rgbClr val="FFFF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Scikit-learn</a:t>
            </a:r>
            <a:r>
              <a:rPr lang="en-US" altLang="ko-KR" dirty="0">
                <a:solidFill>
                  <a:srgbClr val="FFFF00"/>
                </a:solidFill>
              </a:rPr>
              <a:t>(Machine</a:t>
            </a:r>
            <a:r>
              <a:rPr lang="ko-KR" altLang="en-US" dirty="0">
                <a:solidFill>
                  <a:srgbClr val="FFFF00"/>
                </a:solidFill>
              </a:rPr>
              <a:t> </a:t>
            </a:r>
            <a:r>
              <a:rPr lang="en-US" altLang="ko-KR" dirty="0">
                <a:solidFill>
                  <a:srgbClr val="FFFF00"/>
                </a:solidFill>
              </a:rPr>
              <a:t>Learning)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rgbClr val="FFFF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FastAPI</a:t>
            </a:r>
            <a:endParaRPr lang="ko-KR" altLang="en-US" dirty="0">
              <a:solidFill>
                <a:srgbClr val="FFFF00"/>
              </a:solidFill>
            </a:endParaRPr>
          </a:p>
        </p:txBody>
      </p:sp>
      <p:pic>
        <p:nvPicPr>
          <p:cNvPr id="6" name="그림 5" descr="Book Cover">
            <a:extLst>
              <a:ext uri="{FF2B5EF4-FFF2-40B4-BE49-F238E27FC236}">
                <a16:creationId xmlns:a16="http://schemas.microsoft.com/office/drawing/2014/main" id="{00280AC7-27CD-813D-5E4B-57255155AF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86378" y="2853513"/>
            <a:ext cx="2726204" cy="3598878"/>
          </a:xfrm>
          <a:prstGeom prst="rect">
            <a:avLst/>
          </a:prstGeom>
        </p:spPr>
      </p:pic>
      <p:pic>
        <p:nvPicPr>
          <p:cNvPr id="3" name="그림 2" descr="Python for Data Analysis">
            <a:extLst>
              <a:ext uri="{FF2B5EF4-FFF2-40B4-BE49-F238E27FC236}">
                <a16:creationId xmlns:a16="http://schemas.microsoft.com/office/drawing/2014/main" id="{AAF088BE-BBAC-834F-753C-EE207C483F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4476" y="2853512"/>
            <a:ext cx="2743047" cy="359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4904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26D25-C39C-297A-5388-228EBE3B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E142856-8D62-CADC-1B2B-F9139F81F64D}"/>
              </a:ext>
            </a:extLst>
          </p:cNvPr>
          <p:cNvSpPr txBox="1"/>
          <p:nvPr/>
        </p:nvSpPr>
        <p:spPr>
          <a:xfrm>
            <a:off x="979053" y="957908"/>
            <a:ext cx="4839854" cy="244618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dirty="0" err="1"/>
              <a:t>Essential</a:t>
            </a:r>
            <a:r>
              <a:rPr lang="ko-KR" altLang="ko-KR" dirty="0"/>
              <a:t> </a:t>
            </a:r>
            <a:r>
              <a:rPr lang="ko-KR" altLang="ko-KR" dirty="0" err="1"/>
              <a:t>Math</a:t>
            </a:r>
            <a:r>
              <a:rPr lang="ko-KR" altLang="ko-KR" dirty="0"/>
              <a:t> </a:t>
            </a:r>
            <a:r>
              <a:rPr lang="ko-KR" altLang="ko-KR" dirty="0" err="1"/>
              <a:t>for</a:t>
            </a:r>
            <a:r>
              <a:rPr lang="ko-KR" altLang="ko-KR" dirty="0"/>
              <a:t> Data </a:t>
            </a:r>
            <a:r>
              <a:rPr lang="ko-KR" altLang="ko-KR" dirty="0" err="1"/>
              <a:t>Science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Linear Algebra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Basic calculus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Statistics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Probability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/>
              <a:t>Simulation</a:t>
            </a:r>
            <a:endParaRPr lang="ko-KR" altLang="ko-KR" sz="1600" dirty="0"/>
          </a:p>
        </p:txBody>
      </p:sp>
      <p:pic>
        <p:nvPicPr>
          <p:cNvPr id="4" name="그림 3" descr="Essential Math for Data Science [Book]">
            <a:extLst>
              <a:ext uri="{FF2B5EF4-FFF2-40B4-BE49-F238E27FC236}">
                <a16:creationId xmlns:a16="http://schemas.microsoft.com/office/drawing/2014/main" id="{555206F2-F1FC-1865-6E9C-8A12F888F6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7847" y="957908"/>
            <a:ext cx="3056370" cy="4009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22099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0153F-16C7-748C-F783-C532A61BE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1">
            <a:extLst>
              <a:ext uri="{FF2B5EF4-FFF2-40B4-BE49-F238E27FC236}">
                <a16:creationId xmlns:a16="http://schemas.microsoft.com/office/drawing/2014/main" id="{99CE90B8-75C0-B59B-FBB8-B7DD34F69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Deep </a:t>
            </a:r>
            <a:r>
              <a:rPr lang="en-US" altLang="ko-KR" b="1" dirty="0" err="1">
                <a:latin typeface="+mn-lt"/>
                <a:cs typeface="Times New Roman" panose="02020603050405020304" pitchFamily="18" charset="0"/>
              </a:rPr>
              <a:t>Learning</a:t>
            </a:r>
            <a:r>
              <a:rPr lang="en-US" altLang="ko-KR" sz="3200" b="1" dirty="0" err="1">
                <a:latin typeface="+mn-lt"/>
                <a:cs typeface="Times New Roman" panose="02020603050405020304" pitchFamily="18" charset="0"/>
              </a:rPr>
              <a:t>_how</a:t>
            </a:r>
            <a:r>
              <a:rPr lang="en-US" altLang="ko-KR" sz="3200" b="1" dirty="0">
                <a:latin typeface="+mn-lt"/>
                <a:cs typeface="Times New Roman" panose="02020603050405020304" pitchFamily="18" charset="0"/>
              </a:rPr>
              <a:t> to learn?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E2235D-A43D-7415-FE91-BE648204E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19</a:t>
            </a:fld>
            <a:endParaRPr lang="en-US" dirty="0"/>
          </a:p>
        </p:txBody>
      </p:sp>
      <p:pic>
        <p:nvPicPr>
          <p:cNvPr id="2" name="그림 1">
            <a:hlinkClick r:id="rId2"/>
            <a:extLst>
              <a:ext uri="{FF2B5EF4-FFF2-40B4-BE49-F238E27FC236}">
                <a16:creationId xmlns:a16="http://schemas.microsoft.com/office/drawing/2014/main" id="{B652CA2C-25BA-4D97-1A1A-0D71F4AC45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5534" y="1348552"/>
            <a:ext cx="8880719" cy="4999831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7A1C21-60E2-96BE-1490-7A8F393B4D42}"/>
              </a:ext>
            </a:extLst>
          </p:cNvPr>
          <p:cNvSpPr txBox="1"/>
          <p:nvPr/>
        </p:nvSpPr>
        <p:spPr>
          <a:xfrm>
            <a:off x="3210982" y="6348383"/>
            <a:ext cx="83893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https://www.youtube.com/watch?v=aircAruvnKk&amp;list=PLZHQObOWTQDNU6R1_67000Dx_ZCJB-3pi</a:t>
            </a:r>
            <a:r>
              <a:rPr lang="ko-KR" altLang="en-US" sz="1200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B41EFCE3-4B25-5327-400F-6F094507C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2087" y="1622081"/>
            <a:ext cx="1675932" cy="164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DD1FC4B4-4383-2C54-E75C-938D44A20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018" y="1348551"/>
            <a:ext cx="3707838" cy="3213924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0B1E103A-3B02-4BCF-B1FA-7E25E3E7EB62}"/>
              </a:ext>
            </a:extLst>
          </p:cNvPr>
          <p:cNvSpPr/>
          <p:nvPr/>
        </p:nvSpPr>
        <p:spPr>
          <a:xfrm>
            <a:off x="4252687" y="1728258"/>
            <a:ext cx="843986" cy="66251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ADF67FD-3150-733B-AB4E-DC4133CECA39}"/>
              </a:ext>
            </a:extLst>
          </p:cNvPr>
          <p:cNvCxnSpPr>
            <a:cxnSpLocks/>
          </p:cNvCxnSpPr>
          <p:nvPr/>
        </p:nvCxnSpPr>
        <p:spPr>
          <a:xfrm flipH="1" flipV="1">
            <a:off x="3861856" y="1319603"/>
            <a:ext cx="1234817" cy="394634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>
            <a:extLst>
              <a:ext uri="{FF2B5EF4-FFF2-40B4-BE49-F238E27FC236}">
                <a16:creationId xmlns:a16="http://schemas.microsoft.com/office/drawing/2014/main" id="{FEF892D3-7093-5D1A-355A-73EE10E488DF}"/>
              </a:ext>
            </a:extLst>
          </p:cNvPr>
          <p:cNvCxnSpPr>
            <a:cxnSpLocks/>
          </p:cNvCxnSpPr>
          <p:nvPr/>
        </p:nvCxnSpPr>
        <p:spPr>
          <a:xfrm flipH="1">
            <a:off x="3861856" y="2390775"/>
            <a:ext cx="1234817" cy="220064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3D78FFEF-A7A3-0EE4-C4A7-1AB34273502C}"/>
              </a:ext>
            </a:extLst>
          </p:cNvPr>
          <p:cNvSpPr txBox="1"/>
          <p:nvPr/>
        </p:nvSpPr>
        <p:spPr>
          <a:xfrm>
            <a:off x="3946408" y="3432968"/>
            <a:ext cx="167224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28 x 28 pixel</a:t>
            </a:r>
          </a:p>
          <a:p>
            <a:endParaRPr lang="en-US" altLang="ko-KR" sz="1600" b="1" dirty="0"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784 pixel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45125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F5E29-3325-DDA9-94E0-C37DAE8A40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3A6B3467-9A3A-1146-0E36-B8C6FF89A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20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96B0A45F-78D4-5488-697F-BCBCAA9D7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8937812" cy="3385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37EF5665-33F9-B25F-D9CB-DFD2F5A2F6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552354"/>
            <a:ext cx="8937812" cy="37904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20E0872F-FDAF-76DB-22F8-7B195997A5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93" y="1499713"/>
            <a:ext cx="9170349" cy="45896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D2826CD-001A-7C9F-4E5F-11E33E7B8FFE}"/>
              </a:ext>
            </a:extLst>
          </p:cNvPr>
          <p:cNvSpPr txBox="1"/>
          <p:nvPr/>
        </p:nvSpPr>
        <p:spPr>
          <a:xfrm>
            <a:off x="461669" y="638629"/>
            <a:ext cx="989087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Image</a:t>
            </a:r>
            <a:r>
              <a:rPr lang="ko-KR" altLang="en-US" sz="2000" dirty="0">
                <a:ea typeface="D2Coding" panose="020B0609020101020101" pitchFamily="49" charset="-127"/>
              </a:rPr>
              <a:t>를 분류</a:t>
            </a:r>
            <a:r>
              <a:rPr lang="en-US" altLang="ko-KR" sz="2000" dirty="0">
                <a:ea typeface="D2Coding" panose="020B0609020101020101" pitchFamily="49" charset="-127"/>
              </a:rPr>
              <a:t>(Classification) &amp; </a:t>
            </a:r>
            <a:r>
              <a:rPr lang="ko-KR" altLang="en-US" sz="2000" dirty="0">
                <a:ea typeface="D2Coding" panose="020B0609020101020101" pitchFamily="49" charset="-127"/>
              </a:rPr>
              <a:t>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 </a:t>
            </a:r>
            <a:r>
              <a:rPr lang="en-US" altLang="ko-KR" sz="2000" dirty="0">
                <a:solidFill>
                  <a:srgbClr val="FF0000"/>
                </a:solidFill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https://huggingface.co/spaces/Xenova/yolov10-web</a:t>
            </a:r>
            <a:endParaRPr lang="ko-KR" altLang="en-US" sz="2000" dirty="0">
              <a:solidFill>
                <a:srgbClr val="FF0000"/>
              </a:solidFill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6A8AFEA-6314-1673-E5BF-5B5D2ADB01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2403" y="1499713"/>
            <a:ext cx="5694427" cy="474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2210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74990-2EC9-3E6A-AA88-481CFA3FE0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C5DF0016-7076-7550-6854-D50813801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8DB1C0-D388-E4DC-7D8D-102601FFF86C}"/>
              </a:ext>
            </a:extLst>
          </p:cNvPr>
          <p:cNvSpPr txBox="1"/>
          <p:nvPr/>
        </p:nvSpPr>
        <p:spPr>
          <a:xfrm>
            <a:off x="461670" y="638629"/>
            <a:ext cx="92272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객체를</a:t>
            </a:r>
            <a:r>
              <a:rPr lang="en-US" altLang="ko-KR" sz="2000" dirty="0">
                <a:ea typeface="D2Coding" panose="020B0609020101020101" pitchFamily="49" charset="-127"/>
              </a:rPr>
              <a:t> </a:t>
            </a:r>
            <a:r>
              <a:rPr lang="ko-KR" altLang="en-US" sz="2000" dirty="0">
                <a:ea typeface="D2Coding" panose="020B0609020101020101" pitchFamily="49" charset="-127"/>
              </a:rPr>
              <a:t>탐지</a:t>
            </a:r>
            <a:r>
              <a:rPr lang="en-US" altLang="ko-KR" sz="2000" dirty="0">
                <a:ea typeface="D2Coding" panose="020B0609020101020101" pitchFamily="49" charset="-127"/>
              </a:rPr>
              <a:t>(Object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Detection)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FAB364-5581-D2DF-8F7A-D290B771F0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275" y="1689415"/>
            <a:ext cx="4200874" cy="4539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DDE3171-BD09-B89E-5980-4ED7ABC3EB1F}"/>
              </a:ext>
            </a:extLst>
          </p:cNvPr>
          <p:cNvSpPr txBox="1"/>
          <p:nvPr/>
        </p:nvSpPr>
        <p:spPr>
          <a:xfrm>
            <a:off x="6096000" y="1139612"/>
            <a:ext cx="48398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https://pjreddie.com/darknet/yolo/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CE2702-171C-32F2-1621-0572632CB79F}"/>
              </a:ext>
            </a:extLst>
          </p:cNvPr>
          <p:cNvSpPr txBox="1"/>
          <p:nvPr/>
        </p:nvSpPr>
        <p:spPr>
          <a:xfrm>
            <a:off x="461670" y="1164022"/>
            <a:ext cx="563433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solidFill>
                  <a:srgbClr val="FF0000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https://shaqian.github.io/tfjs-yolo-demo/</a:t>
            </a:r>
            <a:endParaRPr lang="ko-KR" altLang="en-US" sz="2000" dirty="0">
              <a:solidFill>
                <a:srgbClr val="FF0000"/>
              </a:solidFill>
            </a:endParaRP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B2445870-1F6F-987A-679B-05AD466130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3797" y="1689415"/>
            <a:ext cx="5490226" cy="4357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814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320F6-70E4-E079-4BE5-ACBC974DB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4ED35559-0750-49BE-F3C9-8704B52B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22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5C20774-166D-3FEB-AA9C-C47EAECC6F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4900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4">
            <a:extLst>
              <a:ext uri="{FF2B5EF4-FFF2-40B4-BE49-F238E27FC236}">
                <a16:creationId xmlns:a16="http://schemas.microsoft.com/office/drawing/2014/main" id="{AA6A2D44-A405-2D37-5810-6908991E81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0683" y="1962230"/>
            <a:ext cx="3749142" cy="337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EB781AD-11EE-9278-9E0B-41CE20B3DE3A}"/>
              </a:ext>
            </a:extLst>
          </p:cNvPr>
          <p:cNvSpPr txBox="1"/>
          <p:nvPr/>
        </p:nvSpPr>
        <p:spPr>
          <a:xfrm>
            <a:off x="1981200" y="143458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69930-8CA1-A79B-1B2B-7589AB02D8A7}"/>
              </a:ext>
            </a:extLst>
          </p:cNvPr>
          <p:cNvSpPr txBox="1"/>
          <p:nvPr/>
        </p:nvSpPr>
        <p:spPr>
          <a:xfrm>
            <a:off x="7105202" y="1469545"/>
            <a:ext cx="1859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B309DC-B6A2-0609-8030-1474ECA0D5C1}"/>
              </a:ext>
            </a:extLst>
          </p:cNvPr>
          <p:cNvSpPr txBox="1"/>
          <p:nvPr/>
        </p:nvSpPr>
        <p:spPr>
          <a:xfrm>
            <a:off x="2057400" y="5465264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5F2B5F1-AC90-008D-96EE-070CCD18B12F}"/>
              </a:ext>
            </a:extLst>
          </p:cNvPr>
          <p:cNvSpPr txBox="1"/>
          <p:nvPr/>
        </p:nvSpPr>
        <p:spPr>
          <a:xfrm>
            <a:off x="7264666" y="5408114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y=[1,2,3]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77265B-2E48-6320-1E96-6213A2C2B1A3}"/>
              </a:ext>
            </a:extLst>
          </p:cNvPr>
          <p:cNvCxnSpPr>
            <a:cxnSpLocks/>
          </p:cNvCxnSpPr>
          <p:nvPr/>
        </p:nvCxnSpPr>
        <p:spPr>
          <a:xfrm>
            <a:off x="4966726" y="3794342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158ADFB7-373F-B475-0418-D4A56D676777}"/>
              </a:ext>
            </a:extLst>
          </p:cNvPr>
          <p:cNvSpPr txBox="1"/>
          <p:nvPr/>
        </p:nvSpPr>
        <p:spPr>
          <a:xfrm>
            <a:off x="5091112" y="3244334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  <a:endParaRPr lang="ko-KR" altLang="en-US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8C6E1EF-7362-B4D4-8179-EF97DB755BE6}"/>
              </a:ext>
            </a:extLst>
          </p:cNvPr>
          <p:cNvSpPr txBox="1"/>
          <p:nvPr/>
        </p:nvSpPr>
        <p:spPr>
          <a:xfrm>
            <a:off x="7467600" y="3543001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(foreground)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F9F665-2560-1968-A2BF-38CACC4F891D}"/>
              </a:ext>
            </a:extLst>
          </p:cNvPr>
          <p:cNvSpPr txBox="1"/>
          <p:nvPr/>
        </p:nvSpPr>
        <p:spPr>
          <a:xfrm rot="19245108">
            <a:off x="7909786" y="4467346"/>
            <a:ext cx="13964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solidFill>
                  <a:schemeClr val="bg1"/>
                </a:solidFill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(contour)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FE2AF5-A808-96F0-F4B3-AE1CB2E01413}"/>
              </a:ext>
            </a:extLst>
          </p:cNvPr>
          <p:cNvSpPr txBox="1"/>
          <p:nvPr/>
        </p:nvSpPr>
        <p:spPr>
          <a:xfrm>
            <a:off x="6473236" y="2117141"/>
            <a:ext cx="21564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ko-KR" sz="1800" b="0" i="0" dirty="0">
                <a:effectLst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 (background)</a:t>
            </a:r>
          </a:p>
        </p:txBody>
      </p:sp>
      <p:sp>
        <p:nvSpPr>
          <p:cNvPr id="20" name="제목 1">
            <a:extLst>
              <a:ext uri="{FF2B5EF4-FFF2-40B4-BE49-F238E27FC236}">
                <a16:creationId xmlns:a16="http://schemas.microsoft.com/office/drawing/2014/main" id="{8FE60CC7-0E88-D026-73D5-668A52A77A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9255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E2467-5EB9-C685-A299-2EEB8BD08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0193A81-B263-33EA-AC53-8F102D519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23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C2E49D3-1702-B39F-259C-E2B40D0E35A8}"/>
              </a:ext>
            </a:extLst>
          </p:cNvPr>
          <p:cNvSpPr txBox="1"/>
          <p:nvPr/>
        </p:nvSpPr>
        <p:spPr>
          <a:xfrm>
            <a:off x="1983551" y="1372995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Input(Feature)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3ED103-4CC7-3525-0C64-F07A40470B54}"/>
              </a:ext>
            </a:extLst>
          </p:cNvPr>
          <p:cNvSpPr txBox="1"/>
          <p:nvPr/>
        </p:nvSpPr>
        <p:spPr>
          <a:xfrm>
            <a:off x="7458185" y="1398653"/>
            <a:ext cx="204254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Output(Target)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5EC3F1-8C41-C890-A751-98FCC6A945B3}"/>
              </a:ext>
            </a:extLst>
          </p:cNvPr>
          <p:cNvSpPr txBox="1"/>
          <p:nvPr/>
        </p:nvSpPr>
        <p:spPr>
          <a:xfrm>
            <a:off x="2495550" y="5465264"/>
            <a:ext cx="1905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6DE053-0025-18D3-0223-5D2D7C1DCDC9}"/>
              </a:ext>
            </a:extLst>
          </p:cNvPr>
          <p:cNvSpPr txBox="1"/>
          <p:nvPr/>
        </p:nvSpPr>
        <p:spPr>
          <a:xfrm>
            <a:off x="7702816" y="5408114"/>
            <a:ext cx="32252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C3794176-D717-4B6F-F62D-C98A47F441E3}"/>
              </a:ext>
            </a:extLst>
          </p:cNvPr>
          <p:cNvCxnSpPr>
            <a:cxnSpLocks/>
          </p:cNvCxnSpPr>
          <p:nvPr/>
        </p:nvCxnSpPr>
        <p:spPr>
          <a:xfrm>
            <a:off x="5133975" y="3819525"/>
            <a:ext cx="116205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7712384-FF73-1B78-943A-D1719CE93F3C}"/>
              </a:ext>
            </a:extLst>
          </p:cNvPr>
          <p:cNvSpPr txBox="1"/>
          <p:nvPr/>
        </p:nvSpPr>
        <p:spPr>
          <a:xfrm>
            <a:off x="5343525" y="3080861"/>
            <a:ext cx="1905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f(X)</a:t>
            </a: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endParaRPr lang="en-US" altLang="ko-KR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en-US" altLang="ko-KR" sz="2000" dirty="0"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Rules</a:t>
            </a:r>
            <a:endParaRPr lang="ko-KR" altLang="en-US" sz="2000" dirty="0"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E1D67749-C473-9D24-467A-27F4BD2FCF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738998" y="2512543"/>
            <a:ext cx="3071750" cy="240362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5A8CA57-80F8-80D7-280A-EA5A00F751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100" y="1866248"/>
            <a:ext cx="3509902" cy="3465018"/>
          </a:xfrm>
          <a:prstGeom prst="rect">
            <a:avLst/>
          </a:prstGeom>
        </p:spPr>
      </p:pic>
      <p:sp>
        <p:nvSpPr>
          <p:cNvPr id="23" name="제목 1">
            <a:extLst>
              <a:ext uri="{FF2B5EF4-FFF2-40B4-BE49-F238E27FC236}">
                <a16:creationId xmlns:a16="http://schemas.microsoft.com/office/drawing/2014/main" id="{419C8791-2659-0D29-CFCA-56FC19AD8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Image Segmentation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771301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B62A9-0F9D-46B0-F731-CB702DAAF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F9A61D6-EDA8-7477-01DC-F1FDE9960136}"/>
              </a:ext>
            </a:extLst>
          </p:cNvPr>
          <p:cNvSpPr txBox="1"/>
          <p:nvPr/>
        </p:nvSpPr>
        <p:spPr>
          <a:xfrm>
            <a:off x="729672" y="1034108"/>
            <a:ext cx="8321965" cy="1113062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machine learning with scikit-learn, </a:t>
            </a:r>
            <a:r>
              <a:rPr lang="en-US" altLang="ko-KR" dirty="0" err="1"/>
              <a:t>keras</a:t>
            </a:r>
            <a:r>
              <a:rPr lang="en-US" altLang="ko-KR" dirty="0"/>
              <a:t> &amp; </a:t>
            </a:r>
            <a:r>
              <a:rPr lang="en-US" altLang="ko-KR" dirty="0" err="1"/>
              <a:t>tensorflow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Deep Learning with Python</a:t>
            </a:r>
            <a:endParaRPr lang="ko-KR" altLang="en-US" dirty="0"/>
          </a:p>
        </p:txBody>
      </p:sp>
      <p:pic>
        <p:nvPicPr>
          <p:cNvPr id="4" name="그림 3" descr="GitHub - ageron/handson-ml3: A series of Jupyter notebooks that walk you through the fundamentals of Machine Learning and Deep Learning in Python using Scikit-Learn, Keras and TensorFlow 2. · GitHub">
            <a:extLst>
              <a:ext uri="{FF2B5EF4-FFF2-40B4-BE49-F238E27FC236}">
                <a16:creationId xmlns:a16="http://schemas.microsoft.com/office/drawing/2014/main" id="{AAC2FD0D-8192-F2F4-3AC1-393159D786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1686" y="2782221"/>
            <a:ext cx="2857500" cy="3752850"/>
          </a:xfrm>
          <a:prstGeom prst="rect">
            <a:avLst/>
          </a:prstGeom>
        </p:spPr>
      </p:pic>
      <p:pic>
        <p:nvPicPr>
          <p:cNvPr id="7" name="그림 6" descr="Deep Learning with Python">
            <a:extLst>
              <a:ext uri="{FF2B5EF4-FFF2-40B4-BE49-F238E27FC236}">
                <a16:creationId xmlns:a16="http://schemas.microsoft.com/office/drawing/2014/main" id="{45A8EBA9-3335-7136-4184-144776690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0654" y="2782221"/>
            <a:ext cx="3043382" cy="382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8276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C405B-AF14-B2C8-689A-F6492F268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AE79183E-E6F4-4214-DD0E-8C1A51209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25</a:t>
            </a:fld>
            <a:endParaRPr lang="en-US" dirty="0"/>
          </a:p>
        </p:txBody>
      </p:sp>
      <p:sp>
        <p:nvSpPr>
          <p:cNvPr id="4" name="내용 개체 틀 2">
            <a:extLst>
              <a:ext uri="{FF2B5EF4-FFF2-40B4-BE49-F238E27FC236}">
                <a16:creationId xmlns:a16="http://schemas.microsoft.com/office/drawing/2014/main" id="{A5A2CB2E-8468-AEE1-580A-8B67C66160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177" y="616754"/>
            <a:ext cx="10629571" cy="11814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컴퓨터 학습은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Pattern Recognition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“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복잡한 함수를 찾는 과정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”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입력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(Input)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을 출력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(Output)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에 </a:t>
            </a:r>
            <a:r>
              <a:rPr lang="ko-KR" altLang="en-US" sz="2100" dirty="0" err="1">
                <a:latin typeface="+mn-lt"/>
                <a:ea typeface="D2Coding" panose="020B0609020101020101" pitchFamily="49" charset="-127"/>
              </a:rPr>
              <a:t>점대점</a:t>
            </a:r>
            <a:r>
              <a:rPr lang="en-US" altLang="ko-KR" sz="2100" dirty="0">
                <a:latin typeface="+mn-lt"/>
                <a:ea typeface="D2Coding" panose="020B0609020101020101" pitchFamily="49" charset="-127"/>
              </a:rPr>
              <a:t>(point by point)</a:t>
            </a:r>
            <a:r>
              <a:rPr lang="ko-KR" altLang="en-US" sz="2100" dirty="0">
                <a:latin typeface="+mn-lt"/>
                <a:ea typeface="D2Coding" panose="020B0609020101020101" pitchFamily="49" charset="-127"/>
              </a:rPr>
              <a:t>으로 매핑하는 작업만을 학습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FE2DA27-6599-B042-D667-9FEEEADD3271}"/>
              </a:ext>
            </a:extLst>
          </p:cNvPr>
          <p:cNvGrpSpPr/>
          <p:nvPr/>
        </p:nvGrpSpPr>
        <p:grpSpPr>
          <a:xfrm>
            <a:off x="3015360" y="2774418"/>
            <a:ext cx="3509265" cy="2656715"/>
            <a:chOff x="1611231" y="3054515"/>
            <a:chExt cx="2905125" cy="2082470"/>
          </a:xfrm>
        </p:grpSpPr>
        <p:sp>
          <p:nvSpPr>
            <p:cNvPr id="16" name="이등변 삼각형 15">
              <a:extLst>
                <a:ext uri="{FF2B5EF4-FFF2-40B4-BE49-F238E27FC236}">
                  <a16:creationId xmlns:a16="http://schemas.microsoft.com/office/drawing/2014/main" id="{012E2A5C-B7F7-E780-9A16-A12FFD94EF3A}"/>
                </a:ext>
              </a:extLst>
            </p:cNvPr>
            <p:cNvSpPr/>
            <p:nvPr/>
          </p:nvSpPr>
          <p:spPr>
            <a:xfrm rot="10800000">
              <a:off x="1835069" y="305451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이등변 삼각형 16">
              <a:extLst>
                <a:ext uri="{FF2B5EF4-FFF2-40B4-BE49-F238E27FC236}">
                  <a16:creationId xmlns:a16="http://schemas.microsoft.com/office/drawing/2014/main" id="{E51B1900-13D2-F7A2-C1F6-7FDE07AD0377}"/>
                </a:ext>
              </a:extLst>
            </p:cNvPr>
            <p:cNvSpPr/>
            <p:nvPr/>
          </p:nvSpPr>
          <p:spPr>
            <a:xfrm>
              <a:off x="3497179" y="4445165"/>
              <a:ext cx="914400" cy="691820"/>
            </a:xfrm>
            <a:prstGeom prst="triangl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89895E-86ED-62DF-6A92-6F97D35A61A2}"/>
                </a:ext>
              </a:extLst>
            </p:cNvPr>
            <p:cNvSpPr/>
            <p:nvPr/>
          </p:nvSpPr>
          <p:spPr>
            <a:xfrm>
              <a:off x="1611231" y="3429000"/>
              <a:ext cx="2905125" cy="132397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/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Input (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)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8E47953-F99A-8AD9-CEC2-D58732A98A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9852" y="2242920"/>
                <a:ext cx="1987365" cy="400110"/>
              </a:xfrm>
              <a:prstGeom prst="rect">
                <a:avLst/>
              </a:prstGeom>
              <a:blipFill>
                <a:blip r:embed="rId2"/>
                <a:stretch>
                  <a:fillRect l="-3067" t="-9091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/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ko-KR" sz="2000" dirty="0">
                    <a:solidFill>
                      <a:schemeClr val="tx1"/>
                    </a:solidFill>
                  </a:rPr>
                  <a:t>Output : </a:t>
                </a:r>
                <a14:m>
                  <m:oMath xmlns:m="http://schemas.openxmlformats.org/officeDocument/2006/math">
                    <m:r>
                      <a:rPr lang="ko-KR" altLang="en-US" sz="20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ko-KR" altLang="en-US" sz="20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altLang="ko-KR" sz="2000" dirty="0">
                    <a:solidFill>
                      <a:schemeClr val="tx1"/>
                    </a:solidFill>
                  </a:rPr>
                  <a:t> </a:t>
                </a:r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D3C9AC3F-49D5-D340-C129-5C6FEBAEA6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0879" y="5585095"/>
                <a:ext cx="1916266" cy="400110"/>
              </a:xfrm>
              <a:prstGeom prst="rect">
                <a:avLst/>
              </a:prstGeom>
              <a:blipFill>
                <a:blip r:embed="rId3"/>
                <a:stretch>
                  <a:fillRect l="-3175" t="-7576" b="-2575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/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sz="3200" i="1" dirty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sz="3200" i="1" dirty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ko-KR" altLang="en-US" sz="32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5A5AF3B-51AA-AB25-7F34-2B64B35096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79677" y="3714345"/>
                <a:ext cx="925580" cy="584775"/>
              </a:xfrm>
              <a:prstGeom prst="rect">
                <a:avLst/>
              </a:prstGeom>
              <a:blipFill>
                <a:blip r:embed="rId4"/>
                <a:stretch>
                  <a:fillRect r="-92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/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 dirty="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ko-KR" altLang="en-US" i="0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ko-KR" alt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4EE8FA4-FC86-A298-E904-0492EF29D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56124" y="5453688"/>
                <a:ext cx="2621280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074" name="Picture 2" descr="function">
            <a:extLst>
              <a:ext uri="{FF2B5EF4-FFF2-40B4-BE49-F238E27FC236}">
                <a16:creationId xmlns:a16="http://schemas.microsoft.com/office/drawing/2014/main" id="{BB6A124A-B08C-1255-891E-9860AECD5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13445" y="2703841"/>
            <a:ext cx="2605778" cy="26057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0734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DD944-819A-99A2-0021-8DFCD7A76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0A5631C7-C44C-1826-3DE3-E976FA25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26</a:t>
            </a:fld>
            <a:endParaRPr lang="en-US" dirty="0"/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039A759-A092-CFD2-0D84-CA7A9F2248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100" y="1348885"/>
            <a:ext cx="10104502" cy="1893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C4CF98E-FB07-1F35-A45B-77E818B32C87}"/>
              </a:ext>
            </a:extLst>
          </p:cNvPr>
          <p:cNvSpPr txBox="1"/>
          <p:nvPr/>
        </p:nvSpPr>
        <p:spPr>
          <a:xfrm>
            <a:off x="491325" y="679572"/>
            <a:ext cx="106994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>
                <a:ea typeface="D2Coding" panose="020B0609020101020101" pitchFamily="49" charset="-127"/>
              </a:rPr>
              <a:t>컴퓨터가 </a:t>
            </a:r>
            <a:r>
              <a:rPr lang="en-US" altLang="ko-KR" sz="2000" dirty="0">
                <a:ea typeface="D2Coding" panose="020B0609020101020101" pitchFamily="49" charset="-127"/>
              </a:rPr>
              <a:t>Text</a:t>
            </a:r>
            <a:r>
              <a:rPr lang="ko-KR" altLang="en-US" sz="2000" dirty="0">
                <a:ea typeface="D2Coding" panose="020B0609020101020101" pitchFamily="49" charset="-127"/>
              </a:rPr>
              <a:t>를 처리하는 </a:t>
            </a:r>
            <a:r>
              <a:rPr lang="en-US" altLang="ko-KR" sz="2000" dirty="0">
                <a:ea typeface="D2Coding" panose="020B0609020101020101" pitchFamily="49" charset="-127"/>
              </a:rPr>
              <a:t>mechanism</a:t>
            </a:r>
            <a:r>
              <a:rPr lang="ko-KR" altLang="en-US" sz="2000" dirty="0"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</a:rPr>
              <a:t>: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2000" dirty="0">
                <a:ea typeface="D2Coding" panose="020B0609020101020101" pitchFamily="49" charset="-127"/>
                <a:sym typeface="Wingdings" panose="05000000000000000000" pitchFamily="2" charset="2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https://word2vec.kr/search/</a:t>
            </a:r>
            <a:endParaRPr lang="ko-KR" altLang="en-US" sz="2000" dirty="0"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21E80A2-DCA4-8DBF-8859-4701C2AF7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88663" y="3346352"/>
            <a:ext cx="6911939" cy="3215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8873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9C713-3A9E-1EB0-ABAE-019CE15E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503A4E1-378C-8C12-39F8-05F0DD5B1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27</a:t>
            </a:fld>
            <a:endParaRPr lang="en-US" dirty="0"/>
          </a:p>
        </p:txBody>
      </p:sp>
      <p:pic>
        <p:nvPicPr>
          <p:cNvPr id="8194" name="Picture 2" descr="Examples of Photorealistic GAN Generated Faces">
            <a:extLst>
              <a:ext uri="{FF2B5EF4-FFF2-40B4-BE49-F238E27FC236}">
                <a16:creationId xmlns:a16="http://schemas.microsoft.com/office/drawing/2014/main" id="{A04F284F-E9EB-A504-DA3A-9FA6D3FE7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800" y="1243906"/>
            <a:ext cx="6381750" cy="47663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8C1D3A-0F11-1BE3-E1AE-2FFBFE242FAC}"/>
              </a:ext>
            </a:extLst>
          </p:cNvPr>
          <p:cNvSpPr txBox="1"/>
          <p:nvPr/>
        </p:nvSpPr>
        <p:spPr>
          <a:xfrm>
            <a:off x="971550" y="6086475"/>
            <a:ext cx="64770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b="0" i="0" dirty="0">
                <a:effectLst/>
                <a:latin typeface="Helvetica Neue"/>
              </a:rPr>
              <a:t>Examples of Photorealistic GAN-Generated </a:t>
            </a:r>
            <a:r>
              <a:rPr lang="en-US" altLang="ko-KR" sz="1100" b="0" i="0" dirty="0" err="1">
                <a:effectLst/>
                <a:latin typeface="Helvetica Neue"/>
              </a:rPr>
              <a:t>Faces.Taken</a:t>
            </a:r>
            <a:r>
              <a:rPr lang="en-US" altLang="ko-KR" sz="1100" b="0" i="0" dirty="0">
                <a:effectLst/>
                <a:latin typeface="Helvetica Neue"/>
              </a:rPr>
              <a:t> from Progressive Growing of GANs for Improved Quality, Stability, and Variation, 2017.</a:t>
            </a:r>
            <a:endParaRPr lang="ko-KR" altLang="en-US" sz="11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D5A61E4-270B-4EA8-8626-23E5E8E479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383" y="139084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latin typeface="+mn-lt"/>
                <a:cs typeface="Times New Roman" panose="02020603050405020304" pitchFamily="18" charset="0"/>
              </a:rPr>
              <a:t>Generate Face Image  </a:t>
            </a:r>
            <a:endParaRPr lang="ko-KR" altLang="en-US" b="1" cap="none" dirty="0">
              <a:latin typeface="+mn-lt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2427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ADD3A-94F8-DF76-B088-F4D44E50F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E89B4CB-30EF-D8EE-0742-B73968AB5479}"/>
              </a:ext>
            </a:extLst>
          </p:cNvPr>
          <p:cNvSpPr txBox="1"/>
          <p:nvPr/>
        </p:nvSpPr>
        <p:spPr>
          <a:xfrm>
            <a:off x="729673" y="1034108"/>
            <a:ext cx="9290628" cy="559064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Generative Deep Learning : </a:t>
            </a:r>
            <a:r>
              <a:rPr lang="en-US" altLang="ko-KR" sz="1600" dirty="0"/>
              <a:t>Teaching</a:t>
            </a:r>
            <a:r>
              <a:rPr lang="ko-KR" altLang="en-US" sz="1600" dirty="0"/>
              <a:t> </a:t>
            </a:r>
            <a:r>
              <a:rPr lang="en-US" altLang="ko-KR" sz="1600" dirty="0"/>
              <a:t>Machines</a:t>
            </a:r>
            <a:r>
              <a:rPr lang="ko-KR" altLang="en-US" sz="1600" dirty="0"/>
              <a:t> </a:t>
            </a:r>
            <a:r>
              <a:rPr lang="en-US" altLang="ko-KR" sz="1600" dirty="0"/>
              <a:t>to</a:t>
            </a:r>
            <a:r>
              <a:rPr lang="ko-KR" altLang="en-US" sz="1600" dirty="0"/>
              <a:t> </a:t>
            </a:r>
            <a:r>
              <a:rPr lang="en-US" altLang="ko-KR" sz="1600" dirty="0"/>
              <a:t>Paint,</a:t>
            </a:r>
            <a:r>
              <a:rPr lang="ko-KR" altLang="en-US" sz="1600" dirty="0"/>
              <a:t> </a:t>
            </a:r>
            <a:r>
              <a:rPr lang="en-US" altLang="ko-KR" sz="1600" dirty="0"/>
              <a:t>Write,</a:t>
            </a:r>
            <a:r>
              <a:rPr lang="ko-KR" altLang="en-US" sz="1600" dirty="0"/>
              <a:t> </a:t>
            </a:r>
            <a:r>
              <a:rPr lang="en-US" altLang="ko-KR" sz="1600" dirty="0"/>
              <a:t>Compose,</a:t>
            </a:r>
            <a:r>
              <a:rPr lang="ko-KR" altLang="en-US" sz="1600" dirty="0"/>
              <a:t> </a:t>
            </a:r>
            <a:r>
              <a:rPr lang="en-US" altLang="ko-KR" sz="1600" dirty="0"/>
              <a:t>and</a:t>
            </a:r>
            <a:r>
              <a:rPr lang="ko-KR" altLang="en-US" sz="1600" dirty="0"/>
              <a:t> </a:t>
            </a:r>
            <a:r>
              <a:rPr lang="en-US" altLang="ko-KR" sz="1600" dirty="0"/>
              <a:t>Play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A44DBC8-E777-24F5-3CA3-5B62133863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493" y="1982931"/>
            <a:ext cx="3048264" cy="4016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53199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09AAA-1F30-AE73-C38D-9C818C1B8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E27988D7-267E-7FB5-32B6-D6E8A94E5889}"/>
              </a:ext>
            </a:extLst>
          </p:cNvPr>
          <p:cNvSpPr/>
          <p:nvPr/>
        </p:nvSpPr>
        <p:spPr>
          <a:xfrm>
            <a:off x="1104900" y="3537046"/>
            <a:ext cx="6629399" cy="6096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D9C774A1-09F8-7B0A-48B8-92C9456D3A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030" y="586381"/>
            <a:ext cx="8825658" cy="609600"/>
          </a:xfrm>
        </p:spPr>
        <p:txBody>
          <a:bodyPr/>
          <a:lstStyle/>
          <a:p>
            <a:r>
              <a:rPr lang="en-US" altLang="ko-KR" sz="4400" dirty="0"/>
              <a:t>Contents</a:t>
            </a:r>
            <a:endParaRPr lang="ko-KR" altLang="en-US" sz="44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ECE4D27-B67D-DEEF-3BCB-55ABC0022B1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4055" y="1452837"/>
            <a:ext cx="7627095" cy="365016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기술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Trends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문해력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(AI Literacy)</a:t>
            </a: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Machine/Deep Learning 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이해</a:t>
            </a:r>
            <a:endParaRPr lang="en-US" altLang="ko-KR" sz="2400" cap="none" dirty="0">
              <a:solidFill>
                <a:schemeClr val="tx1"/>
              </a:solidFill>
              <a:latin typeface="+mn-lt"/>
              <a:ea typeface="D2Coding" panose="020B0609020101020101" pitchFamily="49" charset="-127"/>
            </a:endParaRPr>
          </a:p>
          <a:p>
            <a:pPr marL="514350" indent="-514350">
              <a:lnSpc>
                <a:spcPct val="150000"/>
              </a:lnSpc>
              <a:buSzPct val="100000"/>
              <a:buAutoNum type="arabicPeriod"/>
            </a:pP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생성형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AI(Generative</a:t>
            </a:r>
            <a:r>
              <a:rPr lang="ko-KR" altLang="en-US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 </a:t>
            </a:r>
            <a:r>
              <a:rPr lang="en-US" altLang="ko-KR" sz="2400" cap="none" dirty="0">
                <a:solidFill>
                  <a:schemeClr val="tx1"/>
                </a:solidFill>
                <a:latin typeface="+mn-lt"/>
                <a:ea typeface="D2Coding" panose="020B0609020101020101" pitchFamily="49" charset="-127"/>
              </a:rPr>
              <a:t>AI)</a:t>
            </a:r>
          </a:p>
        </p:txBody>
      </p:sp>
    </p:spTree>
    <p:extLst>
      <p:ext uri="{BB962C8B-B14F-4D97-AF65-F5344CB8AC3E}">
        <p14:creationId xmlns:p14="http://schemas.microsoft.com/office/powerpoint/2010/main" val="334338071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F7D7E62-88C0-2899-7D53-45B1AA80C3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30</a:t>
            </a:fld>
            <a:endParaRPr lang="en-US" dirty="0"/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rgbClr val="FFFF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rgbClr val="FFFFFF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 텍스트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38879" y="1883378"/>
            <a:ext cx="5734688" cy="3866290"/>
            <a:chOff x="2938879" y="1883378"/>
            <a:chExt cx="5734688" cy="3866290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C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103671" y="1883378"/>
              <a:ext cx="3569896" cy="3866290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rgbClr val="FFFF00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870160" cy="4305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2928225" y="3200636"/>
            <a:ext cx="8852915" cy="310491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4983229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F02BC5E3-224A-24E3-5CD4-6E5BAB6EB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31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FD99B4-8E4E-4BDD-3CB8-D12EAE2B6F32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</a:t>
            </a:r>
            <a:r>
              <a:rPr lang="ko-KR" altLang="en-US" b="1" dirty="0">
                <a:ea typeface="D2Coding" panose="020B0609020101020101" pitchFamily="49" charset="-127"/>
              </a:rPr>
              <a:t>이전 픽셀들을 기반으로 다음 픽셀을 확률적으로 예측하여</a:t>
            </a:r>
            <a:r>
              <a:rPr lang="ko-KR" altLang="en-US" dirty="0">
                <a:ea typeface="D2Coding" panose="020B0609020101020101" pitchFamily="49" charset="-127"/>
              </a:rPr>
              <a:t> 텍스트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음악</a:t>
            </a:r>
            <a:r>
              <a:rPr lang="en-US" altLang="ko-KR" dirty="0">
                <a:ea typeface="D2Coding" panose="020B0609020101020101" pitchFamily="49" charset="-127"/>
              </a:rPr>
              <a:t>, </a:t>
            </a:r>
            <a:r>
              <a:rPr lang="ko-KR" altLang="en-US" dirty="0">
                <a:ea typeface="D2Coding" panose="020B0609020101020101" pitchFamily="49" charset="-127"/>
              </a:rPr>
              <a:t>코드 등 새로운 콘텐츠를 생성하는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1A11FA24-C803-43CA-B36C-F6BBFD7811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32</a:t>
            </a:fld>
            <a:endParaRPr lang="en-US" dirty="0"/>
          </a:p>
        </p:txBody>
      </p:sp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3957" y="2547639"/>
            <a:ext cx="7624085" cy="4038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115115" y="355166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대규모 언어 모델 </a:t>
            </a:r>
            <a:r>
              <a:rPr lang="en-US" altLang="ko-KR" sz="2400" dirty="0">
                <a:solidFill>
                  <a:srgbClr val="FFFFFF"/>
                </a:solidFill>
                <a:latin typeface="+mn-lt"/>
                <a:ea typeface="D2Coding" panose="020B0609020101020101" pitchFamily="49" charset="-127"/>
              </a:rPr>
              <a:t>(Large Language Model, LLM)</a:t>
            </a:r>
            <a:endParaRPr lang="ko-KR" altLang="en-US" sz="2400" dirty="0">
              <a:solidFill>
                <a:srgbClr val="FFFFFF"/>
              </a:solidFill>
              <a:latin typeface="+mn-lt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471797" y="994854"/>
            <a:ext cx="930847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 </a:t>
            </a:r>
            <a:r>
              <a:rPr lang="ko-KR" altLang="en-US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FF"/>
                </a:solidFill>
                <a:ea typeface="D2Coding" panose="020B0609020101020101" pitchFamily="49" charset="-127"/>
              </a:rPr>
              <a:t>등</a:t>
            </a:r>
            <a:endParaRPr lang="en-US" altLang="ko-KR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FF"/>
              </a:solidFill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46662-7D95-C9B3-62AA-957CAF4E02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A79256-9618-23AF-842D-9DC6D75C8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33</a:t>
            </a:fld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6F99FA-1063-9B3E-6B8A-D5378429B1A2}"/>
              </a:ext>
            </a:extLst>
          </p:cNvPr>
          <p:cNvSpPr txBox="1"/>
          <p:nvPr/>
        </p:nvSpPr>
        <p:spPr>
          <a:xfrm>
            <a:off x="371475" y="852542"/>
            <a:ext cx="481093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Major Large Language Models (LLMs)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45488D2-788A-A220-F5B8-D703537CA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7465" y="1252652"/>
            <a:ext cx="9179802" cy="5309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61085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5748-9A97-E469-5E70-624969003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97105A62-C109-8869-51D9-44353E9131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34</a:t>
            </a:fld>
            <a:endParaRPr lang="en-US" dirty="0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41486B11-1D22-2746-6822-E1FBA2BA6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9238" y="518408"/>
            <a:ext cx="8253412" cy="58211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651674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E15BFE62-C839-E465-CB29-E8EBA793E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35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697875"/>
            <a:ext cx="9694995" cy="87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ea typeface="D2Coding" panose="020B0609020101020101" pitchFamily="49" charset="-127"/>
              </a:rPr>
              <a:t>데이터를 학습한 </a:t>
            </a:r>
            <a:r>
              <a:rPr lang="ko-KR" altLang="en-US" dirty="0" err="1">
                <a:ea typeface="D2Coding" panose="020B0609020101020101" pitchFamily="49" charset="-127"/>
              </a:rPr>
              <a:t>딥러닝은</a:t>
            </a:r>
            <a:r>
              <a:rPr lang="ko-KR" altLang="en-US" dirty="0"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dirty="0">
                <a:ea typeface="D2Coding" panose="020B0609020101020101" pitchFamily="49" charset="-127"/>
              </a:rPr>
              <a:t> </a:t>
            </a:r>
            <a:r>
              <a:rPr lang="ko-KR" altLang="en-US" dirty="0">
                <a:ea typeface="D2Coding" panose="020B0609020101020101" pitchFamily="49" charset="-127"/>
              </a:rPr>
              <a:t> 말을 이어가는 끝 말 이어가기 끝 판 왕 </a:t>
            </a:r>
            <a:r>
              <a:rPr lang="en-US" altLang="ko-KR" dirty="0"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dirty="0"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b="1" dirty="0">
                <a:cs typeface="Times New Roman" panose="02020603050405020304" pitchFamily="18" charset="0"/>
              </a:rPr>
              <a:t>LLM(Large Language Model)</a:t>
            </a:r>
            <a:endParaRPr lang="ko-KR" altLang="en-US" dirty="0"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rgbClr val="FFFF00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solidFill>
                <a:srgbClr val="FFFF00"/>
              </a:solidFill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solidFill>
                <a:schemeClr val="bg1"/>
              </a:solidFill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0553-22BD-A141-661E-CFFF82AE7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8227804C-449C-463A-C5BE-8C503ABF0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1969A97-C2BE-D9A0-A387-843BB3B69242}"/>
              </a:ext>
            </a:extLst>
          </p:cNvPr>
          <p:cNvSpPr txBox="1"/>
          <p:nvPr/>
        </p:nvSpPr>
        <p:spPr>
          <a:xfrm>
            <a:off x="572955" y="697875"/>
            <a:ext cx="9694995" cy="5897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400" dirty="0">
                <a:ea typeface="D2Coding" panose="020B0609020101020101" pitchFamily="49" charset="-127"/>
              </a:rPr>
              <a:t>(Generative AI, LLM)</a:t>
            </a:r>
            <a:endParaRPr lang="ko-KR" altLang="en-US" sz="2400" dirty="0">
              <a:ea typeface="D2Coding" panose="020B0609020101020101" pitchFamily="49" charset="-127"/>
            </a:endParaRPr>
          </a:p>
        </p:txBody>
      </p:sp>
      <p:pic>
        <p:nvPicPr>
          <p:cNvPr id="2050" name="Picture 2" descr="나뭇가지에 주홍색 잉꼬 현관">
            <a:extLst>
              <a:ext uri="{FF2B5EF4-FFF2-40B4-BE49-F238E27FC236}">
                <a16:creationId xmlns:a16="http://schemas.microsoft.com/office/drawing/2014/main" id="{2E033474-6E41-5E4F-66B7-54A1F585CD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95600" y="1836451"/>
            <a:ext cx="36576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1110A9A-7874-8257-1B97-39876E538845}"/>
              </a:ext>
            </a:extLst>
          </p:cNvPr>
          <p:cNvSpPr txBox="1"/>
          <p:nvPr/>
        </p:nvSpPr>
        <p:spPr>
          <a:xfrm>
            <a:off x="6673214" y="1851958"/>
            <a:ext cx="5290186" cy="30091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</a:rPr>
              <a:t>대규모 언어 모델 </a:t>
            </a:r>
            <a:r>
              <a:rPr lang="en-US" altLang="ko-KR" sz="1600" dirty="0">
                <a:ea typeface="D2Coding" panose="020B0609020101020101" pitchFamily="49" charset="-127"/>
              </a:rPr>
              <a:t>(Large Language Model, LLM)</a:t>
            </a: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sz="1600" dirty="0"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ea typeface="D2Coding" panose="020B0609020101020101" pitchFamily="49" charset="-127"/>
              </a:rPr>
              <a:t>등</a:t>
            </a:r>
            <a:endParaRPr lang="en-US" altLang="ko-KR" sz="1600" dirty="0"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618167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68C289-FB36-0F26-D9B4-AE7777DE8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294798AA-0B60-9394-D1EE-42D1F0EE3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625A948-FA2A-62F4-707C-F357C4E527CF}"/>
              </a:ext>
            </a:extLst>
          </p:cNvPr>
          <p:cNvSpPr txBox="1"/>
          <p:nvPr/>
        </p:nvSpPr>
        <p:spPr>
          <a:xfrm>
            <a:off x="218291" y="247650"/>
            <a:ext cx="10354460" cy="1254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LLM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의 한계는 정보 검색</a:t>
            </a:r>
            <a:r>
              <a:rPr lang="en-US" altLang="ko-KR" sz="2000" dirty="0">
                <a:ea typeface="D2Coding" panose="020B0609020101020101" pitchFamily="49" charset="-127"/>
                <a:cs typeface="+mj-cs"/>
              </a:rPr>
              <a:t>(Information Retrieval)</a:t>
            </a:r>
            <a:r>
              <a:rPr lang="ko-KR" altLang="en-US" sz="2000" dirty="0">
                <a:ea typeface="D2Coding" panose="020B0609020101020101" pitchFamily="49" charset="-127"/>
                <a:cs typeface="+mj-cs"/>
              </a:rPr>
              <a:t>만 잘함</a:t>
            </a:r>
            <a:endParaRPr lang="en-US" altLang="ko-KR" dirty="0">
              <a:ea typeface="D2Coding" panose="020B0609020101020101" pitchFamily="49" charset="-127"/>
              <a:cs typeface="+mj-cs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학습 중에 접했던 패턴과 매우 유사한 패턴을 인식하거나 생성해 내며 본질적으로 새로운 상황에 적응하는 능력이 떨어짐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(</a:t>
            </a:r>
            <a:r>
              <a:rPr lang="ko-KR" altLang="en-US" sz="1600" dirty="0">
                <a:ea typeface="D2Coding" panose="020B0609020101020101" pitchFamily="49" charset="-127"/>
                <a:cs typeface="+mj-cs"/>
              </a:rPr>
              <a:t>아래 그림 </a:t>
            </a:r>
            <a:r>
              <a:rPr lang="en-US" altLang="ko-KR" sz="1600" dirty="0">
                <a:ea typeface="D2Coding" panose="020B0609020101020101" pitchFamily="49" charset="-127"/>
                <a:cs typeface="+mj-cs"/>
              </a:rPr>
              <a:t>An easy yet novel puzzle)</a:t>
            </a:r>
            <a:endParaRPr lang="ko-KR" altLang="en-US" sz="1600" dirty="0">
              <a:ea typeface="D2Coding" panose="020B0609020101020101" pitchFamily="49" charset="-127"/>
              <a:cs typeface="+mj-cs"/>
            </a:endParaRP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27CDEEFE-CC04-501A-16E8-419D499415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7759" y="1742079"/>
            <a:ext cx="8340091" cy="46022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5412396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81F98-2A90-A1E0-3E6D-AFF6D2CE3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6390EEC5-D3FB-1EBC-028E-E1677E27F5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smtClean="0"/>
              <a:t>38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E69FA9-C66D-8B99-1236-5A901EB63D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32128" y="970346"/>
            <a:ext cx="9727744" cy="491730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Gary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Marcus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LLMs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are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fluent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bullshitters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."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언어적 유창성은 뛰어나나 사실 검증 메커니즘이 없음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endParaRPr kumimoji="0" lang="ko-KR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Yejin</a:t>
            </a:r>
            <a:r>
              <a:rPr kumimoji="0" lang="ko-KR" altLang="ko-KR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Choi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: "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Commonsense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한컴 고딕" panose="02000500000000000000" pitchFamily="2" charset="-127"/>
              </a:rPr>
              <a:t>missing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,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therefore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 </a:t>
            </a:r>
            <a:r>
              <a:rPr kumimoji="0" lang="ko-KR" altLang="ko-KR" sz="2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bullshit-prone</a:t>
            </a:r>
            <a:r>
              <a:rPr kumimoji="0" lang="ko-KR" altLang="ko-KR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“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세상에 대한 상식 없이 말하기 때문에 자주 현실과 동떨어짐</a:t>
            </a:r>
            <a:endParaRPr kumimoji="0" lang="en-US" altLang="ko-KR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742950" lvl="1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lang="en-US" altLang="ko-KR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  <a:p>
            <a:pPr marL="285750" indent="-285750" eaLnBrk="0" fontAlgn="base" hangingPunct="0">
              <a:lnSpc>
                <a:spcPct val="2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한컴 고딕" panose="02000500000000000000" pitchFamily="2" charset="-127"/>
                <a:ea typeface="한컴 고딕" panose="02000500000000000000" pitchFamily="2" charset="-127"/>
              </a:rPr>
              <a:t>코마에서 깨어난 신입사원 아인슈타인 </a:t>
            </a:r>
            <a:endParaRPr kumimoji="0" lang="en-US" altLang="ko-KR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한컴 고딕" panose="02000500000000000000" pitchFamily="2" charset="-127"/>
              <a:ea typeface="한컴 고딕" panose="020005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559120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668BC-2E6C-F726-4EA1-D52CD0D6B4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C961E60-D9F0-9719-D657-861C30216ACD}"/>
              </a:ext>
            </a:extLst>
          </p:cNvPr>
          <p:cNvSpPr txBox="1"/>
          <p:nvPr/>
        </p:nvSpPr>
        <p:spPr>
          <a:xfrm>
            <a:off x="729672" y="1034108"/>
            <a:ext cx="8321965" cy="2221057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Hands-on large language models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Learning </a:t>
            </a:r>
            <a:r>
              <a:rPr lang="en-US" altLang="ko-KR" dirty="0" err="1"/>
              <a:t>Langchain</a:t>
            </a: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solidFill>
                  <a:srgbClr val="FFFF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LangChain</a:t>
            </a:r>
            <a:endParaRPr lang="en-US" altLang="ko-KR" dirty="0">
              <a:solidFill>
                <a:srgbClr val="FFFF00"/>
              </a:solidFill>
            </a:endParaRPr>
          </a:p>
        </p:txBody>
      </p:sp>
      <p:pic>
        <p:nvPicPr>
          <p:cNvPr id="2" name="그림 1" descr="Hands-On Large Language Models - NLB - OverDrive">
            <a:extLst>
              <a:ext uri="{FF2B5EF4-FFF2-40B4-BE49-F238E27FC236}">
                <a16:creationId xmlns:a16="http://schemas.microsoft.com/office/drawing/2014/main" id="{8110D0C3-6406-1E13-C80D-95C498CAC4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6599" y="2643676"/>
            <a:ext cx="2745033" cy="3664761"/>
          </a:xfrm>
          <a:prstGeom prst="rect">
            <a:avLst/>
          </a:prstGeom>
        </p:spPr>
      </p:pic>
      <p:pic>
        <p:nvPicPr>
          <p:cNvPr id="3" name="그림 2" descr="Learning LangChain [Book]">
            <a:extLst>
              <a:ext uri="{FF2B5EF4-FFF2-40B4-BE49-F238E27FC236}">
                <a16:creationId xmlns:a16="http://schemas.microsoft.com/office/drawing/2014/main" id="{08243018-8EE4-0433-56ED-6176ACC3F8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2513" y="2643676"/>
            <a:ext cx="2794915" cy="3664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60015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이온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7075</TotalTime>
  <Words>1047</Words>
  <Application>Microsoft Office PowerPoint</Application>
  <PresentationFormat>와이드스크린</PresentationFormat>
  <Paragraphs>195</Paragraphs>
  <Slides>39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39</vt:i4>
      </vt:variant>
    </vt:vector>
  </HeadingPairs>
  <TitlesOfParts>
    <vt:vector size="53" baseType="lpstr">
      <vt:lpstr>D2Coding</vt:lpstr>
      <vt:lpstr>Helvetica Neue</vt:lpstr>
      <vt:lpstr>맑은 고딕</vt:lpstr>
      <vt:lpstr>맑은 고딕 Semilight</vt:lpstr>
      <vt:lpstr>한컴 고딕</vt:lpstr>
      <vt:lpstr>한컴 말랑말랑 Bold</vt:lpstr>
      <vt:lpstr>Arial</vt:lpstr>
      <vt:lpstr>Cambria Math</vt:lpstr>
      <vt:lpstr>Century Gothic</vt:lpstr>
      <vt:lpstr>Tahoma</vt:lpstr>
      <vt:lpstr>Times New Roman</vt:lpstr>
      <vt:lpstr>Wingdings</vt:lpstr>
      <vt:lpstr>Wingdings 3</vt:lpstr>
      <vt:lpstr>이온</vt:lpstr>
      <vt:lpstr>AI Literacy</vt:lpstr>
      <vt:lpstr>PowerPoint 프레젠테이션</vt:lpstr>
      <vt:lpstr>Contents</vt:lpstr>
      <vt:lpstr>PowerPoint 프레젠테이션</vt:lpstr>
      <vt:lpstr>PowerPoint 프레젠테이션</vt:lpstr>
      <vt:lpstr>Contents</vt:lpstr>
      <vt:lpstr>PowerPoint 프레젠테이션</vt:lpstr>
      <vt:lpstr>AI Literacy</vt:lpstr>
      <vt:lpstr>Contents</vt:lpstr>
      <vt:lpstr>PowerPoint 프레젠테이션</vt:lpstr>
      <vt:lpstr>PowerPoint 프레젠테이션</vt:lpstr>
      <vt:lpstr>PowerPoint 프레젠테이션</vt:lpstr>
      <vt:lpstr>How to classify ?</vt:lpstr>
      <vt:lpstr>Supervised Learning(지도학습) </vt:lpstr>
      <vt:lpstr>Unsupervised Learning(비지도학습)</vt:lpstr>
      <vt:lpstr>PowerPoint 프레젠테이션</vt:lpstr>
      <vt:lpstr>PowerPoint 프레젠테이션</vt:lpstr>
      <vt:lpstr>PowerPoint 프레젠테이션</vt:lpstr>
      <vt:lpstr>Deep Learning_how to learn?</vt:lpstr>
      <vt:lpstr>PowerPoint 프레젠테이션</vt:lpstr>
      <vt:lpstr>PowerPoint 프레젠테이션</vt:lpstr>
      <vt:lpstr>Image Segmentation </vt:lpstr>
      <vt:lpstr>Image Segmentation </vt:lpstr>
      <vt:lpstr>PowerPoint 프레젠테이션</vt:lpstr>
      <vt:lpstr>PowerPoint 프레젠테이션</vt:lpstr>
      <vt:lpstr>PowerPoint 프레젠테이션</vt:lpstr>
      <vt:lpstr>Generate Face Image  </vt:lpstr>
      <vt:lpstr>PowerPoint 프레젠테이션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106</cp:revision>
  <dcterms:created xsi:type="dcterms:W3CDTF">2026-04-11T22:24:40Z</dcterms:created>
  <dcterms:modified xsi:type="dcterms:W3CDTF">2026-08-27T08:53:14Z</dcterms:modified>
</cp:coreProperties>
</file>