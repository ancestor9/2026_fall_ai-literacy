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6"/>
  </p:notesMasterIdLst>
  <p:sldIdLst>
    <p:sldId id="256" r:id="rId2"/>
    <p:sldId id="461" r:id="rId3"/>
    <p:sldId id="435" r:id="rId4"/>
    <p:sldId id="448" r:id="rId5"/>
    <p:sldId id="449" r:id="rId6"/>
    <p:sldId id="458" r:id="rId7"/>
    <p:sldId id="404" r:id="rId8"/>
    <p:sldId id="405" r:id="rId9"/>
    <p:sldId id="459" r:id="rId10"/>
    <p:sldId id="380" r:id="rId11"/>
    <p:sldId id="381" r:id="rId12"/>
    <p:sldId id="453" r:id="rId13"/>
    <p:sldId id="399" r:id="rId14"/>
    <p:sldId id="388" r:id="rId15"/>
    <p:sldId id="389" r:id="rId16"/>
    <p:sldId id="462" r:id="rId17"/>
    <p:sldId id="441" r:id="rId18"/>
    <p:sldId id="385" r:id="rId19"/>
    <p:sldId id="469" r:id="rId20"/>
    <p:sldId id="440" r:id="rId21"/>
    <p:sldId id="454" r:id="rId22"/>
    <p:sldId id="379" r:id="rId23"/>
    <p:sldId id="396" r:id="rId24"/>
    <p:sldId id="434" r:id="rId25"/>
    <p:sldId id="460" r:id="rId26"/>
    <p:sldId id="401" r:id="rId27"/>
    <p:sldId id="433" r:id="rId28"/>
    <p:sldId id="382" r:id="rId29"/>
    <p:sldId id="457" r:id="rId30"/>
    <p:sldId id="451" r:id="rId31"/>
    <p:sldId id="432" r:id="rId32"/>
    <p:sldId id="407" r:id="rId33"/>
    <p:sldId id="397" r:id="rId34"/>
    <p:sldId id="452" r:id="rId35"/>
    <p:sldId id="467" r:id="rId36"/>
    <p:sldId id="477" r:id="rId37"/>
    <p:sldId id="478" r:id="rId38"/>
    <p:sldId id="479" r:id="rId39"/>
    <p:sldId id="480" r:id="rId40"/>
    <p:sldId id="481" r:id="rId41"/>
    <p:sldId id="482" r:id="rId42"/>
    <p:sldId id="483" r:id="rId43"/>
    <p:sldId id="484" r:id="rId44"/>
    <p:sldId id="485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204" autoAdjust="0"/>
    <p:restoredTop sz="94660"/>
  </p:normalViewPr>
  <p:slideViewPr>
    <p:cSldViewPr snapToGrid="0">
      <p:cViewPr varScale="1">
        <p:scale>
          <a:sx n="80" d="100"/>
          <a:sy n="80" d="100"/>
        </p:scale>
        <p:origin x="773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646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9O1terlCTts&amp;t=307s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e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svg"/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9.jpeg"/><Relationship Id="rId4" Type="http://schemas.openxmlformats.org/officeDocument/2006/relationships/image" Target="../media/image11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5_Winter_Deep-Learning-with-TensorFlow/tree/main/20260128_06_Introduction%20AI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hyperlink" Target="https://huggingface.co/spaces/Xenova/yolov10-web" TargetMode="Externa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pjreddie.com/darknet/yolo/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hyperlink" Target="https://shaqian.github.io/tfjs-yolo-demo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7" Type="http://schemas.microsoft.com/office/2007/relationships/hdphoto" Target="../media/hdphoto1.wdp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80.png"/><Relationship Id="rId4" Type="http://schemas.openxmlformats.org/officeDocument/2006/relationships/image" Target="../media/image37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informationisbeautiful.net/visualizations/the-rise-of-generative-ai-large-language-models-llms-like-chatgpt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0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astapi.tiangolo.com/" TargetMode="External"/><Relationship Id="rId2" Type="http://schemas.openxmlformats.org/officeDocument/2006/relationships/hyperlink" Target="https://pandas.pydata.org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jpeg"/><Relationship Id="rId5" Type="http://schemas.openxmlformats.org/officeDocument/2006/relationships/image" Target="../media/image62.jpeg"/><Relationship Id="rId4" Type="http://schemas.openxmlformats.org/officeDocument/2006/relationships/image" Target="../media/image61.gi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eaz-book.com/" TargetMode="External"/><Relationship Id="rId7" Type="http://schemas.openxmlformats.org/officeDocument/2006/relationships/image" Target="../media/image66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jpeg"/><Relationship Id="rId5" Type="http://schemas.openxmlformats.org/officeDocument/2006/relationships/hyperlink" Target="https://github.com/sinanuozdemir/feature_engineering_bookcamp" TargetMode="External"/><Relationship Id="rId4" Type="http://schemas.openxmlformats.org/officeDocument/2006/relationships/hyperlink" Target="https://github.com/solegalli/feature-engineering-for-machine-learning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1.3/tutorial/machine_learning_map/" TargetMode="External"/><Relationship Id="rId2" Type="http://schemas.openxmlformats.org/officeDocument/2006/relationships/hyperlink" Target="https://scikit-learn.org/1.3/index.html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e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github.com/ancestor9/2026_Fall_AI-Literacy/blob/main/Generative%20Deep%20Learning.pptx" TargetMode="Externa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gchain.com/" TargetMode="External"/><Relationship Id="rId2" Type="http://schemas.openxmlformats.org/officeDocument/2006/relationships/hyperlink" Target="https://github.com/HandsOnLLM/Hands-On-Large-Language-Models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9.jpeg"/><Relationship Id="rId4" Type="http://schemas.openxmlformats.org/officeDocument/2006/relationships/image" Target="../media/image7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700" y="924580"/>
            <a:ext cx="10465545" cy="1362075"/>
          </a:xfrm>
        </p:spPr>
        <p:txBody>
          <a:bodyPr/>
          <a:lstStyle/>
          <a:p>
            <a:r>
              <a:rPr lang="en-US" altLang="ko-KR" sz="6000" dirty="0">
                <a:solidFill>
                  <a:schemeClr val="tx1"/>
                </a:solidFill>
              </a:rPr>
              <a:t>AI Literacy</a:t>
            </a:r>
            <a:endParaRPr lang="ko-KR" altLang="en-US" sz="6000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188915"/>
            <a:ext cx="8825658" cy="1992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400" cap="none" dirty="0"/>
              <a:t>2026 Fall</a:t>
            </a:r>
          </a:p>
          <a:p>
            <a:r>
              <a:rPr lang="ko-KR" altLang="en-US" cap="none" dirty="0"/>
              <a:t>조 상구 교수</a:t>
            </a:r>
            <a:endParaRPr lang="en-US" altLang="ko-KR" cap="none" dirty="0"/>
          </a:p>
          <a:p>
            <a:r>
              <a:rPr lang="ko-KR" altLang="en-US" cap="none" dirty="0"/>
              <a:t>소프트웨어융합과 </a:t>
            </a:r>
            <a:r>
              <a:rPr lang="en-US" altLang="ko-KR" cap="none" dirty="0"/>
              <a:t>AI</a:t>
            </a:r>
            <a:r>
              <a:rPr lang="ko-KR" altLang="en-US" cap="none" dirty="0"/>
              <a:t> 빅데이터 전공 </a:t>
            </a:r>
            <a:endParaRPr lang="en-US" altLang="ko-KR" cap="none" dirty="0"/>
          </a:p>
          <a:p>
            <a:r>
              <a:rPr lang="ko-KR" altLang="en-US" cap="none" dirty="0"/>
              <a:t>경복대학교</a:t>
            </a:r>
            <a:endParaRPr lang="ko-KR" altLang="en-US" sz="32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B1705-DDD4-EF8F-6BAB-D9603D8AF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1C7723-F4B8-7401-549D-5D3B4F3F58B3}"/>
              </a:ext>
            </a:extLst>
          </p:cNvPr>
          <p:cNvSpPr txBox="1"/>
          <p:nvPr/>
        </p:nvSpPr>
        <p:spPr>
          <a:xfrm>
            <a:off x="742948" y="2000250"/>
            <a:ext cx="104013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를 쓸수록 지능이 올라가는 사람의 특징들 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(feat. 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과학적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97410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E3365-8B46-8DC7-B3DB-5804A1E6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210BF5-0ED4-818F-8132-C23B48801534}"/>
              </a:ext>
            </a:extLst>
          </p:cNvPr>
          <p:cNvSpPr/>
          <p:nvPr/>
        </p:nvSpPr>
        <p:spPr>
          <a:xfrm>
            <a:off x="1104900" y="149869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036B7A-1839-8911-31B1-8ACD94E1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C31064-70EE-FA5B-F370-E6D2F42FE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63501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35A7F-4DF6-4C75-04F9-B1D6A23C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F6C34-DB60-FD41-194F-1665B9CD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5736A1-7F3D-8DB7-7510-96902538B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745" y="2105025"/>
            <a:ext cx="5776911" cy="361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0C3D7D6-CC9A-5C17-F412-7C8E166F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2025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생성형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7" name="그래픽 6" descr="조금 굽은 화살표">
            <a:extLst>
              <a:ext uri="{FF2B5EF4-FFF2-40B4-BE49-F238E27FC236}">
                <a16:creationId xmlns:a16="http://schemas.microsoft.com/office/drawing/2014/main" id="{6D08B07E-E568-4C06-9AE5-18B95B5B1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9100" y="562749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C581AC35-CA43-BB4F-0F55-93744C53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49" y="2105025"/>
            <a:ext cx="4239101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01A55B55-9C08-C924-2998-E8492F46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88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9CAD-391B-1A5A-7C6C-CA0F06718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F9BE6-163C-A512-962D-1615DEE8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591324"/>
            <a:ext cx="6320844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기술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Trend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1CCBAC-7B45-46C7-EFAE-DE3694309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60485"/>
              </p:ext>
            </p:extLst>
          </p:nvPr>
        </p:nvGraphicFramePr>
        <p:xfrm>
          <a:off x="655637" y="1400949"/>
          <a:ext cx="10460038" cy="264717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515835">
                  <a:extLst>
                    <a:ext uri="{9D8B030D-6E8A-4147-A177-3AD203B41FA5}">
                      <a16:colId xmlns:a16="http://schemas.microsoft.com/office/drawing/2014/main" val="2308711996"/>
                    </a:ext>
                  </a:extLst>
                </a:gridCol>
                <a:gridCol w="6944203">
                  <a:extLst>
                    <a:ext uri="{9D8B030D-6E8A-4147-A177-3AD203B41FA5}">
                      <a16:colId xmlns:a16="http://schemas.microsoft.com/office/drawing/2014/main" val="1497260062"/>
                    </a:ext>
                  </a:extLst>
                </a:gridCol>
              </a:tblGrid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트렌드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내용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525987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AI Agent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단순히 질문에 답하는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넘어 스스로 계획하고 실행하는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327801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Multimodal 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음성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동시에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5031982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SLM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 </a:t>
                      </a:r>
                      <a:r>
                        <a:rPr lang="ko-KR" altLang="en-US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온디바이스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거대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뿐 아니라 스마트폰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로봇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자동차에서 동작하는 경량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610667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4. Domain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 중심의</a:t>
                      </a: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AI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전문가보다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활용하는 도메인 전문가 가치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71703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 AI Native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시대 도래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업무 보조가 아니라 업무 수행의 기본 인프라가 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591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8C7537A-3D69-AECB-B755-133564319E94}"/>
              </a:ext>
            </a:extLst>
          </p:cNvPr>
          <p:cNvSpPr txBox="1"/>
          <p:nvPr/>
        </p:nvSpPr>
        <p:spPr>
          <a:xfrm>
            <a:off x="4337341" y="4584115"/>
            <a:ext cx="70942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'AI</a:t>
            </a:r>
            <a:r>
              <a:rPr lang="ko-KR" altLang="en-US" dirty="0">
                <a:ea typeface="D2Coding" panose="020B0609020101020101" pitchFamily="49" charset="-127"/>
              </a:rPr>
              <a:t>를 활용한 업무 설계 및 문제 해결 능력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중심으로 전환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다양한 데이터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과 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산업현장 맞춤형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역량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강화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전공 지식과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기술의 필수적인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이 실현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DEE140B5-3AA1-2578-BC96-74F27122D290}"/>
              </a:ext>
            </a:extLst>
          </p:cNvPr>
          <p:cNvSpPr/>
          <p:nvPr/>
        </p:nvSpPr>
        <p:spPr>
          <a:xfrm>
            <a:off x="2067215" y="4650790"/>
            <a:ext cx="1620838" cy="1257300"/>
          </a:xfrm>
          <a:prstGeom prst="rightArrow">
            <a:avLst>
              <a:gd name="adj1" fmla="val 69697"/>
              <a:gd name="adj2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영향</a:t>
            </a:r>
          </a:p>
        </p:txBody>
      </p:sp>
      <p:sp>
        <p:nvSpPr>
          <p:cNvPr id="4" name="슬라이드 번호 개체 틀 7">
            <a:extLst>
              <a:ext uri="{FF2B5EF4-FFF2-40B4-BE49-F238E27FC236}">
                <a16:creationId xmlns:a16="http://schemas.microsoft.com/office/drawing/2014/main" id="{F9507C2B-7BD9-5C5B-F9ED-4F7E543E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712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5465-0296-58A4-1609-BC499EAA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BDD706-3BEF-315C-7A5B-9ACDA8062DD8}"/>
              </a:ext>
            </a:extLst>
          </p:cNvPr>
          <p:cNvSpPr/>
          <p:nvPr/>
        </p:nvSpPr>
        <p:spPr>
          <a:xfrm>
            <a:off x="1104900" y="21654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65B2D2-DBE0-432F-23E6-60D3E3A6ED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020FC3-9A7D-CA21-9CC1-2714D64B4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1476702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2B19C-A0CB-1C03-E942-FDEE2265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D59C107-F17B-9522-C972-A56F19675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r>
              <a:rPr lang="ko-KR" altLang="en-US" sz="2800" dirty="0">
                <a:latin typeface="+mn-lt"/>
              </a:rPr>
              <a:t>는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개인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역량</a:t>
            </a:r>
            <a:r>
              <a:rPr lang="en-US" altLang="ko-KR" sz="2800" dirty="0">
                <a:latin typeface="+mn-lt"/>
              </a:rPr>
              <a:t>(competencies ) :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기술을 비판적으로 평가하고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와 효과적으로 소통하고 협업하며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가정 및 직장에서 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를 도구로 사용할 수 있는 역량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19B255-3DEB-799D-160F-BF51B59D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76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DE87-18C1-4A10-0DE4-7C7455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387351-8197-8E76-6BD6-4BEFA7A7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endParaRPr lang="ko-KR" altLang="en-US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C9A12E8-488F-3C2C-F0A7-31AB22F7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pic>
        <p:nvPicPr>
          <p:cNvPr id="10" name="그래픽 9" descr="실행">
            <a:extLst>
              <a:ext uri="{FF2B5EF4-FFF2-40B4-BE49-F238E27FC236}">
                <a16:creationId xmlns:a16="http://schemas.microsoft.com/office/drawing/2014/main" id="{D9816C35-8601-DC34-18BB-C496603BBB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2823" y="1740039"/>
            <a:ext cx="1688960" cy="1688960"/>
          </a:xfrm>
          <a:prstGeom prst="rect">
            <a:avLst/>
          </a:prstGeom>
        </p:spPr>
      </p:pic>
      <p:pic>
        <p:nvPicPr>
          <p:cNvPr id="1026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F5E219D3-0BC1-AEB4-C1AD-A518CC4F0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40457"/>
            <a:ext cx="4977170" cy="288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00F4E7D9-7E53-71CA-3BF0-42FC1849E503}"/>
              </a:ext>
            </a:extLst>
          </p:cNvPr>
          <p:cNvSpPr/>
          <p:nvPr/>
        </p:nvSpPr>
        <p:spPr>
          <a:xfrm rot="2797774">
            <a:off x="4301866" y="2927253"/>
            <a:ext cx="964781" cy="964496"/>
          </a:xfrm>
          <a:prstGeom prst="plus">
            <a:avLst>
              <a:gd name="adj" fmla="val 39483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기는 아기">
            <a:extLst>
              <a:ext uri="{FF2B5EF4-FFF2-40B4-BE49-F238E27FC236}">
                <a16:creationId xmlns:a16="http://schemas.microsoft.com/office/drawing/2014/main" id="{FBF4451E-6A2F-DCC4-B4A2-F6BFBFBF48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703" y="4150961"/>
            <a:ext cx="1301680" cy="13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439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F87B5-1A89-D3F8-3C70-DED895D1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23EF3D5-91C3-8814-1048-E29B81F18A08}"/>
              </a:ext>
            </a:extLst>
          </p:cNvPr>
          <p:cNvSpPr/>
          <p:nvPr/>
        </p:nvSpPr>
        <p:spPr>
          <a:xfrm>
            <a:off x="1104900" y="28417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CAA8B2-B23D-7FB1-3069-7C9FADA91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79E083-24E4-3ABC-B0F4-41E2DAE794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>
              <a:lnSpc>
                <a:spcPct val="150000"/>
              </a:lnSpc>
              <a:buSzPct val="100000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308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39CB-29A8-D30A-CCE8-BFC53D81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DC10F64-F249-B0BF-30B8-1D6290B0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908" y="679572"/>
            <a:ext cx="9970441" cy="1078842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+mn-lt"/>
                <a:ea typeface="D2Coding" panose="020B0609020101020101" pitchFamily="49" charset="-127"/>
              </a:rPr>
              <a:t>머신러닝이전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 시대에는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관측된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귀납법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+mn-lt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E32C0B-E627-1492-21C2-F2E2E347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43203B-3F4D-82D3-E6A0-3CFC22A8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046B17-37E0-4F85-CF1F-E2D0D243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261017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6733E6-D0A6-586E-F781-8DD0117624C1}"/>
              </a:ext>
            </a:extLst>
          </p:cNvPr>
          <p:cNvSpPr txBox="1"/>
          <p:nvPr/>
        </p:nvSpPr>
        <p:spPr>
          <a:xfrm>
            <a:off x="860423" y="4520705"/>
            <a:ext cx="41021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방대하고 정밀한 데이터들을 직접 수년간 궁리하고 계산</a:t>
            </a:r>
            <a:r>
              <a:rPr lang="en-US" altLang="ko-KR" sz="1200" dirty="0"/>
              <a:t>(</a:t>
            </a:r>
            <a:r>
              <a:rPr lang="ko-KR" altLang="en-US" sz="1200" dirty="0"/>
              <a:t>귀납법</a:t>
            </a:r>
            <a:r>
              <a:rPr lang="en-US" altLang="ko-KR" sz="1200" dirty="0"/>
              <a:t>)</a:t>
            </a:r>
            <a:r>
              <a:rPr lang="ko-KR" altLang="en-US" sz="1200" dirty="0"/>
              <a:t>한 끝에</a:t>
            </a:r>
            <a:r>
              <a:rPr lang="en-US" altLang="ko-KR" sz="1200" dirty="0"/>
              <a:t>, </a:t>
            </a:r>
            <a:r>
              <a:rPr lang="ko-KR" altLang="en-US" sz="1200" dirty="0"/>
              <a:t>행성이 원이 아닌 </a:t>
            </a:r>
            <a:r>
              <a:rPr lang="en-US" altLang="ko-KR" sz="1200" dirty="0"/>
              <a:t>'</a:t>
            </a:r>
            <a:r>
              <a:rPr lang="ko-KR" altLang="en-US" sz="1200" dirty="0"/>
              <a:t>타원 궤도</a:t>
            </a:r>
            <a:r>
              <a:rPr lang="en-US" altLang="ko-KR" sz="1200" dirty="0"/>
              <a:t>'</a:t>
            </a:r>
            <a:r>
              <a:rPr lang="ko-KR" altLang="en-US" sz="1200" dirty="0"/>
              <a:t>로 공전한다는 규칙성을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5FD66-367E-4CF8-6DC4-51918DBDF02D}"/>
              </a:ext>
            </a:extLst>
          </p:cNvPr>
          <p:cNvSpPr txBox="1"/>
          <p:nvPr/>
        </p:nvSpPr>
        <p:spPr>
          <a:xfrm>
            <a:off x="6643410" y="6058772"/>
            <a:ext cx="38817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변광성의 밝기가 변하는 </a:t>
            </a:r>
            <a:r>
              <a:rPr lang="en-US" altLang="ko-KR" sz="1200" dirty="0"/>
              <a:t>'</a:t>
            </a:r>
            <a:r>
              <a:rPr lang="ko-KR" altLang="en-US" sz="1200" dirty="0"/>
              <a:t>주기</a:t>
            </a:r>
            <a:r>
              <a:rPr lang="en-US" altLang="ko-KR" sz="1200" dirty="0"/>
              <a:t>'</a:t>
            </a:r>
            <a:r>
              <a:rPr lang="ko-KR" altLang="en-US" sz="1200" dirty="0"/>
              <a:t>와 실제 별의 </a:t>
            </a:r>
            <a:r>
              <a:rPr lang="en-US" altLang="ko-KR" sz="1200" dirty="0"/>
              <a:t>'</a:t>
            </a:r>
            <a:r>
              <a:rPr lang="ko-KR" altLang="en-US" sz="1200" dirty="0"/>
              <a:t>밝기</a:t>
            </a:r>
            <a:r>
              <a:rPr lang="en-US" altLang="ko-KR" sz="1200" dirty="0"/>
              <a:t>(</a:t>
            </a:r>
            <a:r>
              <a:rPr lang="ko-KR" altLang="en-US" sz="1200" dirty="0"/>
              <a:t>광도</a:t>
            </a:r>
            <a:r>
              <a:rPr lang="en-US" altLang="ko-KR" sz="1200" dirty="0"/>
              <a:t>)' </a:t>
            </a:r>
            <a:r>
              <a:rPr lang="ko-KR" altLang="en-US" sz="1200" dirty="0"/>
              <a:t>사이에 일정한 선형적 관계</a:t>
            </a:r>
            <a:r>
              <a:rPr lang="en-US" altLang="ko-KR" sz="1200" dirty="0"/>
              <a:t>(</a:t>
            </a:r>
            <a:r>
              <a:rPr lang="ko-KR" altLang="en-US" sz="1200" dirty="0"/>
              <a:t>패턴</a:t>
            </a:r>
            <a:r>
              <a:rPr lang="en-US" altLang="ko-KR" sz="1200" dirty="0"/>
              <a:t>)</a:t>
            </a:r>
            <a:r>
              <a:rPr lang="ko-KR" altLang="en-US" sz="1200" dirty="0"/>
              <a:t>가 있음을 직접 발견</a:t>
            </a:r>
          </a:p>
        </p:txBody>
      </p:sp>
    </p:spTree>
    <p:extLst>
      <p:ext uri="{BB962C8B-B14F-4D97-AF65-F5344CB8AC3E}">
        <p14:creationId xmlns:p14="http://schemas.microsoft.com/office/powerpoint/2010/main" val="2762664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F7D-60F0-C169-8829-01C8F6C7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482F125-32B2-400E-E458-E0980BA0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278" y="723232"/>
            <a:ext cx="9299247" cy="10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8757285-31DC-BA9E-AB21-460B6925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86B95-670E-D3FF-A272-083E38C1053E}"/>
              </a:ext>
            </a:extLst>
          </p:cNvPr>
          <p:cNvSpPr/>
          <p:nvPr/>
        </p:nvSpPr>
        <p:spPr>
          <a:xfrm>
            <a:off x="4683760" y="2305685"/>
            <a:ext cx="2641600" cy="11887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460C2E-420B-007D-0A66-5D8980373754}"/>
              </a:ext>
            </a:extLst>
          </p:cNvPr>
          <p:cNvSpPr/>
          <p:nvPr/>
        </p:nvSpPr>
        <p:spPr>
          <a:xfrm>
            <a:off x="4683760" y="4399280"/>
            <a:ext cx="2641600" cy="11887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11" name="그래픽 10" descr="줄 화살표: 일자형">
            <a:extLst>
              <a:ext uri="{FF2B5EF4-FFF2-40B4-BE49-F238E27FC236}">
                <a16:creationId xmlns:a16="http://schemas.microsoft.com/office/drawing/2014/main" id="{09056CBC-03F5-03D5-ED50-D6ADD7E6D8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285365"/>
            <a:ext cx="701040" cy="701040"/>
          </a:xfrm>
          <a:prstGeom prst="rect">
            <a:avLst/>
          </a:prstGeom>
        </p:spPr>
      </p:pic>
      <p:pic>
        <p:nvPicPr>
          <p:cNvPr id="12" name="그래픽 11" descr="줄 화살표: 일자형">
            <a:extLst>
              <a:ext uri="{FF2B5EF4-FFF2-40B4-BE49-F238E27FC236}">
                <a16:creationId xmlns:a16="http://schemas.microsoft.com/office/drawing/2014/main" id="{88FF5411-4130-3777-7D53-1E224D37C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854326"/>
            <a:ext cx="701040" cy="701040"/>
          </a:xfrm>
          <a:prstGeom prst="rect">
            <a:avLst/>
          </a:prstGeom>
        </p:spPr>
      </p:pic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87088843-587D-1401-6690-C72E0ED6C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2515975"/>
            <a:ext cx="701040" cy="701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BE911-9A4F-E3BA-8E49-B09C896D3772}"/>
              </a:ext>
            </a:extLst>
          </p:cNvPr>
          <p:cNvSpPr txBox="1"/>
          <p:nvPr/>
        </p:nvSpPr>
        <p:spPr>
          <a:xfrm>
            <a:off x="2466983" y="238518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150AB2-2227-53AF-DD6D-436584B1B6E1}"/>
              </a:ext>
            </a:extLst>
          </p:cNvPr>
          <p:cNvSpPr txBox="1"/>
          <p:nvPr/>
        </p:nvSpPr>
        <p:spPr>
          <a:xfrm>
            <a:off x="2466983" y="3023474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3B341-3B7F-88C1-9D36-F37088448565}"/>
              </a:ext>
            </a:extLst>
          </p:cNvPr>
          <p:cNvSpPr txBox="1"/>
          <p:nvPr/>
        </p:nvSpPr>
        <p:spPr>
          <a:xfrm>
            <a:off x="8649500" y="2640968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21" name="그래픽 20" descr="줄 화살표: 일자형">
            <a:extLst>
              <a:ext uri="{FF2B5EF4-FFF2-40B4-BE49-F238E27FC236}">
                <a16:creationId xmlns:a16="http://schemas.microsoft.com/office/drawing/2014/main" id="{C8335104-6DF7-9D56-5664-2071F7A995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4368800"/>
            <a:ext cx="701040" cy="701040"/>
          </a:xfrm>
          <a:prstGeom prst="rect">
            <a:avLst/>
          </a:prstGeom>
        </p:spPr>
      </p:pic>
      <p:pic>
        <p:nvPicPr>
          <p:cNvPr id="22" name="그래픽 21" descr="줄 화살표: 일자형">
            <a:extLst>
              <a:ext uri="{FF2B5EF4-FFF2-40B4-BE49-F238E27FC236}">
                <a16:creationId xmlns:a16="http://schemas.microsoft.com/office/drawing/2014/main" id="{BE0C5C2E-828A-9865-FF5F-8C6ABFF95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4937761"/>
            <a:ext cx="701040" cy="701040"/>
          </a:xfrm>
          <a:prstGeom prst="rect">
            <a:avLst/>
          </a:prstGeom>
        </p:spPr>
      </p:pic>
      <p:pic>
        <p:nvPicPr>
          <p:cNvPr id="23" name="그래픽 22" descr="줄 화살표: 일자형">
            <a:extLst>
              <a:ext uri="{FF2B5EF4-FFF2-40B4-BE49-F238E27FC236}">
                <a16:creationId xmlns:a16="http://schemas.microsoft.com/office/drawing/2014/main" id="{9FC00F16-A2DA-3008-8AAE-8B25695D1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4599410"/>
            <a:ext cx="701040" cy="70104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0011B80-7168-1EB9-CD9E-A16AC80B4122}"/>
              </a:ext>
            </a:extLst>
          </p:cNvPr>
          <p:cNvSpPr txBox="1"/>
          <p:nvPr/>
        </p:nvSpPr>
        <p:spPr>
          <a:xfrm>
            <a:off x="2466983" y="446861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8209D8-FE31-F600-8EDD-F6DD758FA4B8}"/>
              </a:ext>
            </a:extLst>
          </p:cNvPr>
          <p:cNvSpPr txBox="1"/>
          <p:nvPr/>
        </p:nvSpPr>
        <p:spPr>
          <a:xfrm>
            <a:off x="2466983" y="5106909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A574E-16F2-5E7D-6791-9DF613B23231}"/>
              </a:ext>
            </a:extLst>
          </p:cNvPr>
          <p:cNvSpPr txBox="1"/>
          <p:nvPr/>
        </p:nvSpPr>
        <p:spPr>
          <a:xfrm>
            <a:off x="8649500" y="4724403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6344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5D84-9CA0-9A89-9AE8-5048EF8C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684C827-6112-6784-ADED-E4B41E9CC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453" y="1971006"/>
            <a:ext cx="10213647" cy="37439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 err="1">
                <a:latin typeface="+mn-lt"/>
              </a:rPr>
              <a:t>머신러닝</a:t>
            </a:r>
            <a:r>
              <a:rPr lang="ko-KR" altLang="en-US" sz="2400" dirty="0">
                <a:latin typeface="+mn-lt"/>
              </a:rPr>
              <a:t> 시대의 인간은 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규칙을 계산하는 계산원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이 아니라</a:t>
            </a:r>
            <a:r>
              <a:rPr lang="en-US" altLang="ko-KR" sz="2400" dirty="0">
                <a:latin typeface="+mn-lt"/>
              </a:rPr>
              <a:t>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문제를 올바르게 정의하고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출발점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en-US" altLang="ko-KR" sz="2400" dirty="0">
                <a:latin typeface="+mn-lt"/>
              </a:rPr>
              <a:t>AI</a:t>
            </a:r>
            <a:r>
              <a:rPr lang="ko-KR" altLang="en-US" sz="2400" dirty="0">
                <a:latin typeface="+mn-lt"/>
              </a:rPr>
              <a:t>의 결과를 비판적으로 검증하며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과정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이를 윤리적이고 가치 있게 세상에 적용하는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도착점</a:t>
            </a:r>
            <a:r>
              <a:rPr lang="en-US" altLang="ko-KR" sz="2400" dirty="0">
                <a:latin typeface="+mn-lt"/>
              </a:rPr>
              <a:t>) '</a:t>
            </a:r>
            <a:r>
              <a:rPr lang="ko-KR" altLang="en-US" sz="2400" dirty="0">
                <a:latin typeface="+mn-lt"/>
              </a:rPr>
              <a:t>감독관이자 설계자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로서의 역량이 필요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807ABBE-926F-4674-3DF9-5C66AEAB7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13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482E-F37B-B678-C5D1-F9772C34B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030FC98-3D23-ED2E-9EC4-CB3098C3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2" name="Picture 2" descr="아기가 부모를 알아보는 시기는 언제일까?">
            <a:extLst>
              <a:ext uri="{FF2B5EF4-FFF2-40B4-BE49-F238E27FC236}">
                <a16:creationId xmlns:a16="http://schemas.microsoft.com/office/drawing/2014/main" id="{3AC7B627-77E3-1217-FF4B-1F06205BF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3" y="2490937"/>
            <a:ext cx="4607639" cy="3068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C40886-4069-981E-A8D7-A1350274B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980" y="2490937"/>
            <a:ext cx="4743582" cy="30686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37E07-93B0-6B8B-E648-59C25C7967F5}"/>
              </a:ext>
            </a:extLst>
          </p:cNvPr>
          <p:cNvSpPr txBox="1"/>
          <p:nvPr/>
        </p:nvSpPr>
        <p:spPr>
          <a:xfrm>
            <a:off x="1910080" y="1963712"/>
            <a:ext cx="1107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Human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0B54C-2C31-787C-E855-B061F83F6C39}"/>
              </a:ext>
            </a:extLst>
          </p:cNvPr>
          <p:cNvSpPr txBox="1"/>
          <p:nvPr/>
        </p:nvSpPr>
        <p:spPr>
          <a:xfrm>
            <a:off x="8004451" y="1963712"/>
            <a:ext cx="2072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Deep</a:t>
            </a:r>
            <a:r>
              <a:rPr lang="ko-KR" altLang="en-US" sz="2000" dirty="0"/>
              <a:t> </a:t>
            </a:r>
            <a:r>
              <a:rPr lang="en-US" altLang="ko-KR" sz="2000" dirty="0"/>
              <a:t>Learning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89398C86-972C-45A1-5439-DD236129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+mn-lt"/>
                <a:cs typeface="Times New Roman" panose="02020603050405020304" pitchFamily="18" charset="0"/>
              </a:rPr>
              <a:t>How to classify 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963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1CAE8AD-8B03-DB93-B617-909AAC92E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A78BED-627D-BA03-659E-24AB85F20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45DA-B985-E909-67B9-CDF34CB3A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C068FA0-8481-998C-7B14-4E0D8515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153" y="1305833"/>
            <a:ext cx="8625527" cy="46239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7C8E5A-5D44-779D-6463-18DE0C9253F9}"/>
              </a:ext>
            </a:extLst>
          </p:cNvPr>
          <p:cNvSpPr txBox="1"/>
          <p:nvPr/>
        </p:nvSpPr>
        <p:spPr>
          <a:xfrm>
            <a:off x="956535" y="642206"/>
            <a:ext cx="570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 practice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71B1A59D-899A-FD38-EE3F-4807ADECF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491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153F-16C7-748C-F783-C532A61B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9CE90B8-75C0-B59B-FBB8-B7DD34F6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Deep </a:t>
            </a:r>
            <a:r>
              <a:rPr lang="en-US" altLang="ko-KR" b="1" dirty="0" err="1">
                <a:latin typeface="+mn-lt"/>
                <a:cs typeface="Times New Roman" panose="02020603050405020304" pitchFamily="18" charset="0"/>
              </a:rPr>
              <a:t>Learning</a:t>
            </a:r>
            <a:r>
              <a:rPr lang="en-US" altLang="ko-KR" sz="3200" b="1" dirty="0" err="1">
                <a:latin typeface="+mn-lt"/>
                <a:cs typeface="Times New Roman" panose="02020603050405020304" pitchFamily="18" charset="0"/>
              </a:rPr>
              <a:t>_how</a:t>
            </a:r>
            <a:r>
              <a:rPr lang="en-US" altLang="ko-KR" sz="3200" b="1" dirty="0">
                <a:latin typeface="+mn-lt"/>
                <a:cs typeface="Times New Roman" panose="02020603050405020304" pitchFamily="18" charset="0"/>
              </a:rPr>
              <a:t> to learn?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E2235D-A43D-7415-FE91-BE648204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B652CA2C-25BA-4D97-1A1A-0D71F4AC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534" y="1348552"/>
            <a:ext cx="8880719" cy="499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7A1C21-60E2-96BE-1490-7A8F393B4D42}"/>
              </a:ext>
            </a:extLst>
          </p:cNvPr>
          <p:cNvSpPr txBox="1"/>
          <p:nvPr/>
        </p:nvSpPr>
        <p:spPr>
          <a:xfrm>
            <a:off x="3210982" y="6348383"/>
            <a:ext cx="83893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https://www.youtube.com/watch?v=aircAruvnKk&amp;list=PLZHQObOWTQDNU6R1_67000Dx_ZCJB-3pi</a:t>
            </a:r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41EFCE3-4B25-5327-400F-6F094507C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675932" cy="164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FC4B4-4383-2C54-E75C-938D44A2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018" y="1348551"/>
            <a:ext cx="3707838" cy="321392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B1E103A-3B02-4BCF-B1FA-7E25E3E7EB62}"/>
              </a:ext>
            </a:extLst>
          </p:cNvPr>
          <p:cNvSpPr/>
          <p:nvPr/>
        </p:nvSpPr>
        <p:spPr>
          <a:xfrm>
            <a:off x="4252687" y="1728258"/>
            <a:ext cx="843986" cy="6625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ADF67FD-3150-733B-AB4E-DC4133CECA39}"/>
              </a:ext>
            </a:extLst>
          </p:cNvPr>
          <p:cNvCxnSpPr>
            <a:cxnSpLocks/>
          </p:cNvCxnSpPr>
          <p:nvPr/>
        </p:nvCxnSpPr>
        <p:spPr>
          <a:xfrm flipH="1" flipV="1">
            <a:off x="3861856" y="1319603"/>
            <a:ext cx="1234817" cy="39463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EF892D3-7093-5D1A-355A-73EE10E488DF}"/>
              </a:ext>
            </a:extLst>
          </p:cNvPr>
          <p:cNvCxnSpPr>
            <a:cxnSpLocks/>
          </p:cNvCxnSpPr>
          <p:nvPr/>
        </p:nvCxnSpPr>
        <p:spPr>
          <a:xfrm flipH="1">
            <a:off x="3861856" y="2390775"/>
            <a:ext cx="1234817" cy="220064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78FFEF-A7A3-0EE4-C4A7-1AB34273502C}"/>
              </a:ext>
            </a:extLst>
          </p:cNvPr>
          <p:cNvSpPr txBox="1"/>
          <p:nvPr/>
        </p:nvSpPr>
        <p:spPr>
          <a:xfrm>
            <a:off x="3946408" y="3432968"/>
            <a:ext cx="1672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512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5E29-3325-DDA9-94E0-C37DAE8A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6B3467-9A3A-1146-0E36-B8C6FF89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6B0A45F-78D4-5488-697F-BCBCAA9D7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7EF5665-33F9-B25F-D9CB-DFD2F5A2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552354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20E0872F-FDAF-76DB-22F8-7B195997A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9170349" cy="4589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826CD-001A-7C9F-4E5F-11E33E7B8FFE}"/>
              </a:ext>
            </a:extLst>
          </p:cNvPr>
          <p:cNvSpPr txBox="1"/>
          <p:nvPr/>
        </p:nvSpPr>
        <p:spPr>
          <a:xfrm>
            <a:off x="461669" y="638629"/>
            <a:ext cx="98908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ea typeface="D2Coding" panose="020B0609020101020101" pitchFamily="49" charset="-127"/>
              </a:rPr>
              <a:t>(Classification) &amp; </a:t>
            </a:r>
            <a:r>
              <a:rPr lang="ko-KR" altLang="en-US" sz="2000" dirty="0">
                <a:ea typeface="D2Coding" panose="020B0609020101020101" pitchFamily="49" charset="-127"/>
              </a:rPr>
              <a:t>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FF0000"/>
                </a:solidFill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https://huggingface.co/spaces/Xenova/yolov10-web</a:t>
            </a:r>
            <a:endParaRPr lang="ko-KR" altLang="en-US" sz="2000" dirty="0">
              <a:solidFill>
                <a:srgbClr val="FF0000"/>
              </a:solidFill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A8AFEA-6314-1673-E5BF-5B5D2ADB01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2403" y="1499713"/>
            <a:ext cx="5694427" cy="474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74990-2EC9-3E6A-AA88-481CFA3FE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5DF0016-7076-7550-6854-D50813801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DB1C0-D388-E4DC-7D8D-102601FFF86C}"/>
              </a:ext>
            </a:extLst>
          </p:cNvPr>
          <p:cNvSpPr txBox="1"/>
          <p:nvPr/>
        </p:nvSpPr>
        <p:spPr>
          <a:xfrm>
            <a:off x="461670" y="638629"/>
            <a:ext cx="92272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FAB364-5581-D2DF-8F7A-D290B771F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75" y="1689415"/>
            <a:ext cx="4200874" cy="4539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E3171-BD09-B89E-5980-4ED7ABC3EB1F}"/>
              </a:ext>
            </a:extLst>
          </p:cNvPr>
          <p:cNvSpPr txBox="1"/>
          <p:nvPr/>
        </p:nvSpPr>
        <p:spPr>
          <a:xfrm>
            <a:off x="6096000" y="1139612"/>
            <a:ext cx="48398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https://pjreddie.com/darknet/yolo/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CE2702-171C-32F2-1621-0572632CB79F}"/>
              </a:ext>
            </a:extLst>
          </p:cNvPr>
          <p:cNvSpPr txBox="1"/>
          <p:nvPr/>
        </p:nvSpPr>
        <p:spPr>
          <a:xfrm>
            <a:off x="461670" y="1164022"/>
            <a:ext cx="56343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https://shaqian.github.io/tfjs-yolo-demo/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2445870-1F6F-987A-679B-05AD46613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797" y="1689415"/>
            <a:ext cx="5490226" cy="435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81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20F6-70E4-E079-4BE5-ACBC974D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D35559-0750-49BE-F3C9-8704B52B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5C20774-166D-3FEB-AA9C-C47EAECC6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AA6A2D44-A405-2D37-5810-6908991E8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B781AD-11EE-9278-9E0B-41CE20B3DE3A}"/>
              </a:ext>
            </a:extLst>
          </p:cNvPr>
          <p:cNvSpPr txBox="1"/>
          <p:nvPr/>
        </p:nvSpPr>
        <p:spPr>
          <a:xfrm>
            <a:off x="1981200" y="14345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69930-8CA1-A79B-1B2B-7589AB02D8A7}"/>
              </a:ext>
            </a:extLst>
          </p:cNvPr>
          <p:cNvSpPr txBox="1"/>
          <p:nvPr/>
        </p:nvSpPr>
        <p:spPr>
          <a:xfrm>
            <a:off x="7105202" y="1469545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309DC-B6A2-0609-8030-1474ECA0D5C1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F2B5F1-AC90-008D-96EE-070CCD18B12F}"/>
              </a:ext>
            </a:extLst>
          </p:cNvPr>
          <p:cNvSpPr txBox="1"/>
          <p:nvPr/>
        </p:nvSpPr>
        <p:spPr>
          <a:xfrm>
            <a:off x="7264666" y="5408114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77265B-2E48-6320-1E96-6213A2C2B1A3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58ADFB7-373F-B475-0418-D4A56D676777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6E1EF-7362-B4D4-8179-EF97DB755BE6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F9F665-2560-1968-A2BF-38CACC4F891D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E2AF5-A808-96F0-F4B3-AE1CB2E01413}"/>
              </a:ext>
            </a:extLst>
          </p:cNvPr>
          <p:cNvSpPr txBox="1"/>
          <p:nvPr/>
        </p:nvSpPr>
        <p:spPr>
          <a:xfrm>
            <a:off x="6473236" y="2117141"/>
            <a:ext cx="21564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8FE60CC7-0E88-D026-73D5-668A52A7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9255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E2467-5EB9-C685-A299-2EEB8BD0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193A81-B263-33EA-AC53-8F102D51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2E49D3-1702-B39F-259C-E2B40D0E35A8}"/>
              </a:ext>
            </a:extLst>
          </p:cNvPr>
          <p:cNvSpPr txBox="1"/>
          <p:nvPr/>
        </p:nvSpPr>
        <p:spPr>
          <a:xfrm>
            <a:off x="1983551" y="1372995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ED103-4CC7-3525-0C64-F07A40470B54}"/>
              </a:ext>
            </a:extLst>
          </p:cNvPr>
          <p:cNvSpPr txBox="1"/>
          <p:nvPr/>
        </p:nvSpPr>
        <p:spPr>
          <a:xfrm>
            <a:off x="7458185" y="1398653"/>
            <a:ext cx="2042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5EC3F1-8C41-C890-A751-98FCC6A945B3}"/>
              </a:ext>
            </a:extLst>
          </p:cNvPr>
          <p:cNvSpPr txBox="1"/>
          <p:nvPr/>
        </p:nvSpPr>
        <p:spPr>
          <a:xfrm>
            <a:off x="2495550" y="5465264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DE053-0025-18D3-0223-5D2D7C1DCDC9}"/>
              </a:ext>
            </a:extLst>
          </p:cNvPr>
          <p:cNvSpPr txBox="1"/>
          <p:nvPr/>
        </p:nvSpPr>
        <p:spPr>
          <a:xfrm>
            <a:off x="7702816" y="5408114"/>
            <a:ext cx="3225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3794176-D717-4B6F-F62D-C98A47F441E3}"/>
              </a:ext>
            </a:extLst>
          </p:cNvPr>
          <p:cNvCxnSpPr>
            <a:cxnSpLocks/>
          </p:cNvCxnSpPr>
          <p:nvPr/>
        </p:nvCxnSpPr>
        <p:spPr>
          <a:xfrm>
            <a:off x="513397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7712384-FF73-1B78-943A-D1719CE93F3C}"/>
              </a:ext>
            </a:extLst>
          </p:cNvPr>
          <p:cNvSpPr txBox="1"/>
          <p:nvPr/>
        </p:nvSpPr>
        <p:spPr>
          <a:xfrm>
            <a:off x="5343525" y="3080861"/>
            <a:ext cx="1905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Rules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1D67749-C473-9D24-467A-27F4BD2FCF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38998" y="2512543"/>
            <a:ext cx="3071750" cy="24036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5A8CA57-80F8-80D7-280A-EA5A00F7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1866248"/>
            <a:ext cx="3509902" cy="3465018"/>
          </a:xfrm>
          <a:prstGeom prst="rect">
            <a:avLst/>
          </a:prstGeom>
        </p:spPr>
      </p:pic>
      <p:sp>
        <p:nvSpPr>
          <p:cNvPr id="23" name="제목 1">
            <a:extLst>
              <a:ext uri="{FF2B5EF4-FFF2-40B4-BE49-F238E27FC236}">
                <a16:creationId xmlns:a16="http://schemas.microsoft.com/office/drawing/2014/main" id="{419C8791-2659-0D29-CFCA-56FC19AD8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77130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177" y="616754"/>
            <a:ext cx="10629571" cy="11814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컴퓨터 학습은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Pattern Recognition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“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복잡한 함수를 찾는 과정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”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입력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(Input)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을 출력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(Output)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에 </a:t>
            </a:r>
            <a:r>
              <a:rPr lang="ko-KR" altLang="en-US" sz="2100" dirty="0" err="1">
                <a:latin typeface="+mn-lt"/>
                <a:ea typeface="D2Coding" panose="020B0609020101020101" pitchFamily="49" charset="-127"/>
              </a:rPr>
              <a:t>점대점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(point by point)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매핑하는 작업만을 학습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3015360" y="2774418"/>
            <a:ext cx="3509265" cy="2656715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9091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/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/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function">
            <a:extLst>
              <a:ext uri="{FF2B5EF4-FFF2-40B4-BE49-F238E27FC236}">
                <a16:creationId xmlns:a16="http://schemas.microsoft.com/office/drawing/2014/main" id="{BB6A124A-B08C-1255-891E-9860AECD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3445" y="2703841"/>
            <a:ext cx="2605778" cy="260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734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D944-819A-99A2-0021-8DFCD7A7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A5631C7-C44C-1826-3DE3-E976FA25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039A759-A092-CFD2-0D84-CA7A9F224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00" y="1348885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CF98E-FB07-1F35-A45B-77E818B32C87}"/>
              </a:ext>
            </a:extLst>
          </p:cNvPr>
          <p:cNvSpPr txBox="1"/>
          <p:nvPr/>
        </p:nvSpPr>
        <p:spPr>
          <a:xfrm>
            <a:off x="491325" y="679572"/>
            <a:ext cx="10699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Text</a:t>
            </a:r>
            <a:r>
              <a:rPr lang="ko-KR" altLang="en-US" sz="2000" dirty="0">
                <a:ea typeface="D2Coding" panose="020B0609020101020101" pitchFamily="49" charset="-127"/>
              </a:rPr>
              <a:t>를 처리하는 </a:t>
            </a:r>
            <a:r>
              <a:rPr lang="en-US" altLang="ko-KR" sz="2000" dirty="0">
                <a:ea typeface="D2Coding" panose="020B0609020101020101" pitchFamily="49" charset="-127"/>
              </a:rPr>
              <a:t>mechanism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1E80A2-DCA4-8DBF-8859-4701C2AF7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663" y="3346352"/>
            <a:ext cx="6911939" cy="321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87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9C713-3A9E-1EB0-ABAE-019CE15E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503A4E1-378C-8C12-39F8-05F0DD5B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8194" name="Picture 2" descr="Examples of Photorealistic GAN Generated Faces">
            <a:extLst>
              <a:ext uri="{FF2B5EF4-FFF2-40B4-BE49-F238E27FC236}">
                <a16:creationId xmlns:a16="http://schemas.microsoft.com/office/drawing/2014/main" id="{A04F284F-E9EB-A504-DA3A-9FA6D3FE7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243906"/>
            <a:ext cx="6381750" cy="4766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C1D3A-0F11-1BE3-E1AE-2FFBFE242FAC}"/>
              </a:ext>
            </a:extLst>
          </p:cNvPr>
          <p:cNvSpPr txBox="1"/>
          <p:nvPr/>
        </p:nvSpPr>
        <p:spPr>
          <a:xfrm>
            <a:off x="971550" y="6086475"/>
            <a:ext cx="6477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effectLst/>
                <a:latin typeface="Helvetica Neue"/>
              </a:rPr>
              <a:t>Examples of Photorealistic GAN-Generated </a:t>
            </a:r>
            <a:r>
              <a:rPr lang="en-US" altLang="ko-KR" sz="1100" b="0" i="0" dirty="0" err="1">
                <a:effectLst/>
                <a:latin typeface="Helvetica Neue"/>
              </a:rPr>
              <a:t>Faces.Taken</a:t>
            </a:r>
            <a:r>
              <a:rPr lang="en-US" altLang="ko-KR" sz="1100" b="0" i="0" dirty="0">
                <a:effectLst/>
                <a:latin typeface="Helvetica Neue"/>
              </a:rPr>
              <a:t> from Progressive Growing of GANs for Improved Quality, Stability, and Variation, 2017.</a:t>
            </a:r>
            <a:endParaRPr lang="ko-KR" altLang="en-US" sz="1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5A61E4-270B-4EA8-8626-23E5E8E47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Generate Face Image 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2427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09AAA-1F30-AE73-C38D-9C818C1B8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7988D7-267E-7FB5-32B6-D6E8A94E5889}"/>
              </a:ext>
            </a:extLst>
          </p:cNvPr>
          <p:cNvSpPr/>
          <p:nvPr/>
        </p:nvSpPr>
        <p:spPr>
          <a:xfrm>
            <a:off x="1104900" y="35370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C774A1-09F8-7B0A-48B8-92C9456D3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CE4D27-B67D-DEEF-3BCB-55ABC002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33433807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F7D7E62-88C0-2899-7D53-45B1AA80C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rgbClr val="FFFFFF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38879" y="1883378"/>
            <a:ext cx="5734688" cy="3866290"/>
            <a:chOff x="2938879" y="1883378"/>
            <a:chExt cx="5734688" cy="3866290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C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3671" y="1883378"/>
              <a:ext cx="3569896" cy="3866290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0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870160" cy="4305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2928225" y="3200636"/>
            <a:ext cx="8852915" cy="310491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4983229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2BC5E3-224A-24E3-5CD4-6E5BAB6E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D99B4-8E4E-4BDD-3CB8-D12EAE2B6F32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ea typeface="D2Coding" panose="020B0609020101020101" pitchFamily="49" charset="-127"/>
              </a:rPr>
              <a:t>이전 픽셀들을 기반으로 다음 픽셀을 확률적으로 예측하여</a:t>
            </a:r>
            <a:r>
              <a:rPr lang="ko-KR" altLang="en-US" dirty="0"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11FA24-C803-43CA-B36C-F6BBFD7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3957" y="2547639"/>
            <a:ext cx="7624085" cy="403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115115" y="355166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대규모 언어 모델 </a:t>
            </a:r>
            <a:r>
              <a:rPr lang="en-US" altLang="ko-KR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(Large Language Model, LLM)</a:t>
            </a:r>
            <a:endParaRPr lang="ko-KR" altLang="en-US" sz="2400" dirty="0">
              <a:solidFill>
                <a:srgbClr val="FFFFFF"/>
              </a:solidFill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471797" y="994854"/>
            <a:ext cx="930847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등</a:t>
            </a:r>
            <a:endParaRPr lang="en-US" altLang="ko-KR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FF"/>
              </a:solidFill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6662-7D95-C9B3-62AA-957CAF4E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A79256-9618-23AF-842D-9DC6D75C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6F99FA-1063-9B3E-6B8A-D5378429B1A2}"/>
              </a:ext>
            </a:extLst>
          </p:cNvPr>
          <p:cNvSpPr txBox="1"/>
          <p:nvPr/>
        </p:nvSpPr>
        <p:spPr>
          <a:xfrm>
            <a:off x="371475" y="852542"/>
            <a:ext cx="481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Major Large Language Models (LLMs)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5488D2-788A-A220-F5B8-D703537CA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465" y="1252652"/>
            <a:ext cx="9179802" cy="53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08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5748-9A97-E469-5E70-62496900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7105A62-C109-8869-51D9-44353E91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41486B11-1D22-2746-6822-E1FBA2BA6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8" y="518408"/>
            <a:ext cx="8253412" cy="5821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674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15BFE62-C839-E465-CB29-E8EBA793E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dirty="0">
                <a:ea typeface="D2Coding" panose="020B0609020101020101" pitchFamily="49" charset="-127"/>
              </a:rPr>
              <a:t> </a:t>
            </a:r>
            <a:r>
              <a:rPr lang="ko-KR" altLang="en-US" dirty="0">
                <a:ea typeface="D2Coding" panose="020B0609020101020101" pitchFamily="49" charset="-127"/>
              </a:rPr>
              <a:t> 말을 이어가는 끝 말 이어가기 끝 판 왕 </a:t>
            </a:r>
            <a:r>
              <a:rPr lang="en-US" altLang="ko-KR" dirty="0"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00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0553-22BD-A141-661E-CFFF82AE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27804C-449C-463A-C5BE-8C503ABF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69A97-C2BE-D9A0-A387-843BB3B69242}"/>
              </a:ext>
            </a:extLst>
          </p:cNvPr>
          <p:cNvSpPr txBox="1"/>
          <p:nvPr/>
        </p:nvSpPr>
        <p:spPr>
          <a:xfrm>
            <a:off x="572955" y="697875"/>
            <a:ext cx="9694995" cy="58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400" dirty="0">
                <a:ea typeface="D2Coding" panose="020B0609020101020101" pitchFamily="49" charset="-127"/>
              </a:rPr>
              <a:t>(Generative AI, LLM)</a:t>
            </a:r>
            <a:endParaRPr lang="ko-KR" altLang="en-US" sz="2400" dirty="0">
              <a:ea typeface="D2Coding" panose="020B0609020101020101" pitchFamily="49" charset="-127"/>
            </a:endParaRPr>
          </a:p>
        </p:txBody>
      </p:sp>
      <p:pic>
        <p:nvPicPr>
          <p:cNvPr id="2050" name="Picture 2" descr="나뭇가지에 주홍색 잉꼬 현관">
            <a:extLst>
              <a:ext uri="{FF2B5EF4-FFF2-40B4-BE49-F238E27FC236}">
                <a16:creationId xmlns:a16="http://schemas.microsoft.com/office/drawing/2014/main" id="{2E033474-6E41-5E4F-66B7-54A1F585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1836451"/>
            <a:ext cx="36576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110A9A-7874-8257-1B97-39876E538845}"/>
              </a:ext>
            </a:extLst>
          </p:cNvPr>
          <p:cNvSpPr txBox="1"/>
          <p:nvPr/>
        </p:nvSpPr>
        <p:spPr>
          <a:xfrm>
            <a:off x="6673214" y="1851958"/>
            <a:ext cx="5290186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</a:rPr>
              <a:t>대규모 언어 모델 </a:t>
            </a:r>
            <a:r>
              <a:rPr lang="en-US" altLang="ko-KR" sz="1600" dirty="0">
                <a:ea typeface="D2Coding" panose="020B0609020101020101" pitchFamily="49" charset="-127"/>
              </a:rPr>
              <a:t>(Large Language Model, LLM)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ea typeface="D2Coding" panose="020B0609020101020101" pitchFamily="49" charset="-127"/>
              </a:rPr>
              <a:t>등</a:t>
            </a:r>
            <a:endParaRPr lang="en-US" altLang="ko-KR" sz="16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8167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C289-FB36-0F26-D9B4-AE7777D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4798AA-0B60-9394-D1EE-42D1F0EE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5A948-FA2A-62F4-707C-F357C4E527CF}"/>
              </a:ext>
            </a:extLst>
          </p:cNvPr>
          <p:cNvSpPr txBox="1"/>
          <p:nvPr/>
        </p:nvSpPr>
        <p:spPr>
          <a:xfrm>
            <a:off x="218291" y="247650"/>
            <a:ext cx="10354460" cy="125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LLM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의 한계는 정보 검색</a:t>
            </a: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(Information Retrieval)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만 잘함</a:t>
            </a:r>
            <a:endParaRPr lang="en-US" altLang="ko-KR" dirty="0">
              <a:ea typeface="D2Coding" panose="020B0609020101020101" pitchFamily="49" charset="-127"/>
              <a:cs typeface="+mj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학습 중에 접했던 패턴과 매우 유사한 패턴을 인식하거나 생성해 내며 본질적으로 새로운 상황에 적응하는 능력이 떨어짐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(</a:t>
            </a: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아래 그림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An easy yet novel puzzle)</a:t>
            </a:r>
            <a:endParaRPr lang="ko-KR" altLang="en-US" sz="1600" dirty="0"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7CDEEFE-CC04-501A-16E8-419D49941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759" y="1742079"/>
            <a:ext cx="8340091" cy="46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41239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1F98-2A90-A1E0-3E6D-AFF6D2CE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90EEC5-D3FB-1EBC-028E-E1677E27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9FA9-C66D-8B99-1236-5A901EB63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128" y="970346"/>
            <a:ext cx="9727744" cy="4917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Gary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Marcus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LLMs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are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fluent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bullshitters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."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언어적 유창성은 뛰어나나 사실 검증 메커니즘이 없음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Yejin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Choi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Commonsense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한컴 고딕" panose="02000500000000000000" pitchFamily="2" charset="-127"/>
              </a:rPr>
              <a:t>missing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therefore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bullshit-prone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“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세상에 대한 상식 없이 말하기 때문에 자주 현실과 동떨어짐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코마에서 깨어난 신입사원 아인슈타인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55912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68BC-2E6C-F726-4EA1-D52CD0D6B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961E60-D9F0-9719-D657-861C30216ACD}"/>
              </a:ext>
            </a:extLst>
          </p:cNvPr>
          <p:cNvSpPr txBox="1"/>
          <p:nvPr/>
        </p:nvSpPr>
        <p:spPr>
          <a:xfrm>
            <a:off x="729672" y="1034108"/>
            <a:ext cx="9509703" cy="421653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3600" dirty="0"/>
              <a:t>Learn A to Z to become AI Expert.</a:t>
            </a:r>
          </a:p>
          <a:p>
            <a:pPr>
              <a:lnSpc>
                <a:spcPct val="200000"/>
              </a:lnSpc>
            </a:pPr>
            <a:endParaRPr lang="en-US" altLang="ko-KR" sz="800" dirty="0">
              <a:solidFill>
                <a:srgbClr val="FFFF00"/>
              </a:solidFill>
            </a:endParaRP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Python, Web application, SQL(Database)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Pandas(EDA)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Feature Engineering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rgbClr val="FFFF00"/>
                </a:solidFill>
              </a:rPr>
              <a:t>FastAPI</a:t>
            </a:r>
            <a:r>
              <a:rPr lang="en-US" altLang="ko-KR" dirty="0">
                <a:solidFill>
                  <a:srgbClr val="FFFF00"/>
                </a:solidFill>
              </a:rPr>
              <a:t>(Modern Web Architecture)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Data Pipeline(Work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Flow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Automation, n8n)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Math for machine learning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Scikit-Learn(Machine Learning Algorithms)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Deep Learning(FNN, CNN, RNN, Transformer)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LLM(Large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Language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Model)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rgbClr val="FFFF00"/>
                </a:solidFill>
              </a:rPr>
              <a:t>Langchain</a:t>
            </a:r>
            <a:r>
              <a:rPr lang="en-US" altLang="ko-KR" dirty="0">
                <a:solidFill>
                  <a:srgbClr val="FFFF00"/>
                </a:solidFill>
              </a:rPr>
              <a:t> (AI Agent)</a:t>
            </a:r>
          </a:p>
        </p:txBody>
      </p:sp>
    </p:spTree>
    <p:extLst>
      <p:ext uri="{BB962C8B-B14F-4D97-AF65-F5344CB8AC3E}">
        <p14:creationId xmlns:p14="http://schemas.microsoft.com/office/powerpoint/2010/main" val="28386001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9571A-E691-53B9-5537-C91AEAFE0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E0FD5A-C573-E34A-78B6-0D3354B80308}"/>
              </a:ext>
            </a:extLst>
          </p:cNvPr>
          <p:cNvSpPr txBox="1"/>
          <p:nvPr/>
        </p:nvSpPr>
        <p:spPr>
          <a:xfrm>
            <a:off x="683490" y="994853"/>
            <a:ext cx="9301019" cy="2117183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Python for Data Analysis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Python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r>
              <a:rPr lang="ko-KR" altLang="ko-KR" dirty="0"/>
              <a:t> </a:t>
            </a:r>
            <a:r>
              <a:rPr lang="ko-KR" altLang="ko-KR" dirty="0" err="1"/>
              <a:t>Handbook</a:t>
            </a:r>
            <a:r>
              <a:rPr lang="ko-KR" altLang="ko-KR" dirty="0"/>
              <a:t>: </a:t>
            </a: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Tools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</a:t>
            </a:r>
            <a:r>
              <a:rPr lang="ko-KR" altLang="ko-KR" dirty="0" err="1"/>
              <a:t>Working</a:t>
            </a:r>
            <a:r>
              <a:rPr lang="ko-KR" altLang="ko-KR" dirty="0"/>
              <a:t> </a:t>
            </a:r>
            <a:r>
              <a:rPr lang="ko-KR" altLang="ko-KR" dirty="0" err="1"/>
              <a:t>with</a:t>
            </a:r>
            <a:r>
              <a:rPr lang="ko-KR" altLang="ko-KR" dirty="0"/>
              <a:t> Data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Pandas</a:t>
            </a:r>
            <a:r>
              <a:rPr lang="en-US" altLang="ko-KR" dirty="0">
                <a:solidFill>
                  <a:srgbClr val="FFFF00"/>
                </a:solidFill>
              </a:rPr>
              <a:t>(Data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Wrangle)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FastAPI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3" name="그림 2" descr="Python for Data Analysis">
            <a:extLst>
              <a:ext uri="{FF2B5EF4-FFF2-40B4-BE49-F238E27FC236}">
                <a16:creationId xmlns:a16="http://schemas.microsoft.com/office/drawing/2014/main" id="{DA171502-5E32-CA14-CF0D-01DDDE69F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398" y="2811158"/>
            <a:ext cx="2326211" cy="3051989"/>
          </a:xfrm>
          <a:prstGeom prst="rect">
            <a:avLst/>
          </a:prstGeom>
        </p:spPr>
      </p:pic>
      <p:pic>
        <p:nvPicPr>
          <p:cNvPr id="2050" name="Picture 2" descr="FastAPI [Book]">
            <a:extLst>
              <a:ext uri="{FF2B5EF4-FFF2-40B4-BE49-F238E27FC236}">
                <a16:creationId xmlns:a16="http://schemas.microsoft.com/office/drawing/2014/main" id="{76A712BA-E052-8B26-F826-D3EAE8EE3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2299" y="2811157"/>
            <a:ext cx="2326211" cy="3051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Fluent Python - 교보문고">
            <a:extLst>
              <a:ext uri="{FF2B5EF4-FFF2-40B4-BE49-F238E27FC236}">
                <a16:creationId xmlns:a16="http://schemas.microsoft.com/office/drawing/2014/main" id="{7FD9A664-CDDF-1AF4-DEE6-8814D6249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497" y="2820684"/>
            <a:ext cx="2326211" cy="3053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9C726D41-58B7-7805-C16F-3DC10D4B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36033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77E1-F60F-EF8C-5807-22523F9DE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78C10FD3-B3DD-B475-DB99-541B98859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261" y="2825512"/>
            <a:ext cx="2129588" cy="38013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104568-A957-7943-84B3-76AD8028A6B5}"/>
              </a:ext>
            </a:extLst>
          </p:cNvPr>
          <p:cNvSpPr txBox="1"/>
          <p:nvPr/>
        </p:nvSpPr>
        <p:spPr>
          <a:xfrm>
            <a:off x="626340" y="985328"/>
            <a:ext cx="9301019" cy="184018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Feature Engineering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Feature Engineering A-Z</a:t>
            </a:r>
            <a:r>
              <a:rPr lang="en-US" altLang="ko-KR" dirty="0">
                <a:solidFill>
                  <a:srgbClr val="FFFF00"/>
                </a:solidFill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Feature Engineering for Machine Learning</a:t>
            </a:r>
            <a:endParaRPr lang="en-US" altLang="ko-KR" dirty="0">
              <a:solidFill>
                <a:srgbClr val="FFFF00"/>
              </a:solidFill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Feature Engineering </a:t>
            </a:r>
            <a:r>
              <a:rPr lang="en-US" altLang="ko-KR" dirty="0" err="1">
                <a:solidFill>
                  <a:srgbClr val="FFFF0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Bookcamp</a:t>
            </a:r>
            <a:r>
              <a:rPr lang="en-US" altLang="ko-KR" dirty="0">
                <a:solidFill>
                  <a:srgbClr val="FFFF00"/>
                </a:solidFill>
              </a:rPr>
              <a:t> (advanced)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7170" name="Picture 2" descr="Feature Engineering for Machine Learning [Book]">
            <a:extLst>
              <a:ext uri="{FF2B5EF4-FFF2-40B4-BE49-F238E27FC236}">
                <a16:creationId xmlns:a16="http://schemas.microsoft.com/office/drawing/2014/main" id="{EBC27B71-0AEC-192D-F4B7-A34D3F9294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849" y="2825512"/>
            <a:ext cx="2897358" cy="3801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Feature Engineering Bookcamp [Book]">
            <a:extLst>
              <a:ext uri="{FF2B5EF4-FFF2-40B4-BE49-F238E27FC236}">
                <a16:creationId xmlns:a16="http://schemas.microsoft.com/office/drawing/2014/main" id="{B0865C1E-510B-52D9-A82A-C6367B197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8208" y="2825512"/>
            <a:ext cx="3028951" cy="3801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492603DA-A1D3-62F5-8DCC-0EB806768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8637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E0769-D623-C117-6AC5-9451F318F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E077698-0821-8253-3694-517835251C75}"/>
              </a:ext>
            </a:extLst>
          </p:cNvPr>
          <p:cNvSpPr txBox="1"/>
          <p:nvPr/>
        </p:nvSpPr>
        <p:spPr>
          <a:xfrm>
            <a:off x="683490" y="994853"/>
            <a:ext cx="9301019" cy="166705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Data Pipelines with Apache Airflow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n8n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mage</a:t>
            </a:r>
          </a:p>
        </p:txBody>
      </p:sp>
      <p:pic>
        <p:nvPicPr>
          <p:cNvPr id="2056" name="Picture 8" descr="Data Pipelines with Apache Airflow, Second Edition: Orchestration for data and AI">
            <a:extLst>
              <a:ext uri="{FF2B5EF4-FFF2-40B4-BE49-F238E27FC236}">
                <a16:creationId xmlns:a16="http://schemas.microsoft.com/office/drawing/2014/main" id="{C7DE969E-D98F-9793-A21B-BE3243C1D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7588" y="1828382"/>
            <a:ext cx="3671887" cy="4599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02824B08-9A38-E764-EB02-EA2C8BF8B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5082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3059B-EFA6-7E9B-4486-7C1C1BF9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42F396-0531-5B48-2F7A-02A1DDFBF322}"/>
              </a:ext>
            </a:extLst>
          </p:cNvPr>
          <p:cNvSpPr txBox="1"/>
          <p:nvPr/>
        </p:nvSpPr>
        <p:spPr>
          <a:xfrm>
            <a:off x="979053" y="957908"/>
            <a:ext cx="4839854" cy="244618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Math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Linear Algebra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Basic calculus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Statistics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Probability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Simulation</a:t>
            </a:r>
            <a:endParaRPr lang="ko-KR" altLang="ko-KR" sz="1600" dirty="0"/>
          </a:p>
        </p:txBody>
      </p:sp>
      <p:pic>
        <p:nvPicPr>
          <p:cNvPr id="4" name="그림 3" descr="Essential Math for Data Science [Book]">
            <a:extLst>
              <a:ext uri="{FF2B5EF4-FFF2-40B4-BE49-F238E27FC236}">
                <a16:creationId xmlns:a16="http://schemas.microsoft.com/office/drawing/2014/main" id="{DAE0EC9F-C9E8-C8FB-967D-A80C67AD2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955" y="2180999"/>
            <a:ext cx="3056370" cy="4009957"/>
          </a:xfrm>
          <a:prstGeom prst="rect">
            <a:avLst/>
          </a:prstGeom>
        </p:spPr>
      </p:pic>
      <p:pic>
        <p:nvPicPr>
          <p:cNvPr id="4098" name="Picture 2" descr="Practical Statistics for Data Scientists - 교보문고">
            <a:extLst>
              <a:ext uri="{FF2B5EF4-FFF2-40B4-BE49-F238E27FC236}">
                <a16:creationId xmlns:a16="http://schemas.microsoft.com/office/drawing/2014/main" id="{44A960F9-8BC6-1871-564A-C734EFCD2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7275" y="2180998"/>
            <a:ext cx="3055205" cy="400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2157018C-4ABA-C7C4-90B6-D1B6B07E6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7123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F796-6EF1-1E0E-DC23-F9C5BBD06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15219-55E6-C7C6-8847-FF0ADA8B8F4E}"/>
              </a:ext>
            </a:extLst>
          </p:cNvPr>
          <p:cNvSpPr txBox="1"/>
          <p:nvPr/>
        </p:nvSpPr>
        <p:spPr>
          <a:xfrm>
            <a:off x="979052" y="957908"/>
            <a:ext cx="7536297" cy="9688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Scikit-Learn.org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machine_learning_map</a:t>
            </a:r>
            <a:endParaRPr lang="ko-KR" altLang="ko-KR" sz="1600" dirty="0">
              <a:solidFill>
                <a:srgbClr val="FFFF00"/>
              </a:solidFill>
            </a:endParaRPr>
          </a:p>
        </p:txBody>
      </p:sp>
      <p:pic>
        <p:nvPicPr>
          <p:cNvPr id="5122" name="Picture 2" descr="Move mouse over image">
            <a:extLst>
              <a:ext uri="{FF2B5EF4-FFF2-40B4-BE49-F238E27FC236}">
                <a16:creationId xmlns:a16="http://schemas.microsoft.com/office/drawing/2014/main" id="{BFCB19F1-275A-16CF-0A05-51F4892A4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5956" y="2105856"/>
            <a:ext cx="5048870" cy="314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86F868A9-784B-9EF6-7A58-47DB9EC8B268}"/>
              </a:ext>
            </a:extLst>
          </p:cNvPr>
          <p:cNvGrpSpPr/>
          <p:nvPr/>
        </p:nvGrpSpPr>
        <p:grpSpPr>
          <a:xfrm>
            <a:off x="1816873" y="2105856"/>
            <a:ext cx="4422002" cy="3147802"/>
            <a:chOff x="855716" y="2273938"/>
            <a:chExt cx="5411734" cy="371803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51D30BC-9121-08BA-0876-A654BD91C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5716" y="2273938"/>
              <a:ext cx="5411733" cy="1835480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7608830-209B-4748-7DC4-70E7DE772C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5717" y="4100967"/>
              <a:ext cx="5411733" cy="1891007"/>
            </a:xfrm>
            <a:prstGeom prst="rect">
              <a:avLst/>
            </a:prstGeom>
          </p:spPr>
        </p:pic>
      </p:grpSp>
      <p:sp>
        <p:nvSpPr>
          <p:cNvPr id="9" name="슬라이드 번호 개체 틀 7">
            <a:extLst>
              <a:ext uri="{FF2B5EF4-FFF2-40B4-BE49-F238E27FC236}">
                <a16:creationId xmlns:a16="http://schemas.microsoft.com/office/drawing/2014/main" id="{5DC19D10-0A69-E1F8-2C20-F706F8AA1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6216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87E4-5485-1CAC-92D3-95893A4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D12CF8-F9B4-5749-CEEB-B517E22B0E89}"/>
              </a:ext>
            </a:extLst>
          </p:cNvPr>
          <p:cNvSpPr txBox="1"/>
          <p:nvPr/>
        </p:nvSpPr>
        <p:spPr>
          <a:xfrm>
            <a:off x="984538" y="1061528"/>
            <a:ext cx="9301019" cy="156901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en-US" altLang="ko-KR" dirty="0"/>
              <a:t>(Machine</a:t>
            </a:r>
            <a:r>
              <a:rPr lang="ko-KR" altLang="en-US" dirty="0"/>
              <a:t> </a:t>
            </a:r>
            <a:r>
              <a:rPr lang="en-US" altLang="ko-KR" dirty="0"/>
              <a:t>Learning)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FFFF00"/>
                </a:solidFill>
              </a:rPr>
              <a:t>Supervised</a:t>
            </a:r>
            <a:r>
              <a:rPr lang="ko-KR" altLang="en-US" sz="1600" dirty="0">
                <a:solidFill>
                  <a:srgbClr val="FFFF00"/>
                </a:solidFill>
              </a:rPr>
              <a:t> </a:t>
            </a:r>
            <a:r>
              <a:rPr lang="en-US" altLang="ko-KR" sz="1600" dirty="0">
                <a:solidFill>
                  <a:srgbClr val="FFFF00"/>
                </a:solidFill>
              </a:rPr>
              <a:t>learning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FFFF00"/>
                </a:solidFill>
              </a:rPr>
              <a:t>Supervised</a:t>
            </a:r>
            <a:r>
              <a:rPr lang="ko-KR" altLang="en-US" sz="1600" dirty="0">
                <a:solidFill>
                  <a:srgbClr val="FFFF00"/>
                </a:solidFill>
              </a:rPr>
              <a:t> </a:t>
            </a:r>
            <a:r>
              <a:rPr lang="en-US" altLang="ko-KR" sz="1600" dirty="0">
                <a:solidFill>
                  <a:srgbClr val="FFFF00"/>
                </a:solidFill>
              </a:rPr>
              <a:t>learning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FFFF00"/>
                </a:solidFill>
              </a:rPr>
              <a:t>Data preprocessing</a:t>
            </a:r>
            <a:endParaRPr lang="en-US" altLang="ko-KR" dirty="0">
              <a:solidFill>
                <a:srgbClr val="FFFF00"/>
              </a:solidFill>
            </a:endParaRPr>
          </a:p>
        </p:txBody>
      </p:sp>
      <p:pic>
        <p:nvPicPr>
          <p:cNvPr id="6" name="그림 5" descr="Book Cover">
            <a:extLst>
              <a:ext uri="{FF2B5EF4-FFF2-40B4-BE49-F238E27FC236}">
                <a16:creationId xmlns:a16="http://schemas.microsoft.com/office/drawing/2014/main" id="{6912DFA8-EDE2-CA6F-F8F5-69EE9351C0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403" y="2476523"/>
            <a:ext cx="3037602" cy="4009956"/>
          </a:xfrm>
          <a:prstGeom prst="rect">
            <a:avLst/>
          </a:prstGeom>
        </p:spPr>
      </p:pic>
      <p:pic>
        <p:nvPicPr>
          <p:cNvPr id="1026" name="Picture 2" descr="Introduction to Machine Learning with Python 커버 이미지">
            <a:extLst>
              <a:ext uri="{FF2B5EF4-FFF2-40B4-BE49-F238E27FC236}">
                <a16:creationId xmlns:a16="http://schemas.microsoft.com/office/drawing/2014/main" id="{06D65ABE-9076-A4E7-5B49-9645C1740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1823" y="2476523"/>
            <a:ext cx="3007468" cy="400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79B71D3B-9661-C084-9BBE-BD00C4C3F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1945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AF3D6-B16E-BA23-E105-5EB598AFF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5C45924-E3FC-E3F3-89BC-35516D54D2CF}"/>
              </a:ext>
            </a:extLst>
          </p:cNvPr>
          <p:cNvSpPr txBox="1"/>
          <p:nvPr/>
        </p:nvSpPr>
        <p:spPr>
          <a:xfrm>
            <a:off x="729672" y="1034108"/>
            <a:ext cx="9176328" cy="111306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machine learning with scikit-learn, </a:t>
            </a:r>
            <a:r>
              <a:rPr lang="en-US" altLang="ko-KR" dirty="0" err="1"/>
              <a:t>keras</a:t>
            </a:r>
            <a:r>
              <a:rPr lang="en-US" altLang="ko-KR" dirty="0"/>
              <a:t> &amp; </a:t>
            </a:r>
            <a:r>
              <a:rPr lang="en-US" altLang="ko-KR" dirty="0" err="1"/>
              <a:t>tensorflow</a:t>
            </a:r>
            <a:r>
              <a:rPr lang="en-US" altLang="ko-KR" dirty="0"/>
              <a:t> (advanced)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Deep Learning with Python (advanced)</a:t>
            </a:r>
            <a:endParaRPr lang="ko-KR" altLang="en-US" dirty="0"/>
          </a:p>
        </p:txBody>
      </p:sp>
      <p:pic>
        <p:nvPicPr>
          <p:cNvPr id="4" name="그림 3" descr="GitHub - ageron/handson-ml3: A series of Jupyter notebooks that walk you through the fundamentals of Machine Learning and Deep Learning in Python using Scikit-Learn, Keras and TensorFlow 2. · GitHub">
            <a:extLst>
              <a:ext uri="{FF2B5EF4-FFF2-40B4-BE49-F238E27FC236}">
                <a16:creationId xmlns:a16="http://schemas.microsoft.com/office/drawing/2014/main" id="{45F4D8C6-F96E-0727-AD19-569B91051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385" y="2239012"/>
            <a:ext cx="3254665" cy="4274460"/>
          </a:xfrm>
          <a:prstGeom prst="rect">
            <a:avLst/>
          </a:prstGeom>
        </p:spPr>
      </p:pic>
      <p:pic>
        <p:nvPicPr>
          <p:cNvPr id="7" name="그림 6" descr="Deep Learning with Python">
            <a:extLst>
              <a:ext uri="{FF2B5EF4-FFF2-40B4-BE49-F238E27FC236}">
                <a16:creationId xmlns:a16="http://schemas.microsoft.com/office/drawing/2014/main" id="{68B334A9-889D-42E0-497D-189A7FBB00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504" y="2239012"/>
            <a:ext cx="3396096" cy="4264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2817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D430F-AADD-4F1C-F65A-6386A2FA9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9B2F4E-3595-E798-8521-A7301F125AB5}"/>
              </a:ext>
            </a:extLst>
          </p:cNvPr>
          <p:cNvSpPr txBox="1"/>
          <p:nvPr/>
        </p:nvSpPr>
        <p:spPr>
          <a:xfrm>
            <a:off x="729673" y="1034108"/>
            <a:ext cx="9290628" cy="107016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Generative Deep Learning : </a:t>
            </a:r>
            <a:r>
              <a:rPr lang="en-US" altLang="ko-KR" sz="1600" dirty="0"/>
              <a:t>Teaching</a:t>
            </a:r>
            <a:r>
              <a:rPr lang="ko-KR" altLang="en-US" sz="1600" dirty="0"/>
              <a:t> </a:t>
            </a:r>
            <a:r>
              <a:rPr lang="en-US" altLang="ko-KR" sz="1600" dirty="0"/>
              <a:t>Machines</a:t>
            </a:r>
            <a:r>
              <a:rPr lang="ko-KR" altLang="en-US" sz="1600" dirty="0"/>
              <a:t> </a:t>
            </a:r>
            <a:r>
              <a:rPr lang="en-US" altLang="ko-KR" sz="1600" dirty="0"/>
              <a:t>to</a:t>
            </a:r>
            <a:r>
              <a:rPr lang="ko-KR" altLang="en-US" sz="1600" dirty="0"/>
              <a:t> </a:t>
            </a:r>
            <a:r>
              <a:rPr lang="en-US" altLang="ko-KR" sz="1600" dirty="0"/>
              <a:t>Paint,</a:t>
            </a:r>
            <a:r>
              <a:rPr lang="ko-KR" altLang="en-US" sz="1600" dirty="0"/>
              <a:t> </a:t>
            </a:r>
            <a:r>
              <a:rPr lang="en-US" altLang="ko-KR" sz="1600" dirty="0"/>
              <a:t>Write,</a:t>
            </a:r>
            <a:r>
              <a:rPr lang="ko-KR" altLang="en-US" sz="1600" dirty="0"/>
              <a:t> </a:t>
            </a:r>
            <a:r>
              <a:rPr lang="en-US" altLang="ko-KR" sz="1600" dirty="0"/>
              <a:t>Compose,</a:t>
            </a:r>
            <a:r>
              <a:rPr lang="ko-KR" altLang="en-US" sz="1600" dirty="0"/>
              <a:t> </a:t>
            </a:r>
            <a:r>
              <a:rPr lang="en-US" altLang="ko-KR" sz="1600" dirty="0"/>
              <a:t>and</a:t>
            </a:r>
            <a:r>
              <a:rPr lang="ko-KR" altLang="en-US" sz="1600" dirty="0"/>
              <a:t> </a:t>
            </a:r>
            <a:r>
              <a:rPr lang="en-US" altLang="ko-KR" sz="1600" dirty="0"/>
              <a:t>Play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Generative Deep Learning.pptx</a:t>
            </a:r>
            <a:r>
              <a:rPr lang="en-US" altLang="ko-KR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(Part</a:t>
            </a:r>
            <a:r>
              <a:rPr lang="ko-KR" altLang="en-US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Chapter 1. Generative Modeling)</a:t>
            </a:r>
            <a:endParaRPr lang="ko-KR" altLang="en-US" sz="16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EA89951-D99A-F849-5CB8-00278FE00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68" y="2398568"/>
            <a:ext cx="3048264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0212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5FD97-661E-EA36-2CB0-EB2685FD9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5E84F12-7572-78B0-8716-C2C3C54DD750}"/>
              </a:ext>
            </a:extLst>
          </p:cNvPr>
          <p:cNvSpPr txBox="1"/>
          <p:nvPr/>
        </p:nvSpPr>
        <p:spPr>
          <a:xfrm>
            <a:off x="729672" y="1034108"/>
            <a:ext cx="8321965" cy="27750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large language models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Hands-On-Large-Language-Models Scripts 1/2/3</a:t>
            </a:r>
            <a:r>
              <a:rPr lang="en-US" altLang="ko-KR" sz="1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LLM</a:t>
            </a:r>
            <a:r>
              <a:rPr lang="ko-KR" altLang="en-US" sz="1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기초 코드로 배우기</a:t>
            </a:r>
            <a:endParaRPr lang="en-US" altLang="ko-KR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Learning </a:t>
            </a:r>
            <a:r>
              <a:rPr lang="en-US" altLang="ko-KR" dirty="0" err="1"/>
              <a:t>Langchain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LangChain</a:t>
            </a:r>
            <a:endParaRPr lang="en-US" altLang="ko-KR" dirty="0">
              <a:solidFill>
                <a:srgbClr val="FFFF00"/>
              </a:solidFill>
            </a:endParaRPr>
          </a:p>
        </p:txBody>
      </p:sp>
      <p:pic>
        <p:nvPicPr>
          <p:cNvPr id="2" name="그림 1" descr="Hands-On Large Language Models - NLB - OverDrive">
            <a:extLst>
              <a:ext uri="{FF2B5EF4-FFF2-40B4-BE49-F238E27FC236}">
                <a16:creationId xmlns:a16="http://schemas.microsoft.com/office/drawing/2014/main" id="{F82753AA-8682-D5A2-2275-423B8FF3EB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6599" y="2643676"/>
            <a:ext cx="2745033" cy="3664761"/>
          </a:xfrm>
          <a:prstGeom prst="rect">
            <a:avLst/>
          </a:prstGeom>
        </p:spPr>
      </p:pic>
      <p:pic>
        <p:nvPicPr>
          <p:cNvPr id="3" name="그림 2" descr="Learning LangChain [Book]">
            <a:extLst>
              <a:ext uri="{FF2B5EF4-FFF2-40B4-BE49-F238E27FC236}">
                <a16:creationId xmlns:a16="http://schemas.microsoft.com/office/drawing/2014/main" id="{D291A608-9611-DCFA-BA43-84C53F11C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513" y="2643676"/>
            <a:ext cx="2794915" cy="366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95956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7135</TotalTime>
  <Words>1190</Words>
  <Application>Microsoft Office PowerPoint</Application>
  <PresentationFormat>와이드스크린</PresentationFormat>
  <Paragraphs>228</Paragraphs>
  <Slides>44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8" baseType="lpstr">
      <vt:lpstr>D2Coding</vt:lpstr>
      <vt:lpstr>Helvetica Neue</vt:lpstr>
      <vt:lpstr>맑은 고딕</vt:lpstr>
      <vt:lpstr>맑은 고딕 Semilight</vt:lpstr>
      <vt:lpstr>한컴 고딕</vt:lpstr>
      <vt:lpstr>한컴 말랑말랑 Bold</vt:lpstr>
      <vt:lpstr>Arial</vt:lpstr>
      <vt:lpstr>Cambria Math</vt:lpstr>
      <vt:lpstr>Century Gothic</vt:lpstr>
      <vt:lpstr>Tahoma</vt:lpstr>
      <vt:lpstr>Times New Roman</vt:lpstr>
      <vt:lpstr>Wingdings</vt:lpstr>
      <vt:lpstr>Wingdings 3</vt:lpstr>
      <vt:lpstr>이온</vt:lpstr>
      <vt:lpstr>AI Literacy</vt:lpstr>
      <vt:lpstr>PowerPoint 프레젠테이션</vt:lpstr>
      <vt:lpstr>Contents</vt:lpstr>
      <vt:lpstr>PowerPoint 프레젠테이션</vt:lpstr>
      <vt:lpstr>PowerPoint 프레젠테이션</vt:lpstr>
      <vt:lpstr>Contents</vt:lpstr>
      <vt:lpstr>PowerPoint 프레젠테이션</vt:lpstr>
      <vt:lpstr>AI Literacy</vt:lpstr>
      <vt:lpstr>Contents</vt:lpstr>
      <vt:lpstr>PowerPoint 프레젠테이션</vt:lpstr>
      <vt:lpstr>PowerPoint 프레젠테이션</vt:lpstr>
      <vt:lpstr>PowerPoint 프레젠테이션</vt:lpstr>
      <vt:lpstr>How to classify ?</vt:lpstr>
      <vt:lpstr>Supervised Learning(지도학습) </vt:lpstr>
      <vt:lpstr>Unsupervised Learning(비지도학습)</vt:lpstr>
      <vt:lpstr>PowerPoint 프레젠테이션</vt:lpstr>
      <vt:lpstr>Deep Learning_how to learn?</vt:lpstr>
      <vt:lpstr>PowerPoint 프레젠테이션</vt:lpstr>
      <vt:lpstr>PowerPoint 프레젠테이션</vt:lpstr>
      <vt:lpstr>Image Segmentation </vt:lpstr>
      <vt:lpstr>Image Segmentation </vt:lpstr>
      <vt:lpstr>PowerPoint 프레젠테이션</vt:lpstr>
      <vt:lpstr>PowerPoint 프레젠테이션</vt:lpstr>
      <vt:lpstr>Generate Face Image  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110</cp:revision>
  <dcterms:created xsi:type="dcterms:W3CDTF">2026-04-11T22:24:40Z</dcterms:created>
  <dcterms:modified xsi:type="dcterms:W3CDTF">2026-08-29T23:17:22Z</dcterms:modified>
</cp:coreProperties>
</file>