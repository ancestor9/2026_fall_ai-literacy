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32"/>
  </p:notesMasterIdLst>
  <p:handoutMasterIdLst>
    <p:handoutMasterId r:id="rId33"/>
  </p:handoutMasterIdLst>
  <p:sldIdLst>
    <p:sldId id="256" r:id="rId2"/>
    <p:sldId id="1264" r:id="rId3"/>
    <p:sldId id="1286" r:id="rId4"/>
    <p:sldId id="1345" r:id="rId5"/>
    <p:sldId id="1344" r:id="rId6"/>
    <p:sldId id="1308" r:id="rId7"/>
    <p:sldId id="1309" r:id="rId8"/>
    <p:sldId id="1312" r:id="rId9"/>
    <p:sldId id="1310" r:id="rId10"/>
    <p:sldId id="1313" r:id="rId11"/>
    <p:sldId id="1314" r:id="rId12"/>
    <p:sldId id="1311" r:id="rId13"/>
    <p:sldId id="1315" r:id="rId14"/>
    <p:sldId id="1316" r:id="rId15"/>
    <p:sldId id="1330" r:id="rId16"/>
    <p:sldId id="1325" r:id="rId17"/>
    <p:sldId id="1326" r:id="rId18"/>
    <p:sldId id="1327" r:id="rId19"/>
    <p:sldId id="1331" r:id="rId20"/>
    <p:sldId id="1328" r:id="rId21"/>
    <p:sldId id="1334" r:id="rId22"/>
    <p:sldId id="1335" r:id="rId23"/>
    <p:sldId id="1339" r:id="rId24"/>
    <p:sldId id="1340" r:id="rId25"/>
    <p:sldId id="1336" r:id="rId26"/>
    <p:sldId id="1341" r:id="rId27"/>
    <p:sldId id="1337" r:id="rId28"/>
    <p:sldId id="1343" r:id="rId29"/>
    <p:sldId id="1342" r:id="rId30"/>
    <p:sldId id="1338" r:id="rId31"/>
  </p:sldIdLst>
  <p:sldSz cx="12192000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감사합니다." id="{E75E278A-FF0E-49A4-B170-79828D63BBAD}">
          <p14:sldIdLst>
            <p14:sldId id="256"/>
          </p14:sldIdLst>
        </p14:section>
        <p14:section name="디자인, 모핑, 주석 달기, 공동 작업, 입력하세요" id="{B9B51309-D148-4332-87C2-07BE32FBCA3B}">
          <p14:sldIdLst>
            <p14:sldId id="1264"/>
            <p14:sldId id="1286"/>
            <p14:sldId id="1345"/>
            <p14:sldId id="1344"/>
            <p14:sldId id="1308"/>
            <p14:sldId id="1309"/>
            <p14:sldId id="1312"/>
            <p14:sldId id="1310"/>
            <p14:sldId id="1313"/>
            <p14:sldId id="1314"/>
            <p14:sldId id="1311"/>
            <p14:sldId id="1315"/>
            <p14:sldId id="1316"/>
            <p14:sldId id="1330"/>
            <p14:sldId id="1325"/>
            <p14:sldId id="1326"/>
            <p14:sldId id="1327"/>
            <p14:sldId id="1331"/>
            <p14:sldId id="1328"/>
            <p14:sldId id="1334"/>
            <p14:sldId id="1335"/>
            <p14:sldId id="1339"/>
            <p14:sldId id="1340"/>
            <p14:sldId id="1336"/>
            <p14:sldId id="1341"/>
            <p14:sldId id="1337"/>
            <p14:sldId id="1343"/>
            <p14:sldId id="1342"/>
            <p14:sldId id="1338"/>
          </p14:sldIdLst>
        </p14:section>
        <p14:section name="자세한 정보" id="{2CC34DB2-6590-42C0-AD4B-A04C6060184E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만든 이" initials="오전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04040"/>
    <a:srgbClr val="76E3FF"/>
    <a:srgbClr val="DD462F"/>
    <a:srgbClr val="FF9B45"/>
    <a:srgbClr val="D24726"/>
    <a:srgbClr val="F8CFB6"/>
    <a:srgbClr val="F8CAB6"/>
    <a:srgbClr val="923922"/>
    <a:srgbClr val="F5F5F5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SorterView">
  <p:normalViewPr>
    <p:restoredLeft sz="14995" autoAdjust="0"/>
    <p:restoredTop sz="94297" autoAdjust="0"/>
  </p:normalViewPr>
  <p:slideViewPr>
    <p:cSldViewPr snapToGrid="0">
      <p:cViewPr varScale="1">
        <p:scale>
          <a:sx n="80" d="100"/>
          <a:sy n="80" d="100"/>
        </p:scale>
        <p:origin x="782" y="5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59582"/>
    </p:cViewPr>
  </p:outlin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104" d="100"/>
          <a:sy n="104" d="100"/>
        </p:scale>
        <p:origin x="4608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commentAuthors" Target="commentAuthor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handoutMaster" Target="handoutMasters/handoutMaster1.xml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37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424059DE-6CD5-4C59-8233-088CE5808E67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2026-08-27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C679768-A2FC-4D08-91F6-8DCE6C566B36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02551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3E1C3DD-4A19-441D-907C-380838DB51C4}" type="datetime1">
              <a:rPr lang="ko-KR" altLang="en-US" noProof="0" smtClean="0"/>
              <a:t>2026-08-27</a:t>
            </a:fld>
            <a:endParaRPr lang="ko-KR" altLang="en-US" noProof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ko-KR" altLang="en-US" noProof="0" dirty="0"/>
              <a:t>마스터 텍스트 스타일을 편집하려면 클릭하세요</a:t>
            </a:r>
            <a:r>
              <a:rPr lang="en-US" altLang="ko-KR" noProof="0" dirty="0"/>
              <a:t>.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DF61EA0F-A667-4B49-8422-0062BC55E249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338191029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1176981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 bwMode="blackWhite"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71854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2" name="직선 연결선(S) 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6877119" cy="640080"/>
          </a:xfrm>
        </p:spPr>
        <p:txBody>
          <a:bodyPr rtlCol="0" anchor="b" anchorCtr="0">
            <a:normAutofit/>
          </a:bodyPr>
          <a:lstStyle>
            <a:lvl1pPr>
              <a:defRPr sz="28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quarter" idx="10" hasCustomPrompt="1"/>
          </p:nvPr>
        </p:nvSpPr>
        <p:spPr>
          <a:xfrm>
            <a:off x="539496" y="1435608"/>
            <a:ext cx="44165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  <p:sp>
        <p:nvSpPr>
          <p:cNvPr id="6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90475B5-67CA-4281-BDCA-DA943C3C8EB3}" type="datetime1">
              <a:rPr lang="ko-KR" altLang="en-US" noProof="0" smtClean="0"/>
              <a:t>2026-08-27</a:t>
            </a:fld>
            <a:endParaRPr lang="ko-KR" altLang="en-US" noProof="0"/>
          </a:p>
        </p:txBody>
      </p:sp>
      <p:sp>
        <p:nvSpPr>
          <p:cNvPr id="7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8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218583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4951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직사각형 9"/>
          <p:cNvSpPr/>
          <p:nvPr userDrawn="1"/>
        </p:nvSpPr>
        <p:spPr bwMode="blackWhite">
          <a:xfrm>
            <a:off x="254950" y="262784"/>
            <a:ext cx="11682101" cy="207264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21208" y="1536192"/>
            <a:ext cx="6876288" cy="640080"/>
          </a:xfrm>
        </p:spPr>
        <p:txBody>
          <a:bodyPr rtlCol="0">
            <a:normAutofit/>
          </a:bodyPr>
          <a:lstStyle>
            <a:lvl1pPr>
              <a:defRPr sz="36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7" name="내용 개체 틀 6"/>
          <p:cNvSpPr>
            <a:spLocks noGrp="1"/>
          </p:cNvSpPr>
          <p:nvPr>
            <p:ph sz="quarter" idx="13" hasCustomPrompt="1"/>
          </p:nvPr>
        </p:nvSpPr>
        <p:spPr>
          <a:xfrm>
            <a:off x="539496" y="2560320"/>
            <a:ext cx="94457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24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13356555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13795" y="139083"/>
            <a:ext cx="10353762" cy="766439"/>
          </a:xfrm>
        </p:spPr>
        <p:txBody>
          <a:bodyPr rtlCol="0">
            <a:normAutofit/>
          </a:bodyPr>
          <a:lstStyle>
            <a:lvl1pPr>
              <a:defRPr sz="3200"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913795" y="1127464"/>
            <a:ext cx="10353762" cy="466373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  <a:lvl2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2pPr>
            <a:lvl3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3pPr>
            <a:lvl4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4pPr>
            <a:lvl5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5pPr>
          </a:lstStyle>
          <a:p>
            <a:pPr lvl="0" rtl="0"/>
            <a:r>
              <a:rPr lang="ko-KR" altLang="en-US" dirty="0"/>
              <a:t>마스터 텍스트 스타일을 편집하려면 클릭</a:t>
            </a:r>
          </a:p>
          <a:p>
            <a:pPr lvl="1" rtl="0"/>
            <a:r>
              <a:rPr lang="ko-KR" altLang="en-US" dirty="0"/>
              <a:t>두 번째 수준</a:t>
            </a:r>
          </a:p>
          <a:p>
            <a:pPr lvl="2" rtl="0"/>
            <a:r>
              <a:rPr lang="ko-KR" altLang="en-US" dirty="0"/>
              <a:t>세 번째 수준</a:t>
            </a:r>
          </a:p>
          <a:p>
            <a:pPr lvl="3" rtl="0"/>
            <a:r>
              <a:rPr lang="ko-KR" altLang="en-US" dirty="0"/>
              <a:t>네 번째 수준</a:t>
            </a:r>
          </a:p>
          <a:p>
            <a:pPr lvl="4" rtl="0"/>
            <a:r>
              <a:rPr lang="ko-KR" altLang="en-US" dirty="0"/>
              <a:t>다섯 번째 수준</a:t>
            </a:r>
            <a:endParaRPr 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4745536-17E2-EEF7-D107-B4146DE214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924" y="6365874"/>
            <a:ext cx="355393" cy="393576"/>
          </a:xfrm>
          <a:prstGeom prst="rect">
            <a:avLst/>
          </a:prstGeom>
        </p:spPr>
      </p:pic>
      <p:sp>
        <p:nvSpPr>
          <p:cNvPr id="4" name="Date Placeholder 4">
            <a:extLst>
              <a:ext uri="{FF2B5EF4-FFF2-40B4-BE49-F238E27FC236}">
                <a16:creationId xmlns:a16="http://schemas.microsoft.com/office/drawing/2014/main" id="{3AC7079E-4A2B-916C-C464-65DEFE4341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8/27/2026</a:t>
            </a:fld>
            <a:endParaRPr lang="en-US" dirty="0"/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A9D00E07-4D48-7C0C-4DF1-A39D6E8BB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6">
            <a:extLst>
              <a:ext uri="{FF2B5EF4-FFF2-40B4-BE49-F238E27FC236}">
                <a16:creationId xmlns:a16="http://schemas.microsoft.com/office/drawing/2014/main" id="{1DFF8BFD-50B2-6671-09A6-3F6A70B5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30270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539496" y="1435608"/>
            <a:ext cx="4416552" cy="3977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C655C81E-72E7-4D05-94B5-F45B321A525D}" type="datetime1">
              <a:rPr lang="ko-KR" altLang="en-US" noProof="0" smtClean="0"/>
              <a:t>2026-08-27</a:t>
            </a:fld>
            <a:endParaRPr lang="ko-KR" altLang="en-US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5904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" name="직선 연결선(S) 7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754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5" r:id="rId4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0" indent="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Tx/>
        <a:buNone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228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685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1430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6002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0574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2514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7pPr>
      <a:lvl8pPr marL="2971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8pPr>
      <a:lvl9pPr marL="3429000" indent="-228600" algn="l" defTabSz="914400" rtl="0" eaLnBrk="1" latinLnBrk="1" hangingPunct="1">
        <a:lnSpc>
          <a:spcPct val="90000"/>
        </a:lnSpc>
        <a:spcBef>
          <a:spcPct val="300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6.jpeg"/><Relationship Id="rId4" Type="http://schemas.openxmlformats.org/officeDocument/2006/relationships/image" Target="../media/image5.jpe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svg"/><Relationship Id="rId13" Type="http://schemas.openxmlformats.org/officeDocument/2006/relationships/image" Target="../media/image18.png"/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12" Type="http://schemas.openxmlformats.org/officeDocument/2006/relationships/image" Target="../media/image17.svg"/><Relationship Id="rId2" Type="http://schemas.openxmlformats.org/officeDocument/2006/relationships/image" Target="../media/image7.jpeg"/><Relationship Id="rId16" Type="http://schemas.openxmlformats.org/officeDocument/2006/relationships/image" Target="../media/image21.sv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1.svg"/><Relationship Id="rId11" Type="http://schemas.openxmlformats.org/officeDocument/2006/relationships/image" Target="../media/image16.png"/><Relationship Id="rId5" Type="http://schemas.openxmlformats.org/officeDocument/2006/relationships/image" Target="../media/image10.png"/><Relationship Id="rId15" Type="http://schemas.openxmlformats.org/officeDocument/2006/relationships/image" Target="../media/image20.png"/><Relationship Id="rId10" Type="http://schemas.openxmlformats.org/officeDocument/2006/relationships/image" Target="../media/image15.svg"/><Relationship Id="rId4" Type="http://schemas.openxmlformats.org/officeDocument/2006/relationships/image" Target="../media/image9.svg"/><Relationship Id="rId9" Type="http://schemas.openxmlformats.org/officeDocument/2006/relationships/image" Target="../media/image14.png"/><Relationship Id="rId14" Type="http://schemas.openxmlformats.org/officeDocument/2006/relationships/image" Target="../media/image19.sv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hyperlink" Target="https://stanford.edu/~shervine/teaching/cs-229/cheatsheet-supervised-learning/" TargetMode="External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7" Type="http://schemas.openxmlformats.org/officeDocument/2006/relationships/hyperlink" Target="https://en.wikipedia.org/wiki/Naive_Bayes_classifier" TargetMode="External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4.xml"/><Relationship Id="rId6" Type="http://schemas.openxmlformats.org/officeDocument/2006/relationships/hyperlink" Target="https://github.com/ancestor9/2026_Fall_AI-Literacy/blob/main/naive_bayes_gender.xlsx" TargetMode="External"/><Relationship Id="rId5" Type="http://schemas.openxmlformats.org/officeDocument/2006/relationships/image" Target="../media/image30.svg"/><Relationship Id="rId4" Type="http://schemas.openxmlformats.org/officeDocument/2006/relationships/image" Target="../media/image29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34.png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7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48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sv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svg"/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hyperlink" Target="https://jakevdp.github.io/PythonDataScienceHandbook/05.10-manifold-learning.html" TargetMode="External"/><Relationship Id="rId2" Type="http://schemas.openxmlformats.org/officeDocument/2006/relationships/hyperlink" Target="https://jakevdp.github.io/PythonDataScienceHandbook/05.09-principal-component-analysis.html" TargetMode="External"/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pPr>
              <a:lnSpc>
                <a:spcPct val="150000"/>
              </a:lnSpc>
            </a:pPr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Generative Deep Learning</a:t>
            </a:r>
            <a:b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Teaching Machines to Paint, Write, Compose, and Play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2A693FF-597D-D05E-69BD-7CA96D17F1CD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471807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F85264-DAF7-E028-936A-3E39FB0AE0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C317C8E-BF00-9996-5D78-F73C973977E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Introduction to Generative Deep Learning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90AAD77-2BE3-B651-D9E7-0AADA229A2B1}"/>
              </a:ext>
            </a:extLst>
          </p:cNvPr>
          <p:cNvSpPr txBox="1"/>
          <p:nvPr/>
        </p:nvSpPr>
        <p:spPr>
          <a:xfrm>
            <a:off x="1486417" y="1572272"/>
            <a:ext cx="6981307" cy="44048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spcAft>
                <a:spcPts val="600"/>
              </a:spcAft>
              <a:buFont typeface="+mj-lt"/>
              <a:buAutoNum type="arabicPeriod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What Is Generative Modeling?</a:t>
            </a:r>
          </a:p>
          <a:p>
            <a:pPr marL="342900" indent="-342900">
              <a:lnSpc>
                <a:spcPct val="150000"/>
              </a:lnSpc>
              <a:spcAft>
                <a:spcPts val="600"/>
              </a:spcAft>
              <a:buFont typeface="+mj-lt"/>
              <a:buAutoNum type="arabicPeriod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Generative Versus Discriminative Modeling</a:t>
            </a:r>
          </a:p>
          <a:p>
            <a:pPr marL="342900" indent="-342900">
              <a:lnSpc>
                <a:spcPct val="150000"/>
              </a:lnSpc>
              <a:spcAft>
                <a:spcPts val="600"/>
              </a:spcAft>
              <a:buFont typeface="+mj-lt"/>
              <a:buAutoNum type="arabicPeriod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Your First Probabilistic Generative Model(Naive Bayes)</a:t>
            </a:r>
          </a:p>
          <a:p>
            <a:pPr marL="342900" indent="-342900">
              <a:lnSpc>
                <a:spcPct val="150000"/>
              </a:lnSpc>
              <a:spcAft>
                <a:spcPts val="600"/>
              </a:spcAft>
              <a:buFont typeface="+mj-lt"/>
              <a:buAutoNum type="arabicPeriod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Advances in Machine Learning</a:t>
            </a:r>
          </a:p>
          <a:p>
            <a:pPr marL="342900" indent="-342900">
              <a:lnSpc>
                <a:spcPct val="150000"/>
              </a:lnSpc>
              <a:spcAft>
                <a:spcPts val="600"/>
              </a:spcAft>
              <a:buFont typeface="+mj-lt"/>
              <a:buAutoNum type="arabicPeriod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The Rise of Generative Modeling</a:t>
            </a:r>
          </a:p>
          <a:p>
            <a:pPr marL="342900" indent="-342900">
              <a:lnSpc>
                <a:spcPct val="150000"/>
              </a:lnSpc>
              <a:spcAft>
                <a:spcPts val="600"/>
              </a:spcAft>
              <a:buFont typeface="+mj-lt"/>
              <a:buAutoNum type="arabicPeriod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The Generative Modeling Framework</a:t>
            </a:r>
          </a:p>
          <a:p>
            <a:pPr marL="342900" indent="-342900">
              <a:lnSpc>
                <a:spcPct val="150000"/>
              </a:lnSpc>
              <a:spcAft>
                <a:spcPts val="600"/>
              </a:spcAft>
              <a:buFont typeface="+mj-lt"/>
              <a:buAutoNum type="arabicPeriod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Probabilistic Generative Models</a:t>
            </a:r>
          </a:p>
          <a:p>
            <a:pPr marL="342900" indent="-342900">
              <a:lnSpc>
                <a:spcPct val="150000"/>
              </a:lnSpc>
              <a:spcAft>
                <a:spcPts val="600"/>
              </a:spcAft>
              <a:buFont typeface="+mj-lt"/>
              <a:buAutoNum type="arabicPeriod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Hello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Wrodl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!</a:t>
            </a:r>
          </a:p>
          <a:p>
            <a:pPr marL="342900" indent="-342900">
              <a:lnSpc>
                <a:spcPct val="150000"/>
              </a:lnSpc>
              <a:spcAft>
                <a:spcPts val="600"/>
              </a:spcAft>
              <a:buFont typeface="+mj-lt"/>
              <a:buAutoNum type="arabicPeriod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Manifold Learning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CCF4B8AC-C92D-256F-22B9-1BCA3A48EE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86948" y="1478753"/>
            <a:ext cx="1684918" cy="22327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721231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65C927-A56A-F51B-6518-140E5922C0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3A52980-41D7-E59A-63AB-724FDA7C36A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What Is Generative Modeling?</a:t>
            </a: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87C1567E-DBDB-E8CB-99FE-1A85DDD10F71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28674" name="Picture 2" descr="기차역을 걷는 사람들의 군중">
            <a:extLst>
              <a:ext uri="{FF2B5EF4-FFF2-40B4-BE49-F238E27FC236}">
                <a16:creationId xmlns:a16="http://schemas.microsoft.com/office/drawing/2014/main" id="{7EAEBAFF-72C0-1DAD-100D-019D72E269E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6750" y="2023739"/>
            <a:ext cx="2590800" cy="3886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8676" name="Picture 4" descr="개 옆에 서있는 사람들의 그룹">
            <a:extLst>
              <a:ext uri="{FF2B5EF4-FFF2-40B4-BE49-F238E27FC236}">
                <a16:creationId xmlns:a16="http://schemas.microsoft.com/office/drawing/2014/main" id="{76AE52E1-9FCE-85E2-887E-7F7E6A5D7B0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71800" y="2423789"/>
            <a:ext cx="2590800" cy="3886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8678" name="Picture 6" descr="레드 페라리 458 이탈리아 흰 벽 앞에 주차">
            <a:extLst>
              <a:ext uri="{FF2B5EF4-FFF2-40B4-BE49-F238E27FC236}">
                <a16:creationId xmlns:a16="http://schemas.microsoft.com/office/drawing/2014/main" id="{6229FE34-0559-04A4-B06B-01A35F1B50B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43500" y="3395339"/>
            <a:ext cx="3533775" cy="23558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8680" name="Picture 8" descr="녹색 땅에 세 마리의 말">
            <a:extLst>
              <a:ext uri="{FF2B5EF4-FFF2-40B4-BE49-F238E27FC236}">
                <a16:creationId xmlns:a16="http://schemas.microsoft.com/office/drawing/2014/main" id="{897BE0E4-2E7B-505E-823E-24DB4F999A3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05800" y="4179909"/>
            <a:ext cx="3533775" cy="235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AA3636C0-BFD4-9813-8285-40CD45BCD3F2}"/>
              </a:ext>
            </a:extLst>
          </p:cNvPr>
          <p:cNvSpPr txBox="1"/>
          <p:nvPr/>
        </p:nvSpPr>
        <p:spPr>
          <a:xfrm>
            <a:off x="542925" y="1371600"/>
            <a:ext cx="110680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이미지의 객체가 무엇인지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?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어떻게 인지하는 걸까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?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18603520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45F022-716B-CE54-5E8E-80054745C3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D7A31E1-B5C2-196E-B358-1CEB162FBFF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What Is Generative Modeling?</a:t>
            </a: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0FBD4ACF-0776-795D-FE5C-C4FF759A80ED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48356F4-58EF-5FB0-11AD-E6B694B92414}"/>
              </a:ext>
            </a:extLst>
          </p:cNvPr>
          <p:cNvSpPr txBox="1"/>
          <p:nvPr/>
        </p:nvSpPr>
        <p:spPr>
          <a:xfrm>
            <a:off x="542925" y="1371600"/>
            <a:ext cx="110680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인지한 이미지를 어떻게 다시 생성할 까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?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 </a:t>
            </a:r>
          </a:p>
        </p:txBody>
      </p:sp>
      <p:pic>
        <p:nvPicPr>
          <p:cNvPr id="28682" name="Picture 10" descr="색깔이 다른 다섯 마리의 말이 푸른 초원을 달리고 있었다">
            <a:extLst>
              <a:ext uri="{FF2B5EF4-FFF2-40B4-BE49-F238E27FC236}">
                <a16:creationId xmlns:a16="http://schemas.microsoft.com/office/drawing/2014/main" id="{EFFC1912-94D5-6792-ABCF-C5D3BEFBB33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6275" y="1955477"/>
            <a:ext cx="5626100" cy="42195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그래픽 3" descr="말">
            <a:extLst>
              <a:ext uri="{FF2B5EF4-FFF2-40B4-BE49-F238E27FC236}">
                <a16:creationId xmlns:a16="http://schemas.microsoft.com/office/drawing/2014/main" id="{D4B8D422-CB2B-9271-CCC7-941AFA135DD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165125" y="2164726"/>
            <a:ext cx="914400" cy="914400"/>
          </a:xfrm>
          <a:prstGeom prst="rect">
            <a:avLst/>
          </a:prstGeom>
        </p:spPr>
      </p:pic>
      <p:pic>
        <p:nvPicPr>
          <p:cNvPr id="6" name="그래픽 5" descr="기린">
            <a:extLst>
              <a:ext uri="{FF2B5EF4-FFF2-40B4-BE49-F238E27FC236}">
                <a16:creationId xmlns:a16="http://schemas.microsoft.com/office/drawing/2014/main" id="{4B62CEDE-AB5D-6134-698F-5376DA57FBE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749200" y="3079126"/>
            <a:ext cx="914400" cy="914400"/>
          </a:xfrm>
          <a:prstGeom prst="rect">
            <a:avLst/>
          </a:prstGeom>
        </p:spPr>
      </p:pic>
      <p:pic>
        <p:nvPicPr>
          <p:cNvPr id="8" name="그래픽 7" descr="코끼리">
            <a:extLst>
              <a:ext uri="{FF2B5EF4-FFF2-40B4-BE49-F238E27FC236}">
                <a16:creationId xmlns:a16="http://schemas.microsoft.com/office/drawing/2014/main" id="{13AA0A8E-7016-AD27-C5C1-3E3F3B19F48B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622325" y="3340724"/>
            <a:ext cx="914400" cy="914400"/>
          </a:xfrm>
          <a:prstGeom prst="rect">
            <a:avLst/>
          </a:prstGeom>
        </p:spPr>
      </p:pic>
      <p:pic>
        <p:nvPicPr>
          <p:cNvPr id="11" name="그래픽 10" descr="여성 집단">
            <a:extLst>
              <a:ext uri="{FF2B5EF4-FFF2-40B4-BE49-F238E27FC236}">
                <a16:creationId xmlns:a16="http://schemas.microsoft.com/office/drawing/2014/main" id="{65552E9B-AA3B-C215-6505-C28B0B0628E6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672650" y="3376500"/>
            <a:ext cx="914400" cy="914400"/>
          </a:xfrm>
          <a:prstGeom prst="rect">
            <a:avLst/>
          </a:prstGeom>
        </p:spPr>
      </p:pic>
      <p:pic>
        <p:nvPicPr>
          <p:cNvPr id="13" name="그래픽 12" descr="남자 아이가 있는 가족">
            <a:extLst>
              <a:ext uri="{FF2B5EF4-FFF2-40B4-BE49-F238E27FC236}">
                <a16:creationId xmlns:a16="http://schemas.microsoft.com/office/drawing/2014/main" id="{45D84394-1E02-2B43-002F-C8B86E1F1352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9799525" y="2919300"/>
            <a:ext cx="914400" cy="914400"/>
          </a:xfrm>
          <a:prstGeom prst="rect">
            <a:avLst/>
          </a:prstGeom>
        </p:spPr>
      </p:pic>
      <p:pic>
        <p:nvPicPr>
          <p:cNvPr id="15" name="그래픽 14" descr="자전거 타기">
            <a:extLst>
              <a:ext uri="{FF2B5EF4-FFF2-40B4-BE49-F238E27FC236}">
                <a16:creationId xmlns:a16="http://schemas.microsoft.com/office/drawing/2014/main" id="{99014BA1-01CF-12F3-C2E9-7180F763C85F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9682050" y="4610100"/>
            <a:ext cx="914400" cy="914400"/>
          </a:xfrm>
          <a:prstGeom prst="rect">
            <a:avLst/>
          </a:prstGeom>
        </p:spPr>
      </p:pic>
      <p:pic>
        <p:nvPicPr>
          <p:cNvPr id="17" name="그래픽 16" descr="전기 카">
            <a:extLst>
              <a:ext uri="{FF2B5EF4-FFF2-40B4-BE49-F238E27FC236}">
                <a16:creationId xmlns:a16="http://schemas.microsoft.com/office/drawing/2014/main" id="{0D6B36F0-DFDB-ACEE-F433-D7810B156EEA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8767650" y="4948125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107017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057A69-CF43-F60E-8A70-82E81E92BF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78800EEE-BEE5-58BC-2071-7452C60F949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What Is Generative Modeling?</a:t>
            </a: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A255859B-1160-F3AE-1280-58385BC310FF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52585D8-553E-999B-ECEB-4DF5B946FDA3}"/>
              </a:ext>
            </a:extLst>
          </p:cNvPr>
          <p:cNvSpPr txBox="1"/>
          <p:nvPr/>
        </p:nvSpPr>
        <p:spPr>
          <a:xfrm>
            <a:off x="581025" y="1210322"/>
            <a:ext cx="11029950" cy="13519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데이터의 패턴을 단순히 분류하거나 예측하는 것을 넘어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학습한 데이터의 확률 분포를 기반으로 새로운 데이터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텍스트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오디오 등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를 스스로 창조해내는 딥러닝 기술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생성 모델은 결정론적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(deterministic)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이기보다는 확률적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(probabilistic)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이며 어떤 이미지는 훈련 데이터셋에 등장할 확률이 높고 다른 이미지는 그렇지 않은 이유를 설명하는 알 수 없는 확률 분포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(probabilistic distribution)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를 찾아내는 예측 방법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55FC8F7F-14AA-30E5-B2CA-C7CE401E2A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5853" y="2952750"/>
            <a:ext cx="8445872" cy="3168252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C0DE769F-7391-520C-13C5-F02F6CB49B3B}"/>
              </a:ext>
            </a:extLst>
          </p:cNvPr>
          <p:cNvSpPr txBox="1"/>
          <p:nvPr/>
        </p:nvSpPr>
        <p:spPr>
          <a:xfrm>
            <a:off x="1545853" y="6130510"/>
            <a:ext cx="6096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The generative modeling process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3795657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4B1B8E-E2C0-F8F0-3B82-666DEDAF4A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2EDCE78C-7D22-0283-9918-3710982EF2A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What Is Discriminative Modeling?</a:t>
            </a: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09F36924-A4F6-33CB-915A-7A92FFD99DF9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27291239-A819-3C38-60EC-542F15F47E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8400" y="2706897"/>
            <a:ext cx="9084371" cy="2979528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40ADD637-6F42-1870-5E0A-F069B631F6E0}"/>
              </a:ext>
            </a:extLst>
          </p:cNvPr>
          <p:cNvSpPr txBox="1"/>
          <p:nvPr/>
        </p:nvSpPr>
        <p:spPr>
          <a:xfrm>
            <a:off x="1268400" y="5686425"/>
            <a:ext cx="6096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The discriminative modeling process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0" name="Rectangle 1">
            <a:extLst>
              <a:ext uri="{FF2B5EF4-FFF2-40B4-BE49-F238E27FC236}">
                <a16:creationId xmlns:a16="http://schemas.microsoft.com/office/drawing/2014/main" id="{72474879-9B87-3C59-E688-E121CF454D33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2924" y="1205845"/>
            <a:ext cx="11058526" cy="116249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판별 모델(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Discriminative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Model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)은 입력 데이터(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)가 주어졌을 때 그 데이터가 특정</a:t>
            </a:r>
            <a:r>
              <a:rPr kumimoji="0" lang="en-US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클래스(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Y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)에 속할 확률을 예측하는 모델</a:t>
            </a:r>
            <a:r>
              <a:rPr kumimoji="0" lang="ko-KR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로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데이터 자체의 분포를 학습하는 생성 모델과 달리, 데이터 간의 차이와 경계(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Decision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Boundary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)를 구별하는 데 집중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40F83E3-3607-3C6F-1BF6-C88F26BE350D}"/>
              </a:ext>
            </a:extLst>
          </p:cNvPr>
          <p:cNvSpPr txBox="1"/>
          <p:nvPr/>
        </p:nvSpPr>
        <p:spPr>
          <a:xfrm>
            <a:off x="8372475" y="4513243"/>
            <a:ext cx="1952625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KNN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로지스틱 회귀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SVM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의사결정나무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CNN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기반 분류기</a:t>
            </a:r>
          </a:p>
        </p:txBody>
      </p:sp>
    </p:spTree>
    <p:extLst>
      <p:ext uri="{BB962C8B-B14F-4D97-AF65-F5344CB8AC3E}">
        <p14:creationId xmlns:p14="http://schemas.microsoft.com/office/powerpoint/2010/main" val="328508880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1FE966-BCB2-F147-4B01-693D0F4E3C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527EF895-9473-FE20-141B-18AB6FF1AE1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Generative Versus Discriminative Modeling</a:t>
            </a: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A2689650-4C83-2C8B-B1F5-A0308FD8A8CF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90216A8-6BAB-D675-6A73-9EE69FFC5B2A}"/>
              </a:ext>
            </a:extLst>
          </p:cNvPr>
          <p:cNvSpPr txBox="1"/>
          <p:nvPr/>
        </p:nvSpPr>
        <p:spPr>
          <a:xfrm>
            <a:off x="954062" y="6071217"/>
            <a:ext cx="619913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Supervised Learning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cheatsheet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 - Stanford CS 229 (Machine Learning)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50EB02D6-879A-DDA7-7E7D-F595DB15F5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4062" y="1743076"/>
            <a:ext cx="9549540" cy="43281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281769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0F3197-A79D-CBDD-111F-2E51560D86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46EDAF64-C92D-8795-3CF0-0EDB5E881E2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Generative Versus Discriminative Modeling</a:t>
            </a: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382FB47C-3C02-43F3-82B3-6BFE8615282E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A4BF205B-0AB7-B58A-CD26-84AFCE38C6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9820" y="2066926"/>
            <a:ext cx="9142546" cy="1349351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B7D11BBB-5934-0BEF-051A-12851ABB493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09821" y="3971407"/>
            <a:ext cx="9105830" cy="18358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171529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05A02E-3652-653D-212C-06BC714FEE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6641E45E-6A33-92A4-9AF4-778F87088BD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Your First Probabilistic Generative Model(Naive Bayes)</a:t>
            </a: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0C7DFEBF-47BC-B91A-9DC4-5D87B5BFD5B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0ACCCA9C-E0E7-0515-6F18-EF7FF18D93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076" y="1504831"/>
            <a:ext cx="4351397" cy="2743438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09566EBC-F9B3-1622-71AB-3A83A06DCC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65187" y="4048006"/>
            <a:ext cx="5730737" cy="1615580"/>
          </a:xfrm>
          <a:prstGeom prst="rect">
            <a:avLst/>
          </a:prstGeom>
        </p:spPr>
      </p:pic>
      <p:pic>
        <p:nvPicPr>
          <p:cNvPr id="13" name="그래픽 12" descr="오른쪽으로 굽은 화살표">
            <a:extLst>
              <a:ext uri="{FF2B5EF4-FFF2-40B4-BE49-F238E27FC236}">
                <a16:creationId xmlns:a16="http://schemas.microsoft.com/office/drawing/2014/main" id="{0416FEB0-BF89-837F-8734-38A13F7407F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181600" y="3038475"/>
            <a:ext cx="914400" cy="914400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2F62A3EF-A283-D0FA-B163-77DFA24CBDAB}"/>
              </a:ext>
            </a:extLst>
          </p:cNvPr>
          <p:cNvSpPr txBox="1"/>
          <p:nvPr/>
        </p:nvSpPr>
        <p:spPr>
          <a:xfrm>
            <a:off x="6096000" y="2376755"/>
            <a:ext cx="4006317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훈련 데이터셋에 등장할 확률이 높고 다른 이미지는 그렇지 않은 이유를 설명하는 알 수 없는 확률 분포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(probabilistic distribution)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찾아내는 예측 방법</a:t>
            </a:r>
            <a:endParaRPr lang="ko-KR" altLang="en-US" sz="16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54901B1-1C8A-769B-0491-FE4FC4CEDFF0}"/>
              </a:ext>
            </a:extLst>
          </p:cNvPr>
          <p:cNvSpPr txBox="1"/>
          <p:nvPr/>
        </p:nvSpPr>
        <p:spPr>
          <a:xfrm>
            <a:off x="596076" y="4352985"/>
            <a:ext cx="494237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hlinkClick r:id="rId6"/>
              </a:rPr>
              <a:t>naive_bayes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hlinkClick r:id="rId7"/>
              </a:rPr>
              <a:t>https://en.wikipedia.org/wiki/Naive_Bayes_classifier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06853891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F508D8-8346-A7AD-3072-BBB2C727E5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35FC180-D9B9-750F-BCF0-26884F4D047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Your First Probabilistic Generative Model(Naive Bayes)</a:t>
            </a: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B70FBC0B-D4FE-13FD-AD5C-BA80C316F991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EFE8F966-0DBA-E1DE-D330-EF20F18FBA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2291038"/>
            <a:ext cx="10663344" cy="2782745"/>
          </a:xfrm>
          <a:prstGeom prst="rect">
            <a:avLst/>
          </a:prstGeom>
        </p:spPr>
      </p:pic>
      <p:pic>
        <p:nvPicPr>
          <p:cNvPr id="2" name="그림 1">
            <a:extLst>
              <a:ext uri="{FF2B5EF4-FFF2-40B4-BE49-F238E27FC236}">
                <a16:creationId xmlns:a16="http://schemas.microsoft.com/office/drawing/2014/main" id="{4A27F945-AE26-73FA-6CA1-A297D6C483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5224810"/>
            <a:ext cx="6838879" cy="1378806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C0F2E46B-BCA0-BD73-F07A-54916DA7785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1633190"/>
            <a:ext cx="3025140" cy="657848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8A1182F6-3424-D51E-4FCF-E89A3A7F7EF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67056" y="1818557"/>
            <a:ext cx="3314987" cy="472481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4C627BFD-372B-CB2E-6DD7-A4748F26159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31250" y="1866958"/>
            <a:ext cx="3314987" cy="4137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675900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D93358-BA7E-579E-BA26-23ADD9B757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D5E3685E-FC83-C849-CC16-C1EA7EF2B4D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Your First Probabilistic Generative Model(Naive Bayes)</a:t>
            </a: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336ADCC7-F81C-FF1C-03F7-D306B25EF13E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D3B8BD1E-2E49-CBF5-4FB4-601FCA33A5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9779" y="1468577"/>
            <a:ext cx="7551508" cy="4446448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6C9A220B-46F6-AE24-2813-24DEC42974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72862" y="4371949"/>
            <a:ext cx="5380494" cy="439224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5611B868-A14B-F16B-25D4-313CBB6F78D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72862" y="4811173"/>
            <a:ext cx="5391474" cy="3898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900757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D29811-8F5F-7D8D-7677-9386CC972F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468772FE-1AB6-6535-F86F-1064012DE2D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Advances in Machine Learning</a:t>
            </a: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83490EAF-DF7E-2DF7-EAE1-F5DCECA4C2FD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951829C-6887-C482-3272-70F4D5AA440A}"/>
              </a:ext>
            </a:extLst>
          </p:cNvPr>
          <p:cNvSpPr>
            <a:spLocks noChangeArrowheads="1"/>
          </p:cNvSpPr>
          <p:nvPr/>
        </p:nvSpPr>
        <p:spPr bwMode="auto">
          <a:xfrm>
            <a:off x="552147" y="1471589"/>
            <a:ext cx="11087705" cy="467115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학술적 관점: 명확한 성과 측정 및 평가</a:t>
            </a:r>
          </a:p>
          <a:p>
            <a:pPr marL="742950" lvl="1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평가의 용이성: 분류 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정답률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등 객관적 지표로 성과 추적이 명확함 (생성 모델은 결과물 평가가 주관적임)</a:t>
            </a:r>
          </a:p>
          <a:p>
            <a:pPr marL="742950" lvl="1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ImageNet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(ILSVRC) 대회를 통한 기술 격차 증명:</a:t>
            </a:r>
          </a:p>
          <a:p>
            <a:pPr marL="1200150" lvl="2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2012년: 제프 힌튼 팀의 CNN 모델 우승 (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에러율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16%로 2위 26.2%를 압도) </a:t>
            </a:r>
            <a:r>
              <a:rPr kumimoji="0" lang="en-US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딥러닝 열풍의 계기</a:t>
            </a:r>
          </a:p>
          <a:p>
            <a:pPr marL="1200150" lvl="2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2015년: 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에러율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4% 달성으로 인간 수준 추월</a:t>
            </a:r>
          </a:p>
          <a:p>
            <a:pPr marL="1200150" lvl="2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현재: 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에러율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2% 수준 달성으로 이미지 분류 과제 사실상 완료</a:t>
            </a:r>
            <a:endParaRPr kumimoji="0" lang="en-US" altLang="ko-KR" sz="14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200150" lvl="2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endParaRPr kumimoji="0" lang="ko-KR" altLang="ko-KR" sz="14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산업적 관점: 높은 비즈니스 실용성</a:t>
            </a:r>
          </a:p>
          <a:p>
            <a:pPr marL="742950" lvl="1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의사결정 중심: 기업은 데이터의 생성 원리보다 '새로운 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입력값의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분류 및 평가' 정보를 필요로 함</a:t>
            </a:r>
          </a:p>
          <a:p>
            <a:pPr marL="1200150" lvl="2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국방: 위성 이미지 내 적 부대 존재 여부 판단</a:t>
            </a:r>
          </a:p>
          <a:p>
            <a:pPr marL="1200150" lvl="2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고객 관리: 수신 이메일의 긍정/부정 감성 분류</a:t>
            </a:r>
          </a:p>
          <a:p>
            <a:pPr marL="1200150" lvl="2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의료: 망막 이미지를 통한 녹내장 발병 확률 진단</a:t>
            </a:r>
            <a:endParaRPr kumimoji="0" lang="en-US" altLang="ko-KR" sz="14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200150" lvl="2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endParaRPr kumimoji="0" lang="ko-KR" altLang="ko-KR" sz="14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시장 형성: 판별 모델 </a:t>
            </a:r>
            <a:r>
              <a:rPr kumimoji="0" lang="ko-KR" altLang="ko-KR" sz="16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구축·검증·모니터링</a:t>
            </a: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자동화 중심의 </a:t>
            </a:r>
            <a:r>
              <a:rPr kumimoji="0" lang="ko-KR" altLang="ko-KR" sz="16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MLaaS</a:t>
            </a: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kumimoji="0" lang="ko-KR" altLang="ko-KR" sz="16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Machine</a:t>
            </a: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-</a:t>
            </a:r>
            <a:r>
              <a:rPr kumimoji="0" lang="ko-KR" altLang="ko-KR" sz="16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Learning</a:t>
            </a: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-</a:t>
            </a:r>
            <a:r>
              <a:rPr kumimoji="0" lang="ko-KR" altLang="ko-KR" sz="16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as</a:t>
            </a: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-</a:t>
            </a:r>
            <a:r>
              <a:rPr kumimoji="0" lang="ko-KR" altLang="ko-KR" sz="16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-Service) </a:t>
            </a:r>
          </a:p>
        </p:txBody>
      </p:sp>
    </p:spTree>
    <p:extLst>
      <p:ext uri="{BB962C8B-B14F-4D97-AF65-F5344CB8AC3E}">
        <p14:creationId xmlns:p14="http://schemas.microsoft.com/office/powerpoint/2010/main" val="5968930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C8DC4D-A008-8E87-150D-24F7754EE0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72635108-B29D-3BA4-CD4C-197908442D8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Rise of Generative Modeling</a:t>
            </a: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ABADACEB-592D-2E62-DC14-05F063E9DBBB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10" name="Rectangle 1">
            <a:extLst>
              <a:ext uri="{FF2B5EF4-FFF2-40B4-BE49-F238E27FC236}">
                <a16:creationId xmlns:a16="http://schemas.microsoft.com/office/drawing/2014/main" id="{A139DB88-6B9A-DEA1-1CE3-E7C0B031701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2924" y="1205844"/>
            <a:ext cx="11058526" cy="116249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기술적 도약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StyleGAN(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초실사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얼굴 생성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), GPT-2(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텍스트 완성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등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딥러닝을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결합한 생성 모델의 급격한 발전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산업적 활용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게임 디자인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영화 제작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자동 음악 생성 등 다양한 분야의 콘텐츠 제작 혁신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윤리적 우려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가짜 콘텐츠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딥페이크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확산으로 인한 정보 신뢰성 저하 문제 대두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CF5DF69E-71B6-8D2B-08EA-8F4E9A6E93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5522" y="2909643"/>
            <a:ext cx="10420955" cy="24129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143796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A14042-4B69-1FC5-36D4-3D2DF5AA2B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42C608B5-0071-388D-1BFE-EF1A0241180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Generative Modeling Framework</a:t>
            </a: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7ADA2561-B9A5-B2F2-C427-F1BE98DC1B28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138B6883-861B-2946-1C65-6BDC8DF55B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6379" y="1805478"/>
            <a:ext cx="8012293" cy="42665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252974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343FF2-F950-EB7F-770A-8DE24CA1CA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E8B9523C-EF88-606B-B68A-9CF621E09BE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Generative Modeling Framework</a:t>
            </a: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342A5EB4-4A30-3F01-FFE4-E3C9ED2C4B4E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C6B300B8-8710-E424-E066-2EB909893F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46093" y="1693554"/>
            <a:ext cx="8195014" cy="43852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667730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8CEFEF-FD23-9E99-FBEF-A5943635F7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11F689E7-CDD7-F883-D81F-C5CD7F54900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Generative Modeling Framework</a:t>
            </a: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C8502B0B-42D9-1B7F-872B-9FB40FF23A51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A79FB090-D4D5-0420-69C3-730EDBF4C8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3469" y="1535264"/>
            <a:ext cx="7800261" cy="43702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837509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F6B7B6-813C-004C-7712-E015A3AD9A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0110AD0-B600-C5C3-A5C0-E75C4BAAA04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Generative Modeling Framework</a:t>
            </a: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71D51038-6219-0C22-05BF-FDCB0BD12C8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7E7C2E5E-A066-5F0A-D4FE-49BE7F751B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499" y="1596308"/>
            <a:ext cx="8674948" cy="4690192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B23B446D-2FC9-3163-48F3-65247C29B46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13860" y="1329608"/>
            <a:ext cx="4887700" cy="13088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163891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552F85-5F20-82E3-4D17-96D564A3BC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17DF150D-F5AD-72C1-1C0A-752B8FBF609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Probabilistic Generative Models</a:t>
            </a: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068B1118-9C5E-7706-24CC-DF94CB9E461D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1C9ABC4-2033-556B-2FDB-1FA9D9F35324}"/>
              </a:ext>
            </a:extLst>
          </p:cNvPr>
          <p:cNvSpPr txBox="1"/>
          <p:nvPr/>
        </p:nvSpPr>
        <p:spPr>
          <a:xfrm>
            <a:off x="571500" y="1226339"/>
            <a:ext cx="4238626" cy="17118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sample space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density function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solidFill>
                  <a:schemeClr val="bg1">
                    <a:lumMod val="6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parametric modeling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solidFill>
                  <a:schemeClr val="bg1">
                    <a:lumMod val="6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maximum likelihood estimation </a:t>
            </a:r>
            <a:endParaRPr lang="ko-KR" altLang="en-US" dirty="0">
              <a:solidFill>
                <a:schemeClr val="bg1">
                  <a:lumMod val="6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8A0F3A0C-ED2A-A5B9-DE3F-76CBEF68A4F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05981" y="1248422"/>
            <a:ext cx="6759526" cy="1996613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F921851D-3BEE-681C-0F7A-D396C7723A6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05981" y="3697507"/>
            <a:ext cx="6759526" cy="22633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688928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6B8465-EAEC-ED66-DE78-54E8A7EE5F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64992030-1A8D-8724-5EA9-E846F02339FB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Probabilistic Generative Models</a:t>
            </a: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157A974F-6DA9-4663-62B3-7E7AC63F011E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B70CAED-77A1-D1A4-3AE2-676DD0780086}"/>
              </a:ext>
            </a:extLst>
          </p:cNvPr>
          <p:cNvSpPr txBox="1"/>
          <p:nvPr/>
        </p:nvSpPr>
        <p:spPr>
          <a:xfrm>
            <a:off x="571500" y="1226339"/>
            <a:ext cx="4238626" cy="17118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solidFill>
                  <a:schemeClr val="bg1">
                    <a:lumMod val="6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sample space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solidFill>
                  <a:schemeClr val="bg1">
                    <a:lumMod val="6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density function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parametric modeling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maximum likelihood estimation 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grpSp>
        <p:nvGrpSpPr>
          <p:cNvPr id="10" name="그룹 9">
            <a:extLst>
              <a:ext uri="{FF2B5EF4-FFF2-40B4-BE49-F238E27FC236}">
                <a16:creationId xmlns:a16="http://schemas.microsoft.com/office/drawing/2014/main" id="{F2F009FC-5F2C-C9C8-4D23-8601820DB298}"/>
              </a:ext>
            </a:extLst>
          </p:cNvPr>
          <p:cNvGrpSpPr/>
          <p:nvPr/>
        </p:nvGrpSpPr>
        <p:grpSpPr>
          <a:xfrm>
            <a:off x="4828587" y="1408901"/>
            <a:ext cx="6791913" cy="2610712"/>
            <a:chOff x="4828587" y="1408901"/>
            <a:chExt cx="6791913" cy="2610712"/>
          </a:xfrm>
        </p:grpSpPr>
        <p:pic>
          <p:nvPicPr>
            <p:cNvPr id="4" name="그림 3">
              <a:extLst>
                <a:ext uri="{FF2B5EF4-FFF2-40B4-BE49-F238E27FC236}">
                  <a16:creationId xmlns:a16="http://schemas.microsoft.com/office/drawing/2014/main" id="{300CFE03-79B8-BC25-D21B-C7F67585BBC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830492" y="1408901"/>
              <a:ext cx="6790008" cy="1882303"/>
            </a:xfrm>
            <a:prstGeom prst="rect">
              <a:avLst/>
            </a:prstGeom>
          </p:spPr>
        </p:pic>
        <p:pic>
          <p:nvPicPr>
            <p:cNvPr id="8" name="그림 7">
              <a:extLst>
                <a:ext uri="{FF2B5EF4-FFF2-40B4-BE49-F238E27FC236}">
                  <a16:creationId xmlns:a16="http://schemas.microsoft.com/office/drawing/2014/main" id="{4E21A1DD-1C0E-36A1-08C3-8870F7A9F7F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828587" y="3295650"/>
              <a:ext cx="6782388" cy="723963"/>
            </a:xfrm>
            <a:prstGeom prst="rect">
              <a:avLst/>
            </a:prstGeom>
          </p:spPr>
        </p:pic>
      </p:grpSp>
      <p:pic>
        <p:nvPicPr>
          <p:cNvPr id="14" name="그림 13">
            <a:extLst>
              <a:ext uri="{FF2B5EF4-FFF2-40B4-BE49-F238E27FC236}">
                <a16:creationId xmlns:a16="http://schemas.microsoft.com/office/drawing/2014/main" id="{FD1AB228-1AC0-D935-269D-FE0A25E9EAB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10126" y="4470852"/>
            <a:ext cx="6820491" cy="19051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250408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1C3113-6D69-71EE-8077-0AF5DEB138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7177714E-93AC-F55C-A7AE-CFDCDBBBFB1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Probabilistic Generative Models</a:t>
            </a: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586FEED8-4D99-C29D-1819-909BCDDF99F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2" name="AutoShape 2">
            <a:extLst>
              <a:ext uri="{FF2B5EF4-FFF2-40B4-BE49-F238E27FC236}">
                <a16:creationId xmlns:a16="http://schemas.microsoft.com/office/drawing/2014/main" id="{FD2AD323-E0D2-2DB9-3BA3-5C9BB10B623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CEEC5520-10B9-F598-DB75-806BA6BC2DD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97185" y="1859144"/>
            <a:ext cx="6797629" cy="31397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7957396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B84F52-3789-EEC2-F35F-2D16440A7E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E52B1B47-6798-59C1-02C0-78A40F43FE4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Hello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Wrodl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!</a:t>
            </a: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B95896C3-E642-4C49-D016-D0735075C166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2" name="AutoShape 2">
            <a:extLst>
              <a:ext uri="{FF2B5EF4-FFF2-40B4-BE49-F238E27FC236}">
                <a16:creationId xmlns:a16="http://schemas.microsoft.com/office/drawing/2014/main" id="{C6971E7F-CB7B-410C-E673-99AE6B74C05E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599FBBEA-C468-C545-FBF3-20D7ADEEBAF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7597" y="2157896"/>
            <a:ext cx="7512005" cy="4128604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087BBBC7-A1B5-0ACE-049B-6B45422A6073}"/>
              </a:ext>
            </a:extLst>
          </p:cNvPr>
          <p:cNvSpPr txBox="1"/>
          <p:nvPr/>
        </p:nvSpPr>
        <p:spPr>
          <a:xfrm>
            <a:off x="630265" y="1205526"/>
            <a:ext cx="11028335" cy="793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 = 50 observations of fashions described by five features, (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accessoriesType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clothingColor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clothingType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hairColor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topType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91638585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2E1245-2CA8-C8C1-08E9-1DA8E4D860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696D78F1-F689-37FB-D080-C642F61B5DE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Hello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Wrodl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!</a:t>
            </a: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A63AB217-7415-BA7B-7CF1-1B01C9CE2E7B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2" name="AutoShape 2">
            <a:extLst>
              <a:ext uri="{FF2B5EF4-FFF2-40B4-BE49-F238E27FC236}">
                <a16:creationId xmlns:a16="http://schemas.microsoft.com/office/drawing/2014/main" id="{0B3C85D0-C718-D21D-EF2B-62DF300C4A4E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CE8B1B2B-51EB-CE26-F5D4-DC263271EE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6327" y="1973730"/>
            <a:ext cx="5685013" cy="2514818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68E99EC6-AB3B-6E72-6CF9-4587BFF6C96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0660" y="1973730"/>
            <a:ext cx="4955088" cy="237505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7B4F9B61-F17B-61E8-2045-6BD039580431}"/>
              </a:ext>
            </a:extLst>
          </p:cNvPr>
          <p:cNvSpPr txBox="1"/>
          <p:nvPr/>
        </p:nvSpPr>
        <p:spPr>
          <a:xfrm>
            <a:off x="475645" y="4781700"/>
            <a:ext cx="5020103" cy="830997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7 × 6 × 3 × 4 × 8 = 4,032 different combinations of these features, so there are 4,032 points in the sample space.</a:t>
            </a:r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01342099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C0F357-4D40-B17B-C7F6-5AE116A13F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B6210082-BD08-4AAA-0205-53303CDFE3F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Hello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Wrodl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!</a:t>
            </a: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81558EF7-C108-B7F8-E5A1-4EFD0A9B1D26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2" name="AutoShape 2">
            <a:extLst>
              <a:ext uri="{FF2B5EF4-FFF2-40B4-BE49-F238E27FC236}">
                <a16:creationId xmlns:a16="http://schemas.microsoft.com/office/drawing/2014/main" id="{228582CC-EE93-34CF-7FB3-0DA07B228A25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114D1D7E-AC3E-17B7-0A93-0C3B87C3A1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1973" y="1248422"/>
            <a:ext cx="5160816" cy="5460283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74E81C5D-76C0-DDE2-A9A3-51EA12D2C95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0" y="1248422"/>
            <a:ext cx="5616427" cy="2606266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C75698A-F868-E4B1-B814-ED6DAF39CACE}"/>
              </a:ext>
            </a:extLst>
          </p:cNvPr>
          <p:cNvSpPr txBox="1"/>
          <p:nvPr/>
        </p:nvSpPr>
        <p:spPr>
          <a:xfrm>
            <a:off x="5792789" y="5452687"/>
            <a:ext cx="4181475" cy="830997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each observation now has 32 × 32 = 1,024 features and each feature can take any of 256 values (256^1024)</a:t>
            </a:r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47529466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CF8B3A-9354-4708-3963-A89BD92EB2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E4F9D3E-E201-7BFA-EBA7-6CB8B1E3B99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Hello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Wrodl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!</a:t>
            </a: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721F0197-850B-7C63-6A69-B88655ACE979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2" name="AutoShape 2">
            <a:extLst>
              <a:ext uri="{FF2B5EF4-FFF2-40B4-BE49-F238E27FC236}">
                <a16:creationId xmlns:a16="http://schemas.microsoft.com/office/drawing/2014/main" id="{5C90FF50-7641-43E3-130E-B81F3C6636BC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FE199BA-A911-06A8-7C64-2F727CE63B4C}"/>
              </a:ext>
            </a:extLst>
          </p:cNvPr>
          <p:cNvSpPr txBox="1"/>
          <p:nvPr/>
        </p:nvSpPr>
        <p:spPr>
          <a:xfrm>
            <a:off x="475645" y="1331774"/>
            <a:ext cx="11010900" cy="2948821"/>
          </a:xfrm>
          <a:prstGeom prst="rect">
            <a:avLst/>
          </a:prstGeom>
          <a:noFill/>
          <a:ln w="19050">
            <a:solidFill>
              <a:srgbClr val="DD462F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b="1" dirty="0">
                <a:latin typeface="D2Coding" panose="020B0609020101020101" pitchFamily="49" charset="-127"/>
                <a:ea typeface="D2Coding" panose="020B0609020101020101" pitchFamily="49" charset="-127"/>
              </a:rPr>
              <a:t>생성 모델링의 주요 과제</a:t>
            </a:r>
            <a:endParaRPr lang="en-US" altLang="ko-KR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b="1" dirty="0">
                <a:latin typeface="D2Coding" panose="020B0609020101020101" pitchFamily="49" charset="-127"/>
                <a:ea typeface="D2Coding" panose="020B0609020101020101" pitchFamily="49" charset="-127"/>
              </a:rPr>
              <a:t>특성 간 높은 조건부 의존성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모델이 특성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예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인접한 픽셀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간의 강한 상호 연관성을 어떻게 처리할 것인가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?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b="1" dirty="0">
                <a:latin typeface="D2Coding" panose="020B0609020101020101" pitchFamily="49" charset="-127"/>
                <a:ea typeface="D2Coding" panose="020B0609020101020101" pitchFamily="49" charset="-127"/>
              </a:rPr>
              <a:t>고차원 표본 공간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가늠할 수 없이 넓은 고차원 공간 속에서 유의미한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관측값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예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정상적인 얼굴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의 극소수 조합을 어떻게 찾아낼 것인가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?</a:t>
            </a:r>
          </a:p>
        </p:txBody>
      </p:sp>
      <p:sp>
        <p:nvSpPr>
          <p:cNvPr id="9" name="화살표: 줄무늬가 있는 오른쪽 8">
            <a:extLst>
              <a:ext uri="{FF2B5EF4-FFF2-40B4-BE49-F238E27FC236}">
                <a16:creationId xmlns:a16="http://schemas.microsoft.com/office/drawing/2014/main" id="{F0050164-F7B0-AECE-E87F-FD9E97014307}"/>
              </a:ext>
            </a:extLst>
          </p:cNvPr>
          <p:cNvSpPr/>
          <p:nvPr/>
        </p:nvSpPr>
        <p:spPr>
          <a:xfrm>
            <a:off x="3076575" y="4735652"/>
            <a:ext cx="4505326" cy="1255574"/>
          </a:xfrm>
          <a:prstGeom prst="stripedRightArrow">
            <a:avLst>
              <a:gd name="adj1" fmla="val 61601"/>
              <a:gd name="adj2" fmla="val 50000"/>
            </a:avLst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400" dirty="0">
                <a:latin typeface="D2Coding" panose="020B0609020101020101" pitchFamily="49" charset="-127"/>
                <a:ea typeface="D2Coding" panose="020B0609020101020101" pitchFamily="49" charset="-127"/>
              </a:rPr>
              <a:t>Deep Learning</a:t>
            </a:r>
          </a:p>
          <a:p>
            <a:pPr algn="ctr"/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(Representation Learning)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67830970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8E8015-3E1C-4951-8810-EDC8E7A207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6D07E9D2-7DFE-3951-1E5E-CC64C0B1A8F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Challenges of Generative Modeling</a:t>
            </a: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FCB0FC9A-31B8-1CAE-8A02-E1C82C18D24D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98FE7ECC-B0DF-D8ED-8B53-74473A9959C3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2622" y="2160759"/>
            <a:ext cx="11020728" cy="880819"/>
          </a:xfrm>
          <a:prstGeom prst="rect">
            <a:avLst/>
          </a:prstGeom>
          <a:solidFill>
            <a:srgbClr val="DD462F"/>
          </a:solidFill>
          <a:ln>
            <a:solidFill>
              <a:schemeClr val="tx1"/>
            </a:solidFill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ko-KR" altLang="ko-KR" sz="180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생성 모델의 2대 난제: 픽셀처럼 서로 얽혀 있는 데이터 특성 간의 의존성(</a:t>
            </a:r>
            <a:r>
              <a:rPr kumimoji="0" lang="ko-KR" altLang="ko-KR" sz="1800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Dependence</a:t>
            </a:r>
            <a:r>
              <a:rPr kumimoji="0" lang="ko-KR" altLang="ko-KR" sz="180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kumimoji="0" lang="ko-KR" altLang="en-US" sz="180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과</a:t>
            </a:r>
            <a:r>
              <a:rPr kumimoji="0" lang="en-US" altLang="ko-KR" sz="180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sz="180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수많은 무작위 조합 중 의미 있는 결과를 찾아내야 하는 고차원 공간(</a:t>
            </a:r>
            <a:r>
              <a:rPr kumimoji="0" lang="ko-KR" altLang="ko-KR" sz="1800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High-dimensional</a:t>
            </a:r>
            <a:r>
              <a:rPr kumimoji="0" lang="ko-KR" altLang="ko-KR" sz="180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sz="1800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space</a:t>
            </a:r>
            <a:r>
              <a:rPr kumimoji="0" lang="ko-KR" altLang="ko-KR" sz="180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kumimoji="0" lang="en-US" altLang="ko-KR" sz="180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CBFDBF02-F562-6823-9299-C9EA638C9D13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2622" y="4261829"/>
            <a:ext cx="11020728" cy="1711815"/>
          </a:xfrm>
          <a:prstGeom prst="rect">
            <a:avLst/>
          </a:prstGeom>
          <a:solidFill>
            <a:srgbClr val="76E3FF"/>
          </a:solidFill>
          <a:ln>
            <a:solidFill>
              <a:schemeClr val="tx1"/>
            </a:solidFill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ko-KR" altLang="en-US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사람</a:t>
            </a:r>
            <a:r>
              <a:rPr kumimoji="0" lang="ko-KR" altLang="ko-KR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이 일일이 가정을 주입하지 않아도 데이터 스스로 구조를 학습하게 만듦으로써 두 난제를 해결</a:t>
            </a:r>
            <a:endParaRPr kumimoji="0" lang="en-US" altLang="ko-KR" sz="18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endParaRPr kumimoji="0" lang="ko-KR" altLang="ko-KR" sz="18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ko-KR" altLang="ko-KR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표현 학습(</a:t>
            </a:r>
            <a:r>
              <a:rPr kumimoji="0" lang="ko-KR" altLang="ko-KR" sz="18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Representation</a:t>
            </a:r>
            <a:r>
              <a:rPr kumimoji="0" lang="ko-KR" altLang="ko-KR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sz="18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Learning</a:t>
            </a:r>
            <a:r>
              <a:rPr kumimoji="0" lang="ko-KR" altLang="ko-KR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): 복잡하고 차원이 높은 원시 데이터(예: 픽셀 값들)</a:t>
            </a:r>
            <a:r>
              <a:rPr kumimoji="0" lang="ko-KR" altLang="ko-KR" sz="18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를</a:t>
            </a:r>
            <a:r>
              <a:rPr kumimoji="0" lang="ko-KR" altLang="ko-KR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의미 있는 핵심 특성 중심의 </a:t>
            </a:r>
            <a:r>
              <a:rPr kumimoji="0" lang="ko-KR" altLang="ko-KR" sz="18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저차원</a:t>
            </a:r>
            <a:r>
              <a:rPr kumimoji="0" lang="ko-KR" altLang="ko-KR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공간으로 압축하여 다루는 기술로, 생성 모델이 성공적으로 동작</a:t>
            </a:r>
          </a:p>
        </p:txBody>
      </p:sp>
      <p:sp>
        <p:nvSpPr>
          <p:cNvPr id="7" name="Rectangle 1">
            <a:extLst>
              <a:ext uri="{FF2B5EF4-FFF2-40B4-BE49-F238E27FC236}">
                <a16:creationId xmlns:a16="http://schemas.microsoft.com/office/drawing/2014/main" id="{1015460F-C41D-C888-7449-90BF34877D47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2622" y="1666864"/>
            <a:ext cx="3553125" cy="465320"/>
          </a:xfrm>
          <a:prstGeom prst="rect">
            <a:avLst/>
          </a:prstGeom>
          <a:solidFill>
            <a:srgbClr val="DD462F"/>
          </a:solidFill>
          <a:ln>
            <a:solidFill>
              <a:schemeClr val="tx1"/>
            </a:solidFill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R="0" lvl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Problems</a:t>
            </a:r>
            <a:endParaRPr kumimoji="0" lang="en-US" altLang="ko-KR" sz="180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8" name="Rectangle 1">
            <a:extLst>
              <a:ext uri="{FF2B5EF4-FFF2-40B4-BE49-F238E27FC236}">
                <a16:creationId xmlns:a16="http://schemas.microsoft.com/office/drawing/2014/main" id="{994CA3EB-2343-A025-31EA-92F6B63D526F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2622" y="3767934"/>
            <a:ext cx="3553128" cy="465320"/>
          </a:xfrm>
          <a:prstGeom prst="rect">
            <a:avLst/>
          </a:prstGeom>
          <a:solidFill>
            <a:srgbClr val="76E3FF"/>
          </a:solidFill>
          <a:ln>
            <a:solidFill>
              <a:schemeClr val="tx1"/>
            </a:solidFill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R="0" lvl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ko-KR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Solving by Deep Learning</a:t>
            </a:r>
            <a:endParaRPr kumimoji="0" lang="ko-KR" altLang="ko-KR" sz="18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0" name="그래픽 9" descr="오른쪽으로 굽은 화살표">
            <a:extLst>
              <a:ext uri="{FF2B5EF4-FFF2-40B4-BE49-F238E27FC236}">
                <a16:creationId xmlns:a16="http://schemas.microsoft.com/office/drawing/2014/main" id="{7BFADB9E-0DE0-D587-947C-C08E099982B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2445359">
            <a:off x="4133850" y="3028793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811562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5A1820-D8BB-F7ED-6AE6-43BD331E16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A3B981F2-2467-D7E0-08BE-479E2199F0A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Representation Learning</a:t>
            </a: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37A653FF-5206-19AB-DD44-B9C8FF9BAE44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A556384-3DDF-1FFF-9B9A-4AEF48BEB05E}"/>
              </a:ext>
            </a:extLst>
          </p:cNvPr>
          <p:cNvSpPr txBox="1"/>
          <p:nvPr/>
        </p:nvSpPr>
        <p:spPr>
          <a:xfrm>
            <a:off x="552449" y="1202027"/>
            <a:ext cx="11153776" cy="1531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Representation Learning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핵심음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사람의 얼굴을 픽셀 하나하나로 기억하지 않고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의미 있는 특징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(feature)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압축해서 표현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Representation Learning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은 복잡한 원본 데이터를 그대로 다루는 대신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데이터의 중요한 특징을 스스로 찾아서 훨씬 적은 수의 의미 있는 변수로 표현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FB39968-8BFE-6D51-4666-350B192EBCCF}"/>
              </a:ext>
            </a:extLst>
          </p:cNvPr>
          <p:cNvSpPr txBox="1"/>
          <p:nvPr/>
        </p:nvSpPr>
        <p:spPr>
          <a:xfrm>
            <a:off x="2228848" y="3281660"/>
            <a:ext cx="9039227" cy="33855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사진 한 장이 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256 × 256 × 3 = 196,608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개의 </a:t>
            </a:r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픽셀값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으로 구성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8BE4226-0E02-4D2E-7F49-D548E3B897E5}"/>
              </a:ext>
            </a:extLst>
          </p:cNvPr>
          <p:cNvSpPr txBox="1"/>
          <p:nvPr/>
        </p:nvSpPr>
        <p:spPr>
          <a:xfrm>
            <a:off x="2228849" y="4142085"/>
            <a:ext cx="9039226" cy="33855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사람은 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왼쪽 위에서 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37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번째 픽셀의 색깔이 무엇이고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...“ 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이렇게 생각하지 않음</a:t>
            </a:r>
            <a:endParaRPr lang="en-US" altLang="ko-KR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982C9C0-2D0B-9E1A-6664-BE096FCD1ECD}"/>
              </a:ext>
            </a:extLst>
          </p:cNvPr>
          <p:cNvSpPr txBox="1"/>
          <p:nvPr/>
        </p:nvSpPr>
        <p:spPr>
          <a:xfrm>
            <a:off x="2228848" y="5002510"/>
            <a:ext cx="9039226" cy="33855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추상적으로 생각 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금발 안경 둥근 얼굴 큰 눈 긴 코 웃는 표정 긴 머리 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...</a:t>
            </a:r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F4850DD-2C90-53A3-0851-79DE496DE803}"/>
              </a:ext>
            </a:extLst>
          </p:cNvPr>
          <p:cNvSpPr txBox="1"/>
          <p:nvPr/>
        </p:nvSpPr>
        <p:spPr>
          <a:xfrm>
            <a:off x="2228849" y="5862935"/>
            <a:ext cx="9039225" cy="33855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196,608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개의 픽셀 → 몇 개의 의미 있는 특징으로 바꾸어 생각하는데 이것이 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Representation</a:t>
            </a:r>
          </a:p>
        </p:txBody>
      </p:sp>
      <p:pic>
        <p:nvPicPr>
          <p:cNvPr id="19" name="그래픽 18" descr="반시계 방향으로 굽은 화살표">
            <a:extLst>
              <a:ext uri="{FF2B5EF4-FFF2-40B4-BE49-F238E27FC236}">
                <a16:creationId xmlns:a16="http://schemas.microsoft.com/office/drawing/2014/main" id="{B3B9281F-6990-E29E-8E22-65F51865AA9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2122174">
            <a:off x="1345440" y="3585568"/>
            <a:ext cx="891188" cy="891188"/>
          </a:xfrm>
          <a:prstGeom prst="rect">
            <a:avLst/>
          </a:prstGeom>
        </p:spPr>
      </p:pic>
      <p:pic>
        <p:nvPicPr>
          <p:cNvPr id="20" name="그래픽 19" descr="반시계 방향으로 굽은 화살표">
            <a:extLst>
              <a:ext uri="{FF2B5EF4-FFF2-40B4-BE49-F238E27FC236}">
                <a16:creationId xmlns:a16="http://schemas.microsoft.com/office/drawing/2014/main" id="{EB4A33F2-1F74-EA56-92EA-D2D1035A558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2122174">
            <a:off x="1345439" y="4837116"/>
            <a:ext cx="891188" cy="8911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178170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7BF26A-F4F8-915E-A16A-A497D110AF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E50D1C35-682A-F02C-8CFE-8D28A092D64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Representation Learning</a:t>
            </a: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AA0B6D33-97F6-37BF-742E-F0CF017C5AD0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2" name="AutoShape 2">
            <a:extLst>
              <a:ext uri="{FF2B5EF4-FFF2-40B4-BE49-F238E27FC236}">
                <a16:creationId xmlns:a16="http://schemas.microsoft.com/office/drawing/2014/main" id="{EEB8713C-7FB7-9130-0B0E-107FD2BA5F11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43FF05A-4D6D-A334-F8F1-B599A88BD9B2}"/>
              </a:ext>
            </a:extLst>
          </p:cNvPr>
          <p:cNvSpPr txBox="1"/>
          <p:nvPr/>
        </p:nvSpPr>
        <p:spPr>
          <a:xfrm>
            <a:off x="628649" y="2268964"/>
            <a:ext cx="5619751" cy="2339102"/>
          </a:xfrm>
          <a:prstGeom prst="rect">
            <a:avLst/>
          </a:prstGeom>
          <a:solidFill>
            <a:schemeClr val="bg2"/>
          </a:solidFill>
          <a:ln>
            <a:solidFill>
              <a:schemeClr val="tx1"/>
            </a:solidFill>
            <a:prstDash val="dashDot"/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en-US" b="1" dirty="0">
                <a:latin typeface="D2Coding" panose="020B0609020101020101" pitchFamily="49" charset="-127"/>
                <a:ea typeface="D2Coding" panose="020B0609020101020101" pitchFamily="49" charset="-127"/>
              </a:rPr>
              <a:t>① </a:t>
            </a:r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</a:rPr>
              <a:t>Feature Learning</a:t>
            </a:r>
          </a:p>
          <a:p>
            <a:pPr>
              <a:buNone/>
            </a:pPr>
            <a:endParaRPr lang="en-US" altLang="ko-KR" sz="16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"AI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 이미지에서 무엇이 중요한 특징인지 스스로 학습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“</a:t>
            </a:r>
          </a:p>
          <a:p>
            <a:pPr>
              <a:buNone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rtl="0"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Image</a:t>
            </a:r>
          </a:p>
          <a:p>
            <a:pPr rtl="0"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↓</a:t>
            </a:r>
          </a:p>
          <a:p>
            <a:pPr rtl="0"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Feature</a:t>
            </a:r>
          </a:p>
          <a:p>
            <a:pPr rtl="0"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↓</a:t>
            </a:r>
          </a:p>
          <a:p>
            <a:pPr rtl="0"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Representation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F1E93C9-5273-88CB-EACB-0BDC361C6A6A}"/>
              </a:ext>
            </a:extLst>
          </p:cNvPr>
          <p:cNvSpPr txBox="1"/>
          <p:nvPr/>
        </p:nvSpPr>
        <p:spPr>
          <a:xfrm>
            <a:off x="2366962" y="3356451"/>
            <a:ext cx="6748463" cy="1846659"/>
          </a:xfrm>
          <a:prstGeom prst="rect">
            <a:avLst/>
          </a:prstGeom>
          <a:solidFill>
            <a:schemeClr val="bg2"/>
          </a:solidFill>
          <a:ln>
            <a:solidFill>
              <a:schemeClr val="tx1"/>
            </a:solidFill>
            <a:prstDash val="dashDot"/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en-US" b="1" dirty="0">
                <a:latin typeface="D2Coding" panose="020B0609020101020101" pitchFamily="49" charset="-127"/>
                <a:ea typeface="D2Coding" panose="020B0609020101020101" pitchFamily="49" charset="-127"/>
              </a:rPr>
              <a:t>② </a:t>
            </a:r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</a:rPr>
              <a:t>Latent Space</a:t>
            </a:r>
          </a:p>
          <a:p>
            <a:pPr>
              <a:buNone/>
            </a:pPr>
            <a:endParaRPr lang="en-US" altLang="ko-KR" sz="16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비슷한 데이터는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latent space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에서도 가까운 위치에 놓이도록 표현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“</a:t>
            </a:r>
          </a:p>
          <a:p>
            <a:pPr>
              <a:buNone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rtl="0">
              <a:buNone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얼굴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A ──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가까움 ── 얼굴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B</a:t>
            </a:r>
          </a:p>
          <a:p>
            <a:pPr rtl="0">
              <a:buNone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rtl="0">
              <a:buNone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고양이 ───────────── 개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40871E9-1EDB-8066-906B-840307526060}"/>
              </a:ext>
            </a:extLst>
          </p:cNvPr>
          <p:cNvSpPr txBox="1"/>
          <p:nvPr/>
        </p:nvSpPr>
        <p:spPr>
          <a:xfrm>
            <a:off x="5295900" y="4220476"/>
            <a:ext cx="6495531" cy="2339102"/>
          </a:xfrm>
          <a:prstGeom prst="rect">
            <a:avLst/>
          </a:prstGeom>
          <a:solidFill>
            <a:schemeClr val="bg2"/>
          </a:solidFill>
          <a:ln>
            <a:solidFill>
              <a:schemeClr val="tx1"/>
            </a:solidFill>
            <a:prstDash val="dashDot"/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en-US" b="1" dirty="0">
                <a:latin typeface="D2Coding" panose="020B0609020101020101" pitchFamily="49" charset="-127"/>
                <a:ea typeface="D2Coding" panose="020B0609020101020101" pitchFamily="49" charset="-127"/>
              </a:rPr>
              <a:t>③ </a:t>
            </a:r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</a:rPr>
              <a:t>Generative Modeling</a:t>
            </a:r>
          </a:p>
          <a:p>
            <a:pPr>
              <a:buNone/>
            </a:pPr>
            <a:endParaRPr lang="en-US" altLang="ko-KR" sz="16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학습한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latent space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 구조를 이용해서 새로운 데이터를 생성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“</a:t>
            </a:r>
          </a:p>
          <a:p>
            <a:pPr>
              <a:buNone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rtl="0"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Latent vector</a:t>
            </a:r>
          </a:p>
          <a:p>
            <a:pPr rtl="0"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↓</a:t>
            </a:r>
          </a:p>
          <a:p>
            <a:pPr rtl="0"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Generator</a:t>
            </a:r>
          </a:p>
          <a:p>
            <a:pPr rtl="0"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↓</a:t>
            </a:r>
          </a:p>
          <a:p>
            <a:pPr rtl="0"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New Image</a:t>
            </a:r>
            <a:endParaRPr lang="ko-KR" altLang="en-US" sz="16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DF140C4-E706-AE2E-945A-5036966C83B3}"/>
              </a:ext>
            </a:extLst>
          </p:cNvPr>
          <p:cNvSpPr txBox="1"/>
          <p:nvPr/>
        </p:nvSpPr>
        <p:spPr>
          <a:xfrm>
            <a:off x="552449" y="1202027"/>
            <a:ext cx="11153776" cy="8808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Manifold =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실제 데이터들이 존재하는 고차원 공간 속의 구조적인 영역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Raw Data → Representation Learning → Latent Space → Data Distribution/Manifold → Generation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60919363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1EBE8B-4638-C8FD-63F0-D4DC1EC55B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20C43EAB-92AE-29C7-8FC4-D709E8ECE988}"/>
              </a:ext>
            </a:extLst>
          </p:cNvPr>
          <p:cNvSpPr/>
          <p:nvPr/>
        </p:nvSpPr>
        <p:spPr>
          <a:xfrm>
            <a:off x="5076825" y="2762250"/>
            <a:ext cx="2838450" cy="2571750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01CDFE70-09C7-4131-C4B1-9B053596BE9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Generative Model</a:t>
            </a: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4DE75E7F-5A47-8596-DDDE-D673158B65C4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77A9F42-66EB-3E99-E48F-252BB5B0ED1B}"/>
              </a:ext>
            </a:extLst>
          </p:cNvPr>
          <p:cNvSpPr txBox="1"/>
          <p:nvPr/>
        </p:nvSpPr>
        <p:spPr>
          <a:xfrm>
            <a:off x="699034" y="1186369"/>
            <a:ext cx="10845266" cy="5479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얼굴을 몇 개의 특징으로 표현할 수 있다면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반대로 그 특징을 이용해서 얼굴을 다시 만들어낼 수 있을까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?“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7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예를 들어 어떤 얼굴을 다음과 같이 표현했다고 생각하면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z = [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얼굴형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피부 특성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눈 모양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코 모양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입 모양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머리카락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안경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표정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...] 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이것이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 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latent representation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또는 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latent vector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이며 즉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 rtl="0">
              <a:buNone/>
            </a:pP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얼굴 이미지</a:t>
            </a:r>
          </a:p>
          <a:p>
            <a:pPr algn="ctr" rtl="0">
              <a:buNone/>
            </a:pP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↓</a:t>
            </a:r>
          </a:p>
          <a:p>
            <a:pPr algn="ctr" rtl="0">
              <a:buNone/>
            </a:pP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Encoder</a:t>
            </a:r>
          </a:p>
          <a:p>
            <a:pPr algn="ctr" rtl="0">
              <a:buNone/>
            </a:pP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↓</a:t>
            </a:r>
          </a:p>
          <a:p>
            <a:pPr algn="ctr" rtl="0">
              <a:buNone/>
            </a:pP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Latent representation z</a:t>
            </a:r>
          </a:p>
          <a:p>
            <a:pPr algn="ctr" rtl="0">
              <a:buNone/>
            </a:pP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↓</a:t>
            </a:r>
          </a:p>
          <a:p>
            <a:pPr algn="ctr" rtl="0">
              <a:buNone/>
            </a:pP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Decoder / Generator</a:t>
            </a:r>
          </a:p>
          <a:p>
            <a:pPr algn="ctr" rtl="0">
              <a:buNone/>
            </a:pP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↓</a:t>
            </a:r>
          </a:p>
          <a:p>
            <a:pPr algn="ctr" rtl="0">
              <a:buNone/>
            </a:pP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얼굴 이미지</a:t>
            </a:r>
            <a:endParaRPr lang="en-US" altLang="ko-KR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	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즉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 → 의미 있는 내부 표현 → 다시 이미지가 되는 것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lvl="3">
              <a:lnSpc>
                <a:spcPct val="150000"/>
              </a:lnSpc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선형구조를 가진 데이터의 주성분분석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(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2"/>
              </a:rPr>
              <a:t>principal-component-analysis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)</a:t>
            </a:r>
          </a:p>
          <a:p>
            <a:pPr lvl="3">
              <a:lnSpc>
                <a:spcPct val="150000"/>
              </a:lnSpc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비선형구조를 가진 데이터의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Manifold Learning(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manifold-learning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)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9862290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335063-C2D5-9F8A-5E6C-603DA5DB72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8010BC49-337A-CD15-BCFD-9C740425182A}"/>
              </a:ext>
            </a:extLst>
          </p:cNvPr>
          <p:cNvSpPr/>
          <p:nvPr/>
        </p:nvSpPr>
        <p:spPr>
          <a:xfrm>
            <a:off x="4067175" y="2857500"/>
            <a:ext cx="4476750" cy="2647950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2BEFCF6A-6F8E-F25A-1851-7C1EFA46184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Generative Model</a:t>
            </a: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5CC58470-FB43-A1C0-49AE-98C85F60E9C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D2B91BB-6357-DEFF-8EBD-2490C23A5D83}"/>
              </a:ext>
            </a:extLst>
          </p:cNvPr>
          <p:cNvSpPr txBox="1"/>
          <p:nvPr/>
        </p:nvSpPr>
        <p:spPr>
          <a:xfrm>
            <a:off x="712267" y="1248422"/>
            <a:ext cx="11108258" cy="51558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"map the description back into pixels“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"10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 정도의 설명만으로도 그 사람의 얼굴을 머릿속에서 만들어낼 수 있다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."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사람은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금발이고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안경을 쓰고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얼굴이 갸름하고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눈이 크고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웃고 있다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.“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라고 들으면 머릿속으로 대략적인 얼굴을 상상할 수 있으며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이를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AI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관점에서 보면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ko-KR" altLang="en-US" sz="7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 rtl="0">
              <a:lnSpc>
                <a:spcPct val="150000"/>
              </a:lnSpc>
            </a:pP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특징</a:t>
            </a:r>
          </a:p>
          <a:p>
            <a:pPr algn="ctr" rtl="0">
              <a:lnSpc>
                <a:spcPct val="150000"/>
              </a:lnSpc>
            </a:pP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↓</a:t>
            </a:r>
          </a:p>
          <a:p>
            <a:pPr algn="ctr" rtl="0">
              <a:lnSpc>
                <a:spcPct val="150000"/>
              </a:lnSpc>
            </a:pP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[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금발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안경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갸름한 얼굴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큰 눈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웃음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</a:p>
          <a:p>
            <a:pPr algn="ctr" rtl="0">
              <a:lnSpc>
                <a:spcPct val="150000"/>
              </a:lnSpc>
            </a:pP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↓</a:t>
            </a:r>
          </a:p>
          <a:p>
            <a:pPr algn="ctr" rtl="0">
              <a:lnSpc>
                <a:spcPct val="150000"/>
              </a:lnSpc>
            </a:pP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Generative Model</a:t>
            </a:r>
          </a:p>
          <a:p>
            <a:pPr algn="ctr" rtl="0">
              <a:lnSpc>
                <a:spcPct val="150000"/>
              </a:lnSpc>
            </a:pP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↓</a:t>
            </a:r>
          </a:p>
          <a:p>
            <a:pPr algn="ctr" rtl="0">
              <a:lnSpc>
                <a:spcPct val="150000"/>
              </a:lnSpc>
            </a:pP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이미지 생성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즉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Representation Learning + Generative Modeling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결합되면 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어떤 얼굴을 어떻게 표현할 것인가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?“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뿐 아니라 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그 표현으로부터 새로운 얼굴을 어떻게 생성할 것인가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?"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까지 가능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09804777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752404-03F4-0002-663B-B28E4E9BEF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417E8DB3-F3CF-0208-84FD-10E041632ED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Manifold</a:t>
            </a: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F9F4A3D9-A96A-B54F-106A-F0EE2B4EB375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2" name="AutoShape 2">
            <a:extLst>
              <a:ext uri="{FF2B5EF4-FFF2-40B4-BE49-F238E27FC236}">
                <a16:creationId xmlns:a16="http://schemas.microsoft.com/office/drawing/2014/main" id="{1DA8A241-4537-3CC8-38D3-D332B839E818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0B60824A-C873-712E-4676-9DE9D05001D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83" y="1298138"/>
            <a:ext cx="4761858" cy="5015449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DF433541-8497-F540-6077-D092D2F0CC59}"/>
              </a:ext>
            </a:extLst>
          </p:cNvPr>
          <p:cNvSpPr txBox="1"/>
          <p:nvPr/>
        </p:nvSpPr>
        <p:spPr>
          <a:xfrm>
            <a:off x="566176" y="6313588"/>
            <a:ext cx="4801671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lower-dimensional latent space (manifold)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0F5FD42-1C8A-45BD-F930-8C7B16513321}"/>
              </a:ext>
            </a:extLst>
          </p:cNvPr>
          <p:cNvSpPr txBox="1"/>
          <p:nvPr/>
        </p:nvSpPr>
        <p:spPr>
          <a:xfrm>
            <a:off x="5943600" y="1551645"/>
            <a:ext cx="5386949" cy="3937296"/>
          </a:xfrm>
          <a:prstGeom prst="rect">
            <a:avLst/>
          </a:prstGeom>
          <a:noFill/>
          <a:ln>
            <a:solidFill>
              <a:srgbClr val="404040"/>
            </a:solidFill>
          </a:ln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The cube represents the extremely high-dimensional space of all images; representation learning tries to find the lower-dimensional latent subspace or manifold on which particular kinds of image lie (for example, the dog manifold)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정육면체는 모든 이미지의 극도로 고차원인 공간을 나타내며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표현 학습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(Representation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Leraning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은 특정 종류의 이미지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예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강아지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매니폴드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가 위치하는 더 낮은 차원의 잠재 부분 공간 또는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매니폴드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(manifold)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를 탐색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	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Deep Learning architecture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의 학습 핵심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237715665"/>
      </p:ext>
    </p:extLst>
  </p:cSld>
  <p:clrMapOvr>
    <a:masterClrMapping/>
  </p:clrMapOvr>
</p:sld>
</file>

<file path=ppt/theme/theme1.xml><?xml version="1.0" encoding="utf-8"?>
<a:theme xmlns:a="http://schemas.openxmlformats.org/drawingml/2006/main" name="WelcomeDoc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0957323_TF10001108_Win32.potx" id="{89E2DA47-811B-41FC-8101-7BA0FB62AE2C}" vid="{0AAAB8A4-2457-4279-BA92-56392840B1F0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{9FD8D820-F221-4C2D-97F8-71B66FDCF583}TF2989475c-5427-4edb-9ec1-00f4ce72165be756b0ce_win32-2ff1dad8fff0</Template>
  <TotalTime>19368</TotalTime>
  <Words>1341</Words>
  <Application>Microsoft Office PowerPoint</Application>
  <PresentationFormat>와이드스크린</PresentationFormat>
  <Paragraphs>196</Paragraphs>
  <Slides>30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30</vt:i4>
      </vt:variant>
    </vt:vector>
  </HeadingPairs>
  <TitlesOfParts>
    <vt:vector size="37" baseType="lpstr">
      <vt:lpstr>D2Coding</vt:lpstr>
      <vt:lpstr>맑은 고딕</vt:lpstr>
      <vt:lpstr>바탕</vt:lpstr>
      <vt:lpstr>Arial</vt:lpstr>
      <vt:lpstr>Segoe UI Emoji</vt:lpstr>
      <vt:lpstr>Wingdings</vt:lpstr>
      <vt:lpstr>WelcomeDoc</vt:lpstr>
      <vt:lpstr>Generative Deep Learning Teaching Machines to Paint, Write, Compose, and Play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조상구</dc:creator>
  <cp:keywords/>
  <cp:lastModifiedBy>Sanggoo Cho</cp:lastModifiedBy>
  <cp:revision>266</cp:revision>
  <dcterms:created xsi:type="dcterms:W3CDTF">2026-04-06T01:00:39Z</dcterms:created>
  <dcterms:modified xsi:type="dcterms:W3CDTF">2026-08-27T22:16:36Z</dcterms:modified>
  <cp:version/>
</cp:coreProperties>
</file>