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handoutMasterIdLst>
    <p:handoutMasterId r:id="rId29"/>
  </p:handoutMasterIdLst>
  <p:sldIdLst>
    <p:sldId id="256" r:id="rId2"/>
    <p:sldId id="1264" r:id="rId3"/>
    <p:sldId id="1286" r:id="rId4"/>
    <p:sldId id="1308" r:id="rId5"/>
    <p:sldId id="1309" r:id="rId6"/>
    <p:sldId id="1312" r:id="rId7"/>
    <p:sldId id="1310" r:id="rId8"/>
    <p:sldId id="1313" r:id="rId9"/>
    <p:sldId id="1314" r:id="rId10"/>
    <p:sldId id="1311" r:id="rId11"/>
    <p:sldId id="1315" r:id="rId12"/>
    <p:sldId id="1316" r:id="rId13"/>
    <p:sldId id="1330" r:id="rId14"/>
    <p:sldId id="1325" r:id="rId15"/>
    <p:sldId id="1326" r:id="rId16"/>
    <p:sldId id="1327" r:id="rId17"/>
    <p:sldId id="1331" r:id="rId18"/>
    <p:sldId id="1328" r:id="rId19"/>
    <p:sldId id="1321" r:id="rId20"/>
    <p:sldId id="1334" r:id="rId21"/>
    <p:sldId id="1335" r:id="rId22"/>
    <p:sldId id="1339" r:id="rId23"/>
    <p:sldId id="1340" r:id="rId24"/>
    <p:sldId id="1336" r:id="rId25"/>
    <p:sldId id="1337" r:id="rId26"/>
    <p:sldId id="1338" r:id="rId27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264"/>
            <p14:sldId id="1286"/>
            <p14:sldId id="1308"/>
            <p14:sldId id="1309"/>
            <p14:sldId id="1312"/>
            <p14:sldId id="1310"/>
            <p14:sldId id="1313"/>
            <p14:sldId id="1314"/>
            <p14:sldId id="1311"/>
            <p14:sldId id="1315"/>
            <p14:sldId id="1316"/>
            <p14:sldId id="1330"/>
            <p14:sldId id="1325"/>
            <p14:sldId id="1326"/>
            <p14:sldId id="1327"/>
            <p14:sldId id="1331"/>
            <p14:sldId id="1328"/>
            <p14:sldId id="1321"/>
            <p14:sldId id="1334"/>
            <p14:sldId id="1335"/>
            <p14:sldId id="1339"/>
            <p14:sldId id="1340"/>
            <p14:sldId id="1336"/>
            <p14:sldId id="1337"/>
            <p14:sldId id="1338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D462F"/>
    <a:srgbClr val="404040"/>
    <a:srgbClr val="FF9B45"/>
    <a:srgbClr val="D24726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5256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2026-08-27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2026-08-27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2026-08-27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2026-08-27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tanford.edu/~shervine/teaching/cs-229/cheatsheet-supervised-learning/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hyperlink" Target="https://en.wikipedia.org/wiki/Naive_Bayes_classifier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ithub.com/ancestor9/2026_Fall_AI-Literacy/blob/main/naive_bayes_gender.xlsx" TargetMode="Externa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Generative Deep Learning</a:t>
            </a:r>
            <a:b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Teaching Machines to Paint, Write, Compose, and Play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85264-DAF7-E028-936A-3E39FB0AE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C317C8E-BF00-9996-5D78-F73C973977E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Introduction to Generative Deep Learning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0AAD77-2BE3-B651-D9E7-0AADA229A2B1}"/>
              </a:ext>
            </a:extLst>
          </p:cNvPr>
          <p:cNvSpPr txBox="1"/>
          <p:nvPr/>
        </p:nvSpPr>
        <p:spPr>
          <a:xfrm>
            <a:off x="1486417" y="1572272"/>
            <a:ext cx="6981307" cy="440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What Is Generative Modeling?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Generative Versus Discriminative Modeling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Your First Probabilistic Generative Model(Naive Bayes)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Advances in Machine Learning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The Rise of Generative Modeling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The Generative Modeling Framework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Probabilistic Generative Models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Hello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Wrodl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The Challenges of Generative Modeling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CF4B8AC-C92D-256F-22B9-1BCA3A48E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6948" y="1478753"/>
            <a:ext cx="1684918" cy="223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212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5C927-A56A-F51B-6518-140E5922C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3A52980-41D7-E59A-63AB-724FDA7C36A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What Is Generative Modeling?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87C1567E-DBDB-E8CB-99FE-1A85DDD10F7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486D37-694C-1FF9-ECEE-379D65BDE233}"/>
              </a:ext>
            </a:extLst>
          </p:cNvPr>
          <p:cNvSpPr txBox="1"/>
          <p:nvPr/>
        </p:nvSpPr>
        <p:spPr>
          <a:xfrm>
            <a:off x="581025" y="1210322"/>
            <a:ext cx="11029950" cy="1351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데이터의 패턴을 단순히 분류하거나 예측하는 것을 넘어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학습한 데이터의 확률 분포를 기반으로 새로운 데이터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오디오 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스스로 창조해내는 딥러닝 기술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생성 모델은 결정론적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(deterministic)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이기보다는 확률적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(probabilistic)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이며 어떤 이미지는 훈련 데이터셋에 등장할 확률이 높고 다른 이미지는 그렇지 않은 이유를 설명하는 알 수 없는 확률 분포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(probabilistic distribution)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찾아내는 예측 방법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AC33739-D146-5061-4F8C-80250E2CD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853" y="2952750"/>
            <a:ext cx="8445872" cy="31682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4B502D-673C-1188-836A-C386D3529655}"/>
              </a:ext>
            </a:extLst>
          </p:cNvPr>
          <p:cNvSpPr txBox="1"/>
          <p:nvPr/>
        </p:nvSpPr>
        <p:spPr>
          <a:xfrm>
            <a:off x="1545853" y="613051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The generative modeling process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6035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B1B8E-E2C0-F8F0-3B82-666DEDAF4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EDCE78C-7D22-0283-9918-3710982EF2A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What Is Discriminative Modeling?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09F36924-A4F6-33CB-915A-7A92FFD99DF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7291239-A819-3C38-60EC-542F15F47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400" y="2706897"/>
            <a:ext cx="9084371" cy="29795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ADD637-6F42-1870-5E0A-F069B631F6E0}"/>
              </a:ext>
            </a:extLst>
          </p:cNvPr>
          <p:cNvSpPr txBox="1"/>
          <p:nvPr/>
        </p:nvSpPr>
        <p:spPr>
          <a:xfrm>
            <a:off x="1268400" y="568642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The discriminative modeling process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2474879-9B87-3C59-E688-E121CF454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4" y="1205845"/>
            <a:ext cx="11058526" cy="1162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판별 모델(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Discriminative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)은 입력 데이터(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)가 주어졌을 때 그 데이터가 특정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클래스(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)에 속할 확률을 예측하는 모델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데이터 자체의 분포를 학습하는 생성 모델과 달리, 데이터 간의 차이와 경계(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Decision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Boundary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)를 구별하는 데 집중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0F83E3-3607-3C6F-1BF6-C88F26BE350D}"/>
              </a:ext>
            </a:extLst>
          </p:cNvPr>
          <p:cNvSpPr txBox="1"/>
          <p:nvPr/>
        </p:nvSpPr>
        <p:spPr>
          <a:xfrm>
            <a:off x="8372475" y="4513243"/>
            <a:ext cx="195262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KNN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로지스틱 회귀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SVM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의사결정나무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CNN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기반 분류기</a:t>
            </a:r>
          </a:p>
        </p:txBody>
      </p:sp>
    </p:spTree>
    <p:extLst>
      <p:ext uri="{BB962C8B-B14F-4D97-AF65-F5344CB8AC3E}">
        <p14:creationId xmlns:p14="http://schemas.microsoft.com/office/powerpoint/2010/main" val="3285088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FE966-BCB2-F147-4B01-693D0F4E3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27EF895-9473-FE20-141B-18AB6FF1AE1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Generative Versus Discriminative Modeling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A2689650-4C83-2C8B-B1F5-A0308FD8A8C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0216A8-6BAB-D675-6A73-9EE69FFC5B2A}"/>
              </a:ext>
            </a:extLst>
          </p:cNvPr>
          <p:cNvSpPr txBox="1"/>
          <p:nvPr/>
        </p:nvSpPr>
        <p:spPr>
          <a:xfrm>
            <a:off x="954062" y="6071217"/>
            <a:ext cx="6199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Supervised Learning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cheatsheet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 - Stanford CS 229 (Machine Learning)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0EB02D6-879A-DDA7-7E7D-F595DB15F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062" y="1743076"/>
            <a:ext cx="9549540" cy="432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817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F3197-A79D-CBDD-111F-2E51560D8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6EDAF64-C92D-8795-3CF0-0EDB5E881E2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Generative Versus Discriminative Modeling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382FB47C-3C02-43F3-82B3-6BFE8615282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BF205B-0AB7-B58A-CD26-84AFCE38C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820" y="2066926"/>
            <a:ext cx="9142546" cy="134935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7D11BBB-5934-0BEF-051A-12851ABB4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821" y="3971407"/>
            <a:ext cx="9105830" cy="183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715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5A02E-3652-653D-212C-06BC714FE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641E45E-6A33-92A4-9AF4-778F87088BD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Your First Probabilistic Generative Model(Naive Bayes)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0C7DFEBF-47BC-B91A-9DC4-5D87B5BFD5B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ACCCA9C-E0E7-0515-6F18-EF7FF18D9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76" y="1504831"/>
            <a:ext cx="4351397" cy="274343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9566EBC-F9B3-1622-71AB-3A83A06DC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187" y="4048006"/>
            <a:ext cx="5730737" cy="1615580"/>
          </a:xfrm>
          <a:prstGeom prst="rect">
            <a:avLst/>
          </a:prstGeom>
        </p:spPr>
      </p:pic>
      <p:pic>
        <p:nvPicPr>
          <p:cNvPr id="13" name="그래픽 12" descr="오른쪽으로 굽은 화살표">
            <a:extLst>
              <a:ext uri="{FF2B5EF4-FFF2-40B4-BE49-F238E27FC236}">
                <a16:creationId xmlns:a16="http://schemas.microsoft.com/office/drawing/2014/main" id="{0416FEB0-BF89-837F-8734-38A13F7407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81600" y="3038475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F62A3EF-A283-D0FA-B163-77DFA24CBDAB}"/>
              </a:ext>
            </a:extLst>
          </p:cNvPr>
          <p:cNvSpPr txBox="1"/>
          <p:nvPr/>
        </p:nvSpPr>
        <p:spPr>
          <a:xfrm>
            <a:off x="6096000" y="2376755"/>
            <a:ext cx="400631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훈련 데이터셋에 등장할 확률이 높고 다른 이미지는 그렇지 않은 이유를 설명하는 알 수 없는 확률 분포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(probabilistic distribution)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찾아내는 예측 방법</a:t>
            </a:r>
            <a:endParaRPr lang="ko-KR" alt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4901B1-1C8A-769B-0491-FE4FC4CEDFF0}"/>
              </a:ext>
            </a:extLst>
          </p:cNvPr>
          <p:cNvSpPr txBox="1"/>
          <p:nvPr/>
        </p:nvSpPr>
        <p:spPr>
          <a:xfrm>
            <a:off x="596076" y="4352985"/>
            <a:ext cx="49423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hlinkClick r:id="rId6"/>
              </a:rPr>
              <a:t>naive_bayes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hlinkClick r:id="rId7"/>
              </a:rPr>
              <a:t>https://en.wikipedia.org/wiki/Naive_Bayes_classifier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8538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508D8-8346-A7AD-3072-BBB2C727E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35FC180-D9B9-750F-BCF0-26884F4D047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Your First Probabilistic Generative Model(Naive Bayes)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B70FBC0B-D4FE-13FD-AD5C-BA80C316F99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FE8F966-0DBA-E1DE-D330-EF20F18FB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91038"/>
            <a:ext cx="10663344" cy="278274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27F945-AE26-73FA-6CA1-A297D6C48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224810"/>
            <a:ext cx="6838879" cy="137880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0F2E46B-BCA0-BD73-F07A-54916DA77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633190"/>
            <a:ext cx="3025140" cy="65784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A1182F6-3424-D51E-4FCF-E89A3A7F7E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56" y="1818557"/>
            <a:ext cx="3314987" cy="47248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C627BFD-372B-CB2E-6DD7-A4748F2615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1250" y="1866958"/>
            <a:ext cx="3314987" cy="413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759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93358-BA7E-579E-BA26-23ADD9B75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5E3685E-FC83-C849-CC16-C1EA7EF2B4D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Your First Probabilistic Generative Model(Naive Bayes)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336ADCC7-F81C-FF1C-03F7-D306B25EF13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3B8BD1E-2E49-CBF5-4FB4-601FCA33A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79" y="1468577"/>
            <a:ext cx="7551508" cy="444644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9A220B-46F6-AE24-2813-24DEC4297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862" y="4371949"/>
            <a:ext cx="5380494" cy="43922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611B868-A14B-F16B-25D4-313CBB6F7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862" y="4811173"/>
            <a:ext cx="5391474" cy="389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007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29811-8F5F-7D8D-7677-9386CC972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68772FE-1AB6-6535-F86F-1064012DE2D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Advances in Machine Learning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83490EAF-DF7E-2DF7-EAE1-F5DCECA4C2F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51829C-6887-C482-3272-70F4D5AA4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147" y="1471589"/>
            <a:ext cx="11087705" cy="4671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학술적 관점: 명확한 성과 측정 및 평가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평가의 용이성: 분류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정답률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등 객관적 지표로 성과 추적이 명확함 (생성 모델은 결과물 평가가 주관적임)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ImageNet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(ILSVRC) 대회를 통한 기술 격차 증명:</a:t>
            </a: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2012년: 제프 힌튼 팀의 CNN 모델 우승 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에러율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16%로 2위 26.2%를 압도) </a:t>
            </a:r>
            <a:r>
              <a:rPr kumimoji="0" lang="en-US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딥러닝 열풍의 계기</a:t>
            </a: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2015년: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에러율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4% 달성으로 인간 수준 추월</a:t>
            </a: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현재: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에러율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2% 수준 달성으로 이미지 분류 과제 사실상 완료</a:t>
            </a: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ko-KR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산업적 관점: 높은 비즈니스 실용성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의사결정 중심: 기업은 데이터의 생성 원리보다 '새로운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입력값의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분류 및 평가' 정보를 필요로 함</a:t>
            </a: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국방: 위성 이미지 내 적 부대 존재 여부 판단</a:t>
            </a: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고객 관리: 수신 이메일의 긍정/부정 감성 분류</a:t>
            </a: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의료: 망막 이미지를 통한 녹내장 발병 확률 진단</a:t>
            </a: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ko-KR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시장 형성: 판별 모델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구축·검증·모니터링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자동화 중심의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MLaaS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Machine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Learning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-Service) </a:t>
            </a:r>
          </a:p>
        </p:txBody>
      </p:sp>
    </p:spTree>
    <p:extLst>
      <p:ext uri="{BB962C8B-B14F-4D97-AF65-F5344CB8AC3E}">
        <p14:creationId xmlns:p14="http://schemas.microsoft.com/office/powerpoint/2010/main" val="59689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8DC4D-A008-8E87-150D-24F7754EE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2635108-B29D-3BA4-CD4C-197908442D8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Rise of Generative Modeling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ABADACEB-592D-2E62-DC14-05F063E9DBB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139DB88-6B9A-DEA1-1CE3-E7C0B0317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4" y="1205844"/>
            <a:ext cx="11058526" cy="1162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기술적 도약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StyleGAN(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초실사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얼굴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), GPT-2(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완성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딥러닝을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결합한 생성 모델의 급격한 발전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산업적 활용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게임 디자인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영화 제작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자동 음악 생성 등 다양한 분야의 콘텐츠 제작 혁신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윤리적 우려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가짜 콘텐츠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딥페이크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확산으로 인한 정보 신뢰성 저하 문제 대두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5DF69E-71B6-8D2B-08EA-8F4E9A6E9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22" y="2909643"/>
            <a:ext cx="10420955" cy="241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437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14042-4B69-1FC5-36D4-3D2DF5AA2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2C608B5-0071-388D-1BFE-EF1A0241180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Generative Modeling Framework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7ADA2561-B9A5-B2F2-C427-F1BE98DC1B2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38B6883-861B-2946-1C65-6BDC8DF55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379" y="1805478"/>
            <a:ext cx="8012293" cy="426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29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43FF2-F950-EB7F-770A-8DE24CA1C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8B9523C-EF88-606B-B68A-9CF621E09BE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Generative Modeling Framework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342A5EB4-4A30-3F01-FFE4-E3C9ED2C4B4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6B300B8-8710-E424-E066-2EB909893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093" y="1693554"/>
            <a:ext cx="8195014" cy="438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677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CEFEF-FD23-9E99-FBEF-A5943635F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1F689E7-CDD7-F883-D81F-C5CD7F54900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Generative Modeling Framework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C8502B0B-42D9-1B7F-872B-9FB40FF23A5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79FB090-D4D5-0420-69C3-730EDBF4C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469" y="1535264"/>
            <a:ext cx="7800261" cy="437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375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6B7B6-813C-004C-7712-E015A3AD9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0110AD0-B600-C5C3-A5C0-E75C4BAAA04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Generative Modeling Framework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71D51038-6219-0C22-05BF-FDCB0BD12C8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7C2E5E-A066-5F0A-D4FE-49BE7F751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99" y="1596308"/>
            <a:ext cx="8674948" cy="469019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23B446D-2FC9-3163-48F3-65247C29B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860" y="1329608"/>
            <a:ext cx="4887700" cy="130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638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52F85-5F20-82E3-4D17-96D564A3B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7DF150D-F5AD-72C1-1C0A-752B8FBF609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Probabilistic Generative Models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068B1118-9C5E-7706-24CC-DF94CB9E461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9ABC4-2033-556B-2FDB-1FA9D9F35324}"/>
              </a:ext>
            </a:extLst>
          </p:cNvPr>
          <p:cNvSpPr txBox="1"/>
          <p:nvPr/>
        </p:nvSpPr>
        <p:spPr>
          <a:xfrm>
            <a:off x="571500" y="1226339"/>
            <a:ext cx="4238626" cy="1711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sample space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density function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parametric modeling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maximum likelihood estimation </a:t>
            </a:r>
            <a:endParaRPr lang="ko-KR" altLang="en-US" dirty="0">
              <a:solidFill>
                <a:schemeClr val="bg1">
                  <a:lumMod val="6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A0F3A0C-ED2A-A5B9-DE3F-76CBEF68A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981" y="1248422"/>
            <a:ext cx="6759526" cy="199661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921851D-3BEE-681C-0F7A-D396C7723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981" y="3697507"/>
            <a:ext cx="6759526" cy="22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889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B8465-EAEC-ED66-DE78-54E8A7EE5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4992030-1A8D-8724-5EA9-E846F02339F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Probabilistic Generative Models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157A974F-6DA9-4663-62B3-7E7AC63F011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70CAED-77A1-D1A4-3AE2-676DD0780086}"/>
              </a:ext>
            </a:extLst>
          </p:cNvPr>
          <p:cNvSpPr txBox="1"/>
          <p:nvPr/>
        </p:nvSpPr>
        <p:spPr>
          <a:xfrm>
            <a:off x="571500" y="1226339"/>
            <a:ext cx="4238626" cy="1711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sample space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density function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parametric modeling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maximum likelihood estimation 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2F009FC-5F2C-C9C8-4D23-8601820DB298}"/>
              </a:ext>
            </a:extLst>
          </p:cNvPr>
          <p:cNvGrpSpPr/>
          <p:nvPr/>
        </p:nvGrpSpPr>
        <p:grpSpPr>
          <a:xfrm>
            <a:off x="4828587" y="1408901"/>
            <a:ext cx="6791913" cy="2610712"/>
            <a:chOff x="4828587" y="1408901"/>
            <a:chExt cx="6791913" cy="261071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00CFE03-79B8-BC25-D21B-C7F67585B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30492" y="1408901"/>
              <a:ext cx="6790008" cy="1882303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E21A1DD-1C0E-36A1-08C3-8870F7A9F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28587" y="3295650"/>
              <a:ext cx="6782388" cy="723963"/>
            </a:xfrm>
            <a:prstGeom prst="rect">
              <a:avLst/>
            </a:prstGeom>
          </p:spPr>
        </p:pic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FD1AB228-1AC0-D935-269D-FE0A25E9E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126" y="4470852"/>
            <a:ext cx="6820491" cy="190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504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C3113-6D69-71EE-8077-0AF5DEB13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177714E-93AC-F55C-A7AE-CFDCDBBBFB1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Probabilistic Generative Models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586FEED8-4D99-C29D-1819-909BCDDF99F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FD2AD323-E0D2-2DB9-3BA3-5C9BB10B62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EC5520-10B9-F598-DB75-806BA6BC2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185" y="1859144"/>
            <a:ext cx="6797629" cy="313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573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A7EAA-EA19-F045-13D0-A5248C4BC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3D6B663-6FD0-C2BA-DBAF-64EC754C92F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Introduction to Generative Deep Learning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2AA155-07E6-0DAE-F014-D56FDEB0AA9C}"/>
              </a:ext>
            </a:extLst>
          </p:cNvPr>
          <p:cNvSpPr txBox="1"/>
          <p:nvPr/>
        </p:nvSpPr>
        <p:spPr>
          <a:xfrm>
            <a:off x="1486417" y="1572272"/>
            <a:ext cx="6981307" cy="440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What Is Generative Modeling?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Generative Versus Discriminative Modeling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Your First Probabilistic Generative Model(Naive Bayes)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Advances in Machine Learning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The Rise of Generative Modeling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The Generative Modeling Framework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Probabilistic Generative Models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Hello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Wrodl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The Challenges of Generative Modeling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DFE417F-6456-80EE-F8CF-CA255ABD9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6948" y="1478753"/>
            <a:ext cx="1684918" cy="223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5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84F52-3789-EEC2-F35F-2D16440A7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52B1B47-6798-59C1-02C0-78A40F43FE4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Hello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Wrodl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!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B95896C3-E642-4C49-D016-D0735075C16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C6971E7F-CB7B-410C-E673-99AE6B74C0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99FBBEA-C468-C545-FBF3-20D7ADEEB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597" y="2157896"/>
            <a:ext cx="7512005" cy="41286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7BBBC7-A1B5-0ACE-049B-6B45422A6073}"/>
              </a:ext>
            </a:extLst>
          </p:cNvPr>
          <p:cNvSpPr txBox="1"/>
          <p:nvPr/>
        </p:nvSpPr>
        <p:spPr>
          <a:xfrm>
            <a:off x="630265" y="1205526"/>
            <a:ext cx="1102833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 = 50 observations of fashions described by five features, 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accessoriesType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clothingColor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clothingType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hairColor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topType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6385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E1245-2CA8-C8C1-08E9-1DA8E4D86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96D78F1-F689-37FB-D080-C642F61B5DE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Hello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Wrodl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!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A63AB217-7415-BA7B-7CF1-1B01C9CE2E7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B3C85D0-C718-D21D-EF2B-62DF300C4A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E8B1B2B-51EB-CE26-F5D4-DC263271E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327" y="1973730"/>
            <a:ext cx="5685013" cy="25148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8E99EC6-AB3B-6E72-6CF9-4587BFF6C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60" y="1973730"/>
            <a:ext cx="4955088" cy="23750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B4F9B61-F17B-61E8-2045-6BD039580431}"/>
              </a:ext>
            </a:extLst>
          </p:cNvPr>
          <p:cNvSpPr txBox="1"/>
          <p:nvPr/>
        </p:nvSpPr>
        <p:spPr>
          <a:xfrm>
            <a:off x="475645" y="4781700"/>
            <a:ext cx="5020103" cy="83099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7 × 6 × 3 × 4 × 8 = 4,032 different combinations of these features, so there are 4,032 points in the sample space.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3420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0F357-4D40-B17B-C7F6-5AE116A13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6210082-BD08-4AAA-0205-53303CDFE3F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Hello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Wrodl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!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81558EF7-C108-B7F8-E5A1-4EFD0A9B1D2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228582CC-EE93-34CF-7FB3-0DA07B228A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4D1D7E-AC3E-17B7-0A93-0C3B87C3A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73" y="1248422"/>
            <a:ext cx="5160816" cy="54602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4E81C5D-76C0-DDE2-A9A3-51EA12D2C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48422"/>
            <a:ext cx="5616427" cy="26062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75698A-F868-E4B1-B814-ED6DAF39CACE}"/>
              </a:ext>
            </a:extLst>
          </p:cNvPr>
          <p:cNvSpPr txBox="1"/>
          <p:nvPr/>
        </p:nvSpPr>
        <p:spPr>
          <a:xfrm>
            <a:off x="5792789" y="5452687"/>
            <a:ext cx="4181475" cy="83099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each observation now has 32 × 32 = 1,024 features and each feature can take any of 256 values (256^1024)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52946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F8B3A-9354-4708-3963-A89BD92EB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E4F9D3E-E201-7BFA-EBA7-6CB8B1E3B99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Hello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Wrodl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!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721F0197-850B-7C63-6A69-B88655ACE97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5C90FF50-7641-43E3-130E-B81F3C6636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E199BA-A911-06A8-7C64-2F727CE63B4C}"/>
              </a:ext>
            </a:extLst>
          </p:cNvPr>
          <p:cNvSpPr txBox="1"/>
          <p:nvPr/>
        </p:nvSpPr>
        <p:spPr>
          <a:xfrm>
            <a:off x="475645" y="1331774"/>
            <a:ext cx="11010900" cy="2948821"/>
          </a:xfrm>
          <a:prstGeom prst="rect">
            <a:avLst/>
          </a:prstGeom>
          <a:noFill/>
          <a:ln w="19050">
            <a:solidFill>
              <a:srgbClr val="DD462F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생성 모델링의 주요 과제</a:t>
            </a:r>
            <a:endParaRPr lang="en-US" altLang="ko-KR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특성 간 높은 조건부 의존성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모델이 특성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인접한 픽셀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간의 강한 상호 연관성을 어떻게 처리할 것인가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고차원 표본 공간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가늠할 수 없이 넓은 고차원 공간 속에서 유의미한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관측값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정상적인 얼굴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극소수 조합을 어떻게 찾아낼 것인가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</p:txBody>
      </p:sp>
      <p:sp>
        <p:nvSpPr>
          <p:cNvPr id="9" name="화살표: 줄무늬가 있는 오른쪽 8">
            <a:extLst>
              <a:ext uri="{FF2B5EF4-FFF2-40B4-BE49-F238E27FC236}">
                <a16:creationId xmlns:a16="http://schemas.microsoft.com/office/drawing/2014/main" id="{F0050164-F7B0-AECE-E87F-FD9E97014307}"/>
              </a:ext>
            </a:extLst>
          </p:cNvPr>
          <p:cNvSpPr/>
          <p:nvPr/>
        </p:nvSpPr>
        <p:spPr>
          <a:xfrm>
            <a:off x="3076575" y="4735652"/>
            <a:ext cx="4505326" cy="1255574"/>
          </a:xfrm>
          <a:prstGeom prst="stripedRightArrow">
            <a:avLst>
              <a:gd name="adj1" fmla="val 61601"/>
              <a:gd name="adj2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Deep Learning</a:t>
            </a:r>
          </a:p>
          <a:p>
            <a:pPr algn="ct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(Representation Learning)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8309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E8015-3E1C-4951-8810-EDC8E7A20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D07E9D2-7DFE-3951-1E5E-CC64C0B1A8F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Challenges of Generative Modeling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FCB0FC9A-31B8-1CAE-8A02-E1C82C18D24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FE7ECC-B0DF-D8ED-8B53-74473A995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622" y="2160759"/>
            <a:ext cx="11020728" cy="880819"/>
          </a:xfrm>
          <a:prstGeom prst="rect">
            <a:avLst/>
          </a:prstGeom>
          <a:solidFill>
            <a:srgbClr val="DD462F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생성 모델의 2대 난제: 픽셀처럼 서로 얽혀 있는 데이터 특성 간의 의존성(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Dependence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0" lang="ko-KR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과</a:t>
            </a:r>
            <a:r>
              <a:rPr kumimoji="0" lang="en-US" altLang="ko-K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수많은 무작위 조합 중 의미 있는 결과를 찾아내야 하는 고차원 공간(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High-dimensional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space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kumimoji="0" lang="en-US" altLang="ko-KR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BFDBF02-F562-6823-9299-C9EA638C9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622" y="4261829"/>
            <a:ext cx="11020728" cy="1711815"/>
          </a:xfrm>
          <a:prstGeom prst="rect">
            <a:avLst/>
          </a:prstGeom>
          <a:solidFill>
            <a:srgbClr val="76E3FF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사람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 일일이 가정을 주입하지 않아도 데이터 스스로 구조를 학습하게 만듦으로써 두 난제를 해결</a:t>
            </a:r>
            <a:endParaRPr kumimoji="0" lang="en-US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ko-KR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표현 학습(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Representation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Learning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 복잡하고 차원이 높은 원시 데이터(예: 픽셀 값들)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의미 있는 핵심 특성 중심의 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저차원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공간으로 압축하여 다루는 기술로, 생성 모델이 성공적으로 동작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015460F-C41D-C888-7449-90BF34877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622" y="1666864"/>
            <a:ext cx="3553125" cy="465320"/>
          </a:xfrm>
          <a:prstGeom prst="rect">
            <a:avLst/>
          </a:prstGeom>
          <a:solidFill>
            <a:srgbClr val="DD462F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Problems</a:t>
            </a:r>
            <a:endParaRPr kumimoji="0" lang="en-US" altLang="ko-KR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94CA3EB-2343-A025-31EA-92F6B63D5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622" y="3767934"/>
            <a:ext cx="3553128" cy="465320"/>
          </a:xfrm>
          <a:prstGeom prst="rect">
            <a:avLst/>
          </a:prstGeom>
          <a:solidFill>
            <a:srgbClr val="76E3FF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Solving by Deep Learning</a:t>
            </a:r>
            <a:endParaRPr kumimoji="0" lang="ko-KR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래픽 9" descr="오른쪽으로 굽은 화살표">
            <a:extLst>
              <a:ext uri="{FF2B5EF4-FFF2-40B4-BE49-F238E27FC236}">
                <a16:creationId xmlns:a16="http://schemas.microsoft.com/office/drawing/2014/main" id="{7BFADB9E-0DE0-D587-947C-C08E09998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445359">
            <a:off x="4133850" y="302879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1156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BF26A-F4F8-915E-A16A-A497D110A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50D1C35-682A-F02C-8CFE-8D28A092D64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Representation Learning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AA0B6D33-97F6-37BF-742E-F0CF017C5AD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EEB8713C-7FB7-9130-0B0E-107FD2BA5F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3FF05A-4D6D-A334-F8F1-B599A88BD9B2}"/>
              </a:ext>
            </a:extLst>
          </p:cNvPr>
          <p:cNvSpPr txBox="1"/>
          <p:nvPr/>
        </p:nvSpPr>
        <p:spPr>
          <a:xfrm>
            <a:off x="628649" y="2021314"/>
            <a:ext cx="5619751" cy="23083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①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Feature Learning</a:t>
            </a:r>
          </a:p>
          <a:p>
            <a:pPr>
              <a:buNone/>
            </a:pPr>
            <a:endParaRPr lang="en-US" altLang="ko-KR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"AI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이미지에서 무엇이 중요한 특징인지 스스로 학습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</a:p>
          <a:p>
            <a:pPr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</a:p>
          <a:p>
            <a:pPr rtl="0"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↓</a:t>
            </a:r>
          </a:p>
          <a:p>
            <a:pPr rtl="0"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Feature</a:t>
            </a:r>
          </a:p>
          <a:p>
            <a:pPr rtl="0"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↓</a:t>
            </a:r>
          </a:p>
          <a:p>
            <a:pPr rtl="0"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1E93C9-5273-88CB-EACB-0BDC361C6A6A}"/>
              </a:ext>
            </a:extLst>
          </p:cNvPr>
          <p:cNvSpPr txBox="1"/>
          <p:nvPr/>
        </p:nvSpPr>
        <p:spPr>
          <a:xfrm>
            <a:off x="2366962" y="3175476"/>
            <a:ext cx="6748463" cy="181588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②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Latent Space</a:t>
            </a:r>
          </a:p>
          <a:p>
            <a:pPr>
              <a:buNone/>
            </a:pPr>
            <a:endParaRPr lang="en-US" altLang="ko-KR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비슷한 데이터는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latent space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에서도 가까운 위치에 놓이도록 표현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</a:p>
          <a:p>
            <a:pPr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얼굴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 ──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가까움 ── 얼굴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</a:p>
          <a:p>
            <a:pPr rtl="0"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고양이 ───────────── 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0871E9-1EDB-8066-906B-840307526060}"/>
              </a:ext>
            </a:extLst>
          </p:cNvPr>
          <p:cNvSpPr txBox="1"/>
          <p:nvPr/>
        </p:nvSpPr>
        <p:spPr>
          <a:xfrm>
            <a:off x="5295900" y="4220476"/>
            <a:ext cx="6495531" cy="23083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③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Generative Modeling</a:t>
            </a:r>
          </a:p>
          <a:p>
            <a:pPr>
              <a:buNone/>
            </a:pPr>
            <a:endParaRPr lang="en-US" altLang="ko-KR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학습한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latent space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구조를 이용해서 새로운 데이터를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</a:p>
          <a:p>
            <a:pPr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Latent vector</a:t>
            </a:r>
          </a:p>
          <a:p>
            <a:pPr rtl="0"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↓</a:t>
            </a:r>
          </a:p>
          <a:p>
            <a:pPr rtl="0"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Generator</a:t>
            </a:r>
          </a:p>
          <a:p>
            <a:pPr rtl="0"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↓</a:t>
            </a:r>
          </a:p>
          <a:p>
            <a:pPr rtl="0"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New Image</a:t>
            </a:r>
            <a:endParaRPr lang="ko-KR" alt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F140C4-E706-AE2E-945A-5036966C83B3}"/>
              </a:ext>
            </a:extLst>
          </p:cNvPr>
          <p:cNvSpPr txBox="1"/>
          <p:nvPr/>
        </p:nvSpPr>
        <p:spPr>
          <a:xfrm>
            <a:off x="475645" y="1043118"/>
            <a:ext cx="81153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Manifold =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실제 데이터들이 존재하는 고차원 공간 속의 구조적인 영역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91936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52404-03F4-0002-663B-B28E4E9BE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17E8DB3-F3CF-0208-84FD-10E041632ED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Challenges of Generative Modeling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F9F4A3D9-A96A-B54F-106A-F0EE2B4EB37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DA8A241-4537-3CC8-38D3-D332B839E8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715665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18872</TotalTime>
  <Words>935</Words>
  <Application>Microsoft Office PowerPoint</Application>
  <PresentationFormat>와이드스크린</PresentationFormat>
  <Paragraphs>152</Paragraphs>
  <Slides>26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3" baseType="lpstr">
      <vt:lpstr>D2Coding</vt:lpstr>
      <vt:lpstr>맑은 고딕</vt:lpstr>
      <vt:lpstr>바탕</vt:lpstr>
      <vt:lpstr>Arial</vt:lpstr>
      <vt:lpstr>Segoe UI Emoji</vt:lpstr>
      <vt:lpstr>Wingdings</vt:lpstr>
      <vt:lpstr>WelcomeDoc</vt:lpstr>
      <vt:lpstr>Generative Deep Learning Teaching Machines to Paint, Write, Compose, and Play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263</cp:revision>
  <dcterms:created xsi:type="dcterms:W3CDTF">2026-04-06T01:00:39Z</dcterms:created>
  <dcterms:modified xsi:type="dcterms:W3CDTF">2026-08-27T14:00:35Z</dcterms:modified>
  <cp:version/>
</cp:coreProperties>
</file>